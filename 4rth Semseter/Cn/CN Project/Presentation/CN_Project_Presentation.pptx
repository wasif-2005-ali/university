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551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— SEMESTER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Campus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26517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Implementation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33832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 Simulation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3931920"/>
            <a:ext cx="5669280" cy="1005840"/>
          </a:xfrm>
          <a:prstGeom prst="rect">
            <a:avLst/>
          </a:prstGeom>
          <a:solidFill>
            <a:srgbClr val="16205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University, Kamra  |  BS </a:t>
            </a:r>
            <a:r>
              <a:rPr lang="en-US" sz="11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F’24 - 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389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Wasif Ali - 245187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457200"/>
            <a:ext cx="2560320" cy="4297680"/>
          </a:xfrm>
          <a:prstGeom prst="rect">
            <a:avLst/>
          </a:prstGeom>
          <a:solidFill>
            <a:srgbClr val="16205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640080"/>
            <a:ext cx="2286000" cy="502920"/>
          </a:xfrm>
          <a:prstGeom prst="rect">
            <a:avLst/>
          </a:prstGeom>
          <a:solidFill>
            <a:srgbClr val="1E307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6583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(x4)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1280160"/>
            <a:ext cx="2286000" cy="502920"/>
          </a:xfrm>
          <a:prstGeom prst="rect">
            <a:avLst/>
          </a:prstGeom>
          <a:solidFill>
            <a:srgbClr val="25388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2984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(x2)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1920240"/>
            <a:ext cx="2286000" cy="502920"/>
          </a:xfrm>
          <a:prstGeom prst="rect">
            <a:avLst/>
          </a:prstGeom>
          <a:solidFill>
            <a:srgbClr val="1E307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938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Office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2560320"/>
            <a:ext cx="2286000" cy="502920"/>
          </a:xfrm>
          <a:prstGeom prst="rect">
            <a:avLst/>
          </a:prstGeom>
          <a:solidFill>
            <a:srgbClr val="25388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5786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Office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3200400"/>
            <a:ext cx="2286000" cy="502920"/>
          </a:xfrm>
          <a:prstGeom prst="rect">
            <a:avLst/>
          </a:prstGeom>
          <a:solidFill>
            <a:srgbClr val="1E30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2186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Office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3840480"/>
            <a:ext cx="2286000" cy="502920"/>
          </a:xfrm>
          <a:prstGeom prst="rect">
            <a:avLst/>
          </a:prstGeom>
          <a:solidFill>
            <a:srgbClr val="25388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8587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663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Network Zones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57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097280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83080"/>
            <a:ext cx="457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874520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 Design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457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651760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Scheme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37560"/>
            <a:ext cx="457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429000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429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Fault Tolerance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14800"/>
            <a:ext cx="457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206240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206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&amp; Services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05840"/>
            <a:ext cx="457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1097280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Wireless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78308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83080"/>
            <a:ext cx="457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1874520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Lists (ACLs)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256032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60320"/>
            <a:ext cx="457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2651760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2651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Challenges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33756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337560"/>
            <a:ext cx="4572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3429000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3429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build?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university campus network simulated in Cisco Packet Tracer — covering the entire university building with multiple departments, servers, and security policies.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56032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2103120"/>
            <a:ext cx="2560320" cy="1097280"/>
          </a:xfrm>
          <a:prstGeom prst="rect">
            <a:avLst/>
          </a:prstGeom>
          <a:solidFill>
            <a:srgbClr val="2E5FA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56032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2148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Devices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2560320" cy="1097280"/>
          </a:xfrm>
          <a:prstGeom prst="rect">
            <a:avLst/>
          </a:prstGeom>
          <a:solidFill>
            <a:srgbClr val="2E5FA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6576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3474720"/>
            <a:ext cx="256032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20040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Policies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3474720"/>
            <a:ext cx="2560320" cy="1097280"/>
          </a:xfrm>
          <a:prstGeom prst="rect">
            <a:avLst/>
          </a:prstGeom>
          <a:solidFill>
            <a:srgbClr val="2E5FA3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03504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Star-Ring Topology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3891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8686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2911 Router — backbone connected to all 6 zone routers via serial links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3891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73152" cy="8686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Zone Routers (2911 + HWIC-2T) interconnected in a ring using DCE/DTE serial cables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43891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83280"/>
            <a:ext cx="73152" cy="8686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2960 Switches per zone — connecting all end devices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Router Assignments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25880"/>
          <a:ext cx="3840480" cy="356615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Covered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 + Lab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3 + Lab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Mid-Upper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+ 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Classrooms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+ Exam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Classrooms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Scheme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devices use Static IP Addressing — for predictability, easy debugging, and full control.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Subnets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4114800" cy="3383281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 (Left)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2 (Left)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3 (Right)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4 (Right)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192.168.40.0/24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192.168.50.0/24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Classrooms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192.168.60.0/24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192.168.60.1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192.168.70.0/24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192.168.70.1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Class.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192.168.80.0/24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192.168.80.1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192.168.90.0/24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192.168.90.1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192.168.100.0/24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Links (Router-to-Router)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645920"/>
            <a:ext cx="3840480" cy="3657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0" name="Text 7"/>
          <p:cNvSpPr/>
          <p:nvPr/>
        </p:nvSpPr>
        <p:spPr>
          <a:xfrm>
            <a:off x="4892040" y="16642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↔ Each Zone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86600" y="16642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10.1.X.0/30  (6 links)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2084832"/>
            <a:ext cx="3840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Ring: Left ↔ Mid-Upper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8660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10.0.1.0/30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2523744"/>
            <a:ext cx="3840480" cy="3657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25420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Ring: Mid-Upper ↔ Top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086600" y="25420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10.0.2.0/30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2962656"/>
            <a:ext cx="3840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298094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Ring: Top ↔ Right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86600" y="29809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10.0.3.0/30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3401568"/>
            <a:ext cx="3840480" cy="3657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040" y="341985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Ring: Right ↔ Mid-Lower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86600" y="341985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10.0.4.0/30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46320" y="3840480"/>
            <a:ext cx="3840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4892040" y="3858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Ring: Mid-Lower ↔ Bottom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086600" y="38587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10.0.5.0/30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46320" y="4279392"/>
            <a:ext cx="3840480" cy="3657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8" name="Text 25"/>
          <p:cNvSpPr/>
          <p:nvPr/>
        </p:nvSpPr>
        <p:spPr>
          <a:xfrm>
            <a:off x="4892040" y="4297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Ring: Bottom ↔ Left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086600" y="4297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10.0.6.0/30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54880" y="4754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/30 = 255.255.255.252  |  Only 2 usable IPs per link — perfect for point-to-point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Fault Tolerance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Routing?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and deterministic packet paths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debug in a lab environment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routing protocol overhead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manual control over primary and backup paths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Static Routes — 3-Level Failover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841248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Activates 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=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— via Central 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(Central is 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=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1 — via Ring Neighbor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Router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=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2 — via Ring Neighbor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+ Neighbor A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AD = Higher Priority. Router automatically switches to backup path when primary fails — no manual intervention needed.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Configuration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Subnet: 192.168.100.0/24  |  Gateway: 192.168.100.1  |  Connected to: Mid-Lower Router  |  Access: Unrestricted for all zones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73152" cy="64008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192.168.100.10  |  DNS Resolution for all domains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29968"/>
            <a:ext cx="73152" cy="6400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756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www.chatgpt.com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500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192.168.100.60  |  HTTP Web Hosting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79776"/>
            <a:ext cx="73152" cy="6400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25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www.claude.ai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0998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192.168.100.70  |  HTTP Web Hosting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29584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29584"/>
            <a:ext cx="73152" cy="6400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75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www.yahoo.com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8496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192.168.100.20  |  HTTP Web Hosting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279392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279392"/>
            <a:ext cx="73152" cy="6400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25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994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192.168.100.30  |  HTTP Web Hosting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280160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280160"/>
            <a:ext cx="73152" cy="6400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www.aack.au.edu.pk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1600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192.168.100.40  |  HTTP Web Hosting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029968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029968"/>
            <a:ext cx="73152" cy="6400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0756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www.classroom.google.com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3500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192.168.100.50  |  HTTP Web Hosting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779776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779776"/>
            <a:ext cx="73152" cy="6400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2825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0998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192.168.100.10  |  SMTP (Port 25) / POP3 (Port 110)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529584"/>
            <a:ext cx="4206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3529584"/>
            <a:ext cx="73152" cy="6400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575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Manager PC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38496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192.168.100.5  |  Network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 &amp; Wireless Access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45720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aack.au.edu.pk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IP: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192.168.100.10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Port: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(Sending)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POP3 Port: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(Receiving)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L1PC1@aack.au.edu.pk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User: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HODCS@aack.au.edu.pk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3840480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2793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PCs configured with Incoming (POP3) and Outgoing (SMTP) mail server settings for cross-zone email communication.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WAPs deployed for demonstration of wireless connectivity concept: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011680"/>
            <a:ext cx="3749040" cy="1005840"/>
          </a:xfrm>
          <a:prstGeom prst="rect">
            <a:avLst/>
          </a:prstGeom>
          <a:solidFill>
            <a:srgbClr val="F0FFFE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057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 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5216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 Area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Subnet: 192.168.10.0/24  |  Connected to: Left Zone Switch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200400"/>
            <a:ext cx="3749040" cy="1005840"/>
          </a:xfrm>
          <a:prstGeom prst="rect">
            <a:avLst/>
          </a:prstGeom>
          <a:solidFill>
            <a:srgbClr val="F0FFFE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246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 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Office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Subnet: 192.168.70.0/24  |  Connected to: Mid-Lower Switch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4251960"/>
            <a:ext cx="3749040" cy="548640"/>
          </a:xfrm>
          <a:prstGeom prst="rect">
            <a:avLst/>
          </a:prstGeom>
          <a:solidFill>
            <a:srgbClr val="E0F7F7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42793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WAP shares the same subnet and gateway as wired devices in its zone — no extra routing needed.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Lists (ACLs)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503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ACLs enforce a realistic university access hierarchy — protecting sensitive offices from unauthorized access.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Policy Matrix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81912"/>
          <a:ext cx="530352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\ Dest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 / Classrooms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52160" y="1234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Placements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1581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PROTECT-HOD → Mid-Upper (in)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52160" y="1901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PROTECT-EXAM → Mid-Lower (in)</a:t>
            </a:r>
            <a:endParaRPr lang="en-US" sz="1000" dirty="0"/>
          </a:p>
        </p:txBody>
      </p:sp>
      <p:sp>
        <p:nvSpPr>
          <p:cNvPr id="6" name="Text 7"/>
          <p:cNvSpPr/>
          <p:nvPr/>
        </p:nvSpPr>
        <p:spPr>
          <a:xfrm>
            <a:off x="5852160" y="22219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LABS-LEFT → Left Router (in)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0" y="2542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LABS-RIGHT → Right Router (in)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2862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TOP-RESTRICT → Upper (in)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2160" y="3182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BOTTOM-RESTRICT → Lower (in)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35021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FACULTY-RESTRICT → Mid-Upper (in)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0" y="38221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HOD-OUTBOUND → Mid-Upper (out)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42519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HOD Design Choice: HOD can initiate contact with Labs &amp; Classrooms (one-way). Labs CANNOT reply back. This models real university hierarchy — HOD broadcasts, students cannot directly reach HOD.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Verification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3931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Cross-zone 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 PC24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Office PC7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 PC24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Manager (100.10)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Lab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www.yahoo.com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Web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Lab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google.com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ACL: Labs → 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 Office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ACL: Faculty → 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 Office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ACL: Exam → 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 Office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Failover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PC (Central DOWN)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via 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test scenarios passed — network fully functional and verified end-to-end.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5303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961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HWIC-1GE-SFP not linking 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Switched to HWIC-2T serial ports for all router-to-router connections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81328"/>
            <a:ext cx="73152" cy="5303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08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IR8340 had Layer 2 switch ports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7282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Replaced with standard 2911 — used serial links to central instead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93976"/>
            <a:ext cx="73152" cy="5303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214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Serial link IP overlap (/8 mask)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34086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Corrected to 255.255.255.252 (/30) — eliminated all overlaps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06624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06624"/>
            <a:ext cx="73152" cy="5303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340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Ring backup causing routing loop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95351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Rebuilt all routes with correct ring order and verified next-hops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19272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19272"/>
            <a:ext cx="73152" cy="5303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467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ACL blocking HOD reply from Labs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56616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Made intentional — HOD initiates (one-way), Labs cannot reply to HOD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931920"/>
            <a:ext cx="73152" cy="5303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593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Teammate IP addressing errors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1788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Manually corrected all IPs and gateways across all zones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544568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544568"/>
            <a:ext cx="73152" cy="5303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572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Broadcast ping 192.168.X.255 failing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79145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 directed ping to specific host IPs — confirmed all zones reachable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8412480" cy="438912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90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Scalable campus network with 10 isolated subnets across a full university building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93392"/>
            <a:ext cx="8412480" cy="438912"/>
          </a:xfrm>
          <a:prstGeom prst="rect">
            <a:avLst/>
          </a:prstGeom>
          <a:solidFill>
            <a:srgbClr val="1A2D6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0208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Fault-tolerant ring topology with 3-level floating static route failover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23744"/>
            <a:ext cx="8412480" cy="438912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5511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DNS + HTTP server infrastructure with 7 hosted domains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54096"/>
            <a:ext cx="8412480" cy="438912"/>
          </a:xfrm>
          <a:prstGeom prst="rect">
            <a:avLst/>
          </a:prstGeom>
          <a:solidFill>
            <a:srgbClr val="1A2D6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0815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Internal email service (SMTP/POP3) for cross-zone university communication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84448"/>
            <a:ext cx="8412480" cy="438912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ACL-based security policy modelling real university access hierarchy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114800"/>
            <a:ext cx="8412480" cy="438912"/>
          </a:xfrm>
          <a:prstGeom prst="rect">
            <a:avLst/>
          </a:prstGeom>
          <a:solidFill>
            <a:srgbClr val="1A2D6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41422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Wireless access points demonstrating mobile device connectivity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63440"/>
            <a:ext cx="8412480" cy="34747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6908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University, Kamra  |  BS </a:t>
            </a:r>
            <a:r>
              <a:rPr lang="en-US" sz="11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F’24 - B|  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</a:t>
            </a:r>
            <a:r>
              <a:rPr lang="en-US" sz="11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1160</Words>
  <Application>Microsoft Office PowerPoint</Application>
  <PresentationFormat>On-screen Show (16:9)</PresentationFormat>
  <Paragraphs>304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Campus Network — CN Project</dc:title>
  <dc:subject>PptxGenJS Presentation</dc:subject>
  <dc:creator>PptxGenJS</dc:creator>
  <cp:lastModifiedBy>Wasif Ali</cp:lastModifiedBy>
  <cp:revision>3</cp:revision>
  <dcterms:created xsi:type="dcterms:W3CDTF">2026-05-30T17:58:35Z</dcterms:created>
  <dcterms:modified xsi:type="dcterms:W3CDTF">2026-06-07T12:36:42Z</dcterms:modified>
</cp:coreProperties>
</file>