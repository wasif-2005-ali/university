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F6D575-4BF9-43CF-92D2-633FFC540F0B}">
  <a:tblStyle styleId="{98F6D575-4BF9-43CF-92D2-633FFC540F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3"/>
          <p:cNvCxnSpPr/>
          <p:nvPr/>
        </p:nvCxnSpPr>
        <p:spPr>
          <a:xfrm>
            <a:off x="1645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3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3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3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C2A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C2A8">
              <a:alpha val="10196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200" y="-640080"/>
            <a:ext cx="3200400" cy="3200400"/>
          </a:xfrm>
          <a:prstGeom prst="ellipse">
            <a:avLst/>
          </a:prstGeom>
          <a:solidFill>
            <a:srgbClr val="39D98A">
              <a:alpha val="705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2920" y="594360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" y="59436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COAL SEMESTER PROJECT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100584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Digital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173736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Clock &amp; Stopwatch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263347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7-Segment ASCII UI  ·  Live Date Display  ·  12/24 Hr Toggle  ·  Mode State Machine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457200" y="3127248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Developer: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Wasif Ali                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130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Instructor: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Sir Imran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7033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Subject: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Organization &amp; Assembly Language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130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Institution: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C2A8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Assembly x86  ·  Irvine32 Library  ·  MASM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387" y="672646"/>
            <a:ext cx="3466427" cy="1668218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463040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66928" y="1463040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97280" y="1463040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Project Overview &amp; Objectives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139696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66928" y="2139696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97280" y="2139696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System Architecture &amp; Design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2816352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66928" y="2816352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97280" y="2816352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7-Segment Rendering Engine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3493008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66928" y="3493008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97280" y="349300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Clock Mode — Core Logic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4169664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66928" y="4169664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097280" y="4169664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Stopwatch Module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1463040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956048" y="1463040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0" y="1463040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State Machine &amp; Input Handler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46320" y="2139696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956048" y="2139696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0" y="2139696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Key Data Structures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846320" y="2816352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956048" y="2816352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0" y="2816352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Demo Walkthrough &amp; Screenshots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846320" y="3493008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6048" y="3493008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86400" y="349300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846320" y="4169664"/>
            <a:ext cx="4114800" cy="530352"/>
          </a:xfrm>
          <a:prstGeom prst="rect">
            <a:avLst/>
          </a:prstGeom>
          <a:solidFill>
            <a:srgbClr val="162435"/>
          </a:solidFill>
          <a:ln cap="flat" cmpd="sng" w="9525">
            <a:solidFill>
              <a:srgbClr val="00C2A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956048" y="4169664"/>
            <a:ext cx="47548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0" y="4169664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  PROJECT OVERVIEW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Was Built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5760" y="141201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30352" y="150345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🕐  Live Clock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0352" y="183264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Fetches real system time via GetLocalTime Win32 API; updates every ~50 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91840" y="141201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456432" y="150345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⏱  Stopwatch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456432" y="183264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Millisecond-precision timer using GetMSeconds; tracks MM:SS:CC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17920" y="141201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382512" y="150345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📺  7-Segment UI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382512" y="183264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ASCII '#' blocks render each digit across 6 rows × 6 columns on screen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5760" y="264645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30352" y="273789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🔀  12/24 Hr Toggle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30352" y="306708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Full AM/PM detection with midnight &amp; noon edge-case handling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91840" y="264645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456432" y="273789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🎨  Color Cycling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456432" y="306708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Text color cycles through palette each second; pauses on stopped stopwatch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217920" y="2646459"/>
            <a:ext cx="2743200" cy="10791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382512" y="2737899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📋  3-Mode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382512" y="3067083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Clock, Stopwatch, and About screens managed by a state machine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79551" y="3837900"/>
            <a:ext cx="58383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3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witches between multiple operating modes through a keyboard-driven state machine.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8672945" y="483733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  SYSTEM ARCHITECTURE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 Flow &amp; Module Map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474725" y="1417324"/>
            <a:ext cx="2194500" cy="548700"/>
          </a:xfrm>
          <a:prstGeom prst="rect">
            <a:avLst/>
          </a:prstGeom>
          <a:solidFill>
            <a:srgbClr val="00C2A8">
              <a:alpha val="90196"/>
            </a:srgbClr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177600" y="1519800"/>
            <a:ext cx="82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Main Loop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65750" y="1417325"/>
            <a:ext cx="2011800" cy="548700"/>
          </a:xfrm>
          <a:prstGeom prst="rect">
            <a:avLst/>
          </a:prstGeom>
          <a:solidFill>
            <a:srgbClr val="1A2E42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83050" y="1417325"/>
            <a:ext cx="9675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HandleInput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(State Machine)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766550" y="1417324"/>
            <a:ext cx="2011800" cy="548700"/>
          </a:xfrm>
          <a:prstGeom prst="rect">
            <a:avLst/>
          </a:prstGeom>
          <a:solidFill>
            <a:srgbClr val="1A2E42"/>
          </a:solidFill>
          <a:ln cap="flat" cmpd="sng" w="12700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237875" y="1455575"/>
            <a:ext cx="1097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9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9D98A"/>
                </a:solidFill>
                <a:latin typeface="Calibri"/>
                <a:ea typeface="Calibri"/>
                <a:cs typeface="Calibri"/>
                <a:sym typeface="Calibri"/>
              </a:rPr>
              <a:t>GetLocalTime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98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9D98A"/>
                </a:solidFill>
                <a:latin typeface="Calibri"/>
                <a:ea typeface="Calibri"/>
                <a:cs typeface="Calibri"/>
                <a:sym typeface="Calibri"/>
              </a:rPr>
              <a:t>(Win32 API)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6"/>
          <p:cNvCxnSpPr/>
          <p:nvPr/>
        </p:nvCxnSpPr>
        <p:spPr>
          <a:xfrm>
            <a:off x="2377440" y="1677360"/>
            <a:ext cx="1097400" cy="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>
            <a:off x="5669280" y="1677360"/>
            <a:ext cx="1097400" cy="0"/>
          </a:xfrm>
          <a:prstGeom prst="straightConnector1">
            <a:avLst/>
          </a:prstGeom>
          <a:noFill/>
          <a:ln cap="flat" cmpd="sng" w="19050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6"/>
          <p:cNvCxnSpPr/>
          <p:nvPr/>
        </p:nvCxnSpPr>
        <p:spPr>
          <a:xfrm flipH="1">
            <a:off x="1366550" y="1972486"/>
            <a:ext cx="300" cy="41040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6"/>
          <p:cNvSpPr/>
          <p:nvPr/>
        </p:nvSpPr>
        <p:spPr>
          <a:xfrm>
            <a:off x="360650" y="2397292"/>
            <a:ext cx="2011800" cy="433500"/>
          </a:xfrm>
          <a:prstGeom prst="rect">
            <a:avLst/>
          </a:prstGeom>
          <a:solidFill>
            <a:srgbClr val="162435"/>
          </a:solidFill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1031450" y="2423275"/>
            <a:ext cx="670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Mode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6"/>
          <p:cNvCxnSpPr/>
          <p:nvPr/>
        </p:nvCxnSpPr>
        <p:spPr>
          <a:xfrm>
            <a:off x="4571980" y="1979108"/>
            <a:ext cx="0" cy="418800"/>
          </a:xfrm>
          <a:prstGeom prst="straightConnector1">
            <a:avLst/>
          </a:prstGeom>
          <a:noFill/>
          <a:ln cap="flat" cmpd="sng" w="19050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6"/>
          <p:cNvSpPr/>
          <p:nvPr/>
        </p:nvSpPr>
        <p:spPr>
          <a:xfrm>
            <a:off x="3474725" y="2423277"/>
            <a:ext cx="2194500" cy="433500"/>
          </a:xfrm>
          <a:prstGeom prst="rect">
            <a:avLst/>
          </a:prstGeom>
          <a:solidFill>
            <a:srgbClr val="162435"/>
          </a:solidFill>
          <a:ln cap="flat" cmpd="sng" w="15225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474725" y="2397300"/>
            <a:ext cx="21945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9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9D98A"/>
                </a:solidFill>
                <a:latin typeface="Calibri"/>
                <a:ea typeface="Calibri"/>
                <a:cs typeface="Calibri"/>
                <a:sym typeface="Calibri"/>
              </a:rPr>
              <a:t>Mode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D9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9D98A"/>
                </a:solidFill>
                <a:latin typeface="Calibri"/>
                <a:ea typeface="Calibri"/>
                <a:cs typeface="Calibri"/>
                <a:sym typeface="Calibri"/>
              </a:rPr>
              <a:t>Stopwatch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7772400" y="1978873"/>
            <a:ext cx="0" cy="418800"/>
          </a:xfrm>
          <a:prstGeom prst="straightConnector1">
            <a:avLst/>
          </a:prstGeom>
          <a:noFill/>
          <a:ln cap="flat" cmpd="sng" w="19050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6675125" y="2423277"/>
            <a:ext cx="2194500" cy="433500"/>
          </a:xfrm>
          <a:prstGeom prst="rect">
            <a:avLst/>
          </a:prstGeom>
          <a:solidFill>
            <a:srgbClr val="162435"/>
          </a:solidFill>
          <a:ln cap="flat" cmpd="sng" w="152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7324250" y="2469400"/>
            <a:ext cx="939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Mode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About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 flipH="1">
            <a:off x="1372260" y="2834690"/>
            <a:ext cx="2400" cy="34020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6"/>
          <p:cNvSpPr/>
          <p:nvPr/>
        </p:nvSpPr>
        <p:spPr>
          <a:xfrm>
            <a:off x="360650" y="3184925"/>
            <a:ext cx="2011800" cy="481200"/>
          </a:xfrm>
          <a:prstGeom prst="rect">
            <a:avLst/>
          </a:prstGeom>
          <a:solidFill>
            <a:srgbClr val="0A1520"/>
          </a:solidFill>
          <a:ln cap="flat" cmpd="sng" w="10150">
            <a:solidFill>
              <a:srgbClr val="00C2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828125" y="3184925"/>
            <a:ext cx="109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DrawHugeDigit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DrawColon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DrawDate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 flipH="1">
            <a:off x="4571085" y="2856765"/>
            <a:ext cx="900" cy="292200"/>
          </a:xfrm>
          <a:prstGeom prst="straightConnector1">
            <a:avLst/>
          </a:prstGeom>
          <a:noFill/>
          <a:ln cap="flat" cmpd="sng" w="15225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"/>
          <p:cNvSpPr/>
          <p:nvPr/>
        </p:nvSpPr>
        <p:spPr>
          <a:xfrm>
            <a:off x="3465750" y="3184925"/>
            <a:ext cx="2194500" cy="481200"/>
          </a:xfrm>
          <a:prstGeom prst="rect">
            <a:avLst/>
          </a:prstGeom>
          <a:solidFill>
            <a:srgbClr val="0A1520"/>
          </a:solidFill>
          <a:ln cap="flat" cmpd="sng" w="10150">
            <a:solidFill>
              <a:srgbClr val="39D98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959400" y="3238050"/>
            <a:ext cx="1237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GetMSeconds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CalcTime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DrawHugeDigit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7786585" y="2856765"/>
            <a:ext cx="900" cy="305100"/>
          </a:xfrm>
          <a:prstGeom prst="straightConnector1">
            <a:avLst/>
          </a:prstGeom>
          <a:noFill/>
          <a:ln cap="flat" cmpd="sng" w="152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6"/>
          <p:cNvSpPr/>
          <p:nvPr/>
        </p:nvSpPr>
        <p:spPr>
          <a:xfrm>
            <a:off x="6672750" y="3161077"/>
            <a:ext cx="2194500" cy="481200"/>
          </a:xfrm>
          <a:prstGeom prst="rect">
            <a:avLst/>
          </a:prstGeom>
          <a:solidFill>
            <a:srgbClr val="0A1520"/>
          </a:solidFill>
          <a:ln cap="flat" cmpd="sng" w="10150">
            <a:solidFill>
              <a:srgbClr val="F0A50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474291" y="3229289"/>
            <a:ext cx="670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WriteString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(credits)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 flipH="1">
            <a:off x="1365910" y="3667447"/>
            <a:ext cx="2400" cy="34020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6"/>
          <p:cNvCxnSpPr/>
          <p:nvPr/>
        </p:nvCxnSpPr>
        <p:spPr>
          <a:xfrm flipH="1">
            <a:off x="4564735" y="3678183"/>
            <a:ext cx="900" cy="292200"/>
          </a:xfrm>
          <a:prstGeom prst="straightConnector1">
            <a:avLst/>
          </a:prstGeom>
          <a:noFill/>
          <a:ln cap="flat" cmpd="sng" w="15225">
            <a:solidFill>
              <a:srgbClr val="39D9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6"/>
          <p:cNvCxnSpPr/>
          <p:nvPr/>
        </p:nvCxnSpPr>
        <p:spPr>
          <a:xfrm>
            <a:off x="7780235" y="3655504"/>
            <a:ext cx="900" cy="305100"/>
          </a:xfrm>
          <a:prstGeom prst="straightConnector1">
            <a:avLst/>
          </a:prstGeom>
          <a:noFill/>
          <a:ln cap="flat" cmpd="sng" w="152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0" name="Google Shape;1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26" y="3952214"/>
            <a:ext cx="2011688" cy="10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750" y="3959525"/>
            <a:ext cx="2194500" cy="10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2750" y="3946575"/>
            <a:ext cx="2194499" cy="10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  7-SEGMENT ENGINE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6217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Drawing Digits with ASCII Blocks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24552" y="1377734"/>
            <a:ext cx="2926200" cy="3566100"/>
          </a:xfrm>
          <a:prstGeom prst="rect">
            <a:avLst/>
          </a:prstGeom>
          <a:solidFill>
            <a:srgbClr val="162435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136153" y="1904779"/>
            <a:ext cx="1371600" cy="2013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530348" y="2119751"/>
            <a:ext cx="201300" cy="6402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516544" y="2992738"/>
            <a:ext cx="201300" cy="6402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149957" y="3646446"/>
            <a:ext cx="1371600" cy="2013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939645" y="2992738"/>
            <a:ext cx="201300" cy="6402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939645" y="2119751"/>
            <a:ext cx="201300" cy="6402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136153" y="2777766"/>
            <a:ext cx="1371600" cy="201300"/>
          </a:xfrm>
          <a:prstGeom prst="rect">
            <a:avLst/>
          </a:prstGeom>
          <a:solidFill>
            <a:srgbClr val="00C2A8"/>
          </a:solidFill>
          <a:ln>
            <a:noFill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646689" y="1918600"/>
            <a:ext cx="31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535004" y="2284316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521200" y="3175448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675087" y="3646450"/>
            <a:ext cx="31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44297" y="3189252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30492" y="2298120"/>
            <a:ext cx="20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646689" y="2791581"/>
            <a:ext cx="31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5760" y="446227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Visual: Digit '8'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(all 7 segments active)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566160" y="132588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Segment → Procedure Mapping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7"/>
          <p:cNvGraphicFramePr/>
          <p:nvPr/>
        </p:nvGraphicFramePr>
        <p:xfrm>
          <a:off x="35204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{98F6D575-4BF9-43CF-92D2-633FFC540F0B}</a:tableStyleId>
              </a:tblPr>
              <a:tblGrid>
                <a:gridCol w="1337300"/>
                <a:gridCol w="1337300"/>
                <a:gridCol w="1337300"/>
                <a:gridCol w="13373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D1B2A"/>
                          </a:solidFill>
                        </a:rPr>
                        <a:t>Segment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D1B2A"/>
                          </a:solidFill>
                        </a:rPr>
                        <a:t>Procedure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D1B2A"/>
                          </a:solidFill>
                        </a:rPr>
                        <a:t>Console Position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D1B2A"/>
                          </a:solidFill>
                        </a:rPr>
                        <a:t>Characters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A (Top)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SegA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baseX+1, baseY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4×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B (Upper-R)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SegB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baseX+5, baseY+1..2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1×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C (Lower-R)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SegC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baseX+5, baseY+4..5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1×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D (Bottom)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SegD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baseX+1, baseY+6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4×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E (Lower-L)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SegE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baseX, baseY+4..5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1×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F (Upper-L)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SegF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baseX, baseY+1..2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</a:rPr>
                        <a:t>1×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G (Middle)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SegG PROC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baseX+1, baseY+3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</a:rPr>
                        <a:t>4× '#'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</a:tbl>
          </a:graphicData>
        </a:graphic>
      </p:graphicFrame>
      <p:pic>
        <p:nvPicPr>
          <p:cNvPr id="171" name="Google Shape;17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075" y="303088"/>
            <a:ext cx="986425" cy="11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  CLOCK MODE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Rendering &amp; 12/24-Hr Logic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12-Hour Conversion Logic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02920" y="1737360"/>
            <a:ext cx="3474720" cy="50292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0292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Get sysTime.wHour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(+12 Wine fix)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2240280" y="2240280"/>
            <a:ext cx="0" cy="9144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502920" y="2331720"/>
            <a:ext cx="3474720" cy="502920"/>
          </a:xfrm>
          <a:prstGeom prst="rect">
            <a:avLst/>
          </a:prstGeom>
          <a:solidFill>
            <a:srgbClr val="1A2E42"/>
          </a:solidFill>
          <a:ln cap="flat" cmpd="sng" w="101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02920" y="23317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is12Hour == 1?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2240280" y="2834640"/>
            <a:ext cx="0" cy="9144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502920" y="2926080"/>
            <a:ext cx="3474720" cy="50292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02920" y="29260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hour &gt;= 12 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Set isPM =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2240280" y="3429000"/>
            <a:ext cx="0" cy="9144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>
            <a:off x="502920" y="3520440"/>
            <a:ext cx="3474720" cy="50292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02920" y="3520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hour == 12 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Keep as 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2240280" y="4023360"/>
            <a:ext cx="0" cy="91440"/>
          </a:xfrm>
          <a:prstGeom prst="straightConnector1">
            <a:avLst/>
          </a:prstGeom>
          <a:noFill/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>
            <a:off x="502920" y="4114800"/>
            <a:ext cx="3474720" cy="50292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02920" y="41148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hour == 0 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Set 12 (midnight)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0" y="1298448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Assembly Implementation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0" y="1737350"/>
            <a:ext cx="4316100" cy="2880300"/>
          </a:xfrm>
          <a:prstGeom prst="rect">
            <a:avLst/>
          </a:prstGeom>
          <a:solidFill>
            <a:srgbClr val="0A1520"/>
          </a:solidFill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672441" y="1799262"/>
            <a:ext cx="4041600" cy="27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; Hour display with 12-hr logic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movzx eax, sysTime.wHour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add   eax, 12          ; Wine +12 fix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cmp   eax, 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jb    TimeFixed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sub   eax, 24          ; wrap past midnight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TimeFixed: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is12Hour,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jne  DrawHoursNormal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isPM,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eax,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jb   CheckMidnight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isPM,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je   DrawHoursNormal   ; exactly noon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sub  eax, 12           ; PM hours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jmp  DrawHoursNormal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CheckMidnight: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eax,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jne  DrawHoursNormal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9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eax, 12           ; midnight → 12 AM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450" y="4659113"/>
            <a:ext cx="627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💡  The +12 Wine Environment Fix compensates for Wine's system time reporting bug where hours appear as AM only.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  STOPWATCH MODULE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 Timing with State Control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65760" y="129844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Stopwatch State Machine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0597" y="1783080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1A2E42"/>
          </a:solidFill>
          <a:ln cap="flat" cmpd="sng" w="15225">
            <a:solidFill>
              <a:srgbClr val="7B9B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874281" y="1783075"/>
            <a:ext cx="877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swState =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513717" y="1783080"/>
            <a:ext cx="1828800" cy="594300"/>
          </a:xfrm>
          <a:prstGeom prst="roundRect">
            <a:avLst>
              <a:gd fmla="val 15385" name="adj"/>
            </a:avLst>
          </a:prstGeom>
          <a:solidFill>
            <a:srgbClr val="00C2A8">
              <a:alpha val="85098"/>
            </a:srgbClr>
          </a:solidFill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939329" y="1783075"/>
            <a:ext cx="98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swState =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9"/>
          <p:cNvCxnSpPr/>
          <p:nvPr/>
        </p:nvCxnSpPr>
        <p:spPr>
          <a:xfrm>
            <a:off x="2247554" y="1984248"/>
            <a:ext cx="274200" cy="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9"/>
          <p:cNvSpPr/>
          <p:nvPr/>
        </p:nvSpPr>
        <p:spPr>
          <a:xfrm>
            <a:off x="2196525" y="1801200"/>
            <a:ext cx="3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2234565" y="2212848"/>
            <a:ext cx="274200" cy="0"/>
          </a:xfrm>
          <a:prstGeom prst="straightConnector1">
            <a:avLst/>
          </a:prstGeom>
          <a:noFill/>
          <a:ln cap="flat" cmpd="sng" w="15225">
            <a:solidFill>
              <a:srgbClr val="7B9B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2196400" y="2162475"/>
            <a:ext cx="3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644005" y="2568286"/>
            <a:ext cx="1463100" cy="502800"/>
          </a:xfrm>
          <a:prstGeom prst="roundRect">
            <a:avLst>
              <a:gd fmla="val 18182" name="adj"/>
            </a:avLst>
          </a:prstGeom>
          <a:solidFill>
            <a:srgbClr val="1A0D0D"/>
          </a:solidFill>
          <a:ln cap="flat" cmpd="sng" w="15225">
            <a:solidFill>
              <a:srgbClr val="F06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818450" y="2568286"/>
            <a:ext cx="111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6050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6050"/>
                </a:solidFill>
                <a:latin typeface="Calibri"/>
                <a:ea typeface="Calibri"/>
                <a:cs typeface="Calibri"/>
                <a:sym typeface="Calibri"/>
              </a:rPr>
              <a:t>[R] key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2371675" y="2203615"/>
            <a:ext cx="0" cy="365700"/>
          </a:xfrm>
          <a:prstGeom prst="straightConnector1">
            <a:avLst/>
          </a:prstGeom>
          <a:noFill/>
          <a:ln cap="flat" cmpd="sng" w="12700">
            <a:solidFill>
              <a:srgbClr val="F060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9"/>
          <p:cNvSpPr/>
          <p:nvPr/>
        </p:nvSpPr>
        <p:spPr>
          <a:xfrm>
            <a:off x="365760" y="34290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Time Calculation Algorithm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65760" y="3858768"/>
            <a:ext cx="228600" cy="2286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85800" y="38313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Total ms = GetMSeconds() − timeStart + timeElapsed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65760" y="4142232"/>
            <a:ext cx="228600" cy="2286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85800" y="41148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Minutes  = Total ms ÷ 60,000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65760" y="4425696"/>
            <a:ext cx="228600" cy="2286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85800" y="43982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Seconds  = Remainder ÷ 1,000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65760" y="4709160"/>
            <a:ext cx="228600" cy="2286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85800" y="46817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Centiseconds = Final remainder ÷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754880" y="129844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Start / Pause Implementation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754875" y="1719074"/>
            <a:ext cx="4160400" cy="2706600"/>
          </a:xfrm>
          <a:prstGeom prst="rect">
            <a:avLst/>
          </a:prstGeom>
          <a:solidFill>
            <a:srgbClr val="0A1520"/>
          </a:solidFill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892050" y="1810502"/>
            <a:ext cx="38862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ToggleStopwatch: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currentMode, 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jne  NoInput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xor  swState, 1      ; flip 0↔1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swState, 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jne  Pausing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; --- START ---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call GetMSeconds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timeStart, eax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Pausing: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; --- PAUSE ---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call GetMSeconds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sub  eax, timeStart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add  timeElapsed, eax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ResetStopwatch: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swState,    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timeElapsed, 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timeStart,  0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7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06  STATE MACHINE &amp; INPUT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Keyboard-Driven Mode Controller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65760" y="129844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Key Bindings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10"/>
          <p:cNvGraphicFramePr/>
          <p:nvPr/>
        </p:nvGraphicFramePr>
        <p:xfrm>
          <a:off x="365760" y="17190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{98F6D575-4BF9-43CF-92D2-633FFC540F0B}</a:tableStyleId>
              </a:tblPr>
              <a:tblGrid>
                <a:gridCol w="1039475"/>
                <a:gridCol w="1751925"/>
                <a:gridCol w="1395700"/>
              </a:tblGrid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1B2A"/>
                          </a:solidFill>
                        </a:rPr>
                        <a:t>Key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1B2A"/>
                          </a:solidFill>
                        </a:rPr>
                        <a:t>Action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D1B2A"/>
                          </a:solidFill>
                        </a:rPr>
                        <a:t>Allowed In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ESC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Quit Program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Any mode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C / c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Switch to Clock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Any mode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6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S / s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Switch to Stopwatch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Any mode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A / a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Switch to About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Any mode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T / 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Toggle 12/24 Hour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Clock only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3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SPACE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Start / Pause Stopwatch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8F0F6"/>
                          </a:solidFill>
                        </a:rPr>
                        <a:t>Stopwatch only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R / r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Reset Stopwatch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7B9BB8"/>
                          </a:solidFill>
                        </a:rPr>
                        <a:t>Stopwatch only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10"/>
          <p:cNvSpPr/>
          <p:nvPr/>
        </p:nvSpPr>
        <p:spPr>
          <a:xfrm>
            <a:off x="393760" y="4278383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State Variables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95051" y="4524061"/>
            <a:ext cx="7679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currentMode  (0=Clock, 1=Stopwatch, 2=About)   ·   swState  (0=Idle, 1=Running)   ·   needsClear  (redraw flag)   ·   is12Hour  (format toggle)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199221" y="1298448"/>
            <a:ext cx="429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HandleInput — Core Logic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214114" y="1719075"/>
            <a:ext cx="3125100" cy="2559300"/>
          </a:xfrm>
          <a:prstGeom prst="rect">
            <a:avLst/>
          </a:prstGeom>
          <a:solidFill>
            <a:srgbClr val="0A1520"/>
          </a:solidFill>
          <a:ln cap="flat" cmpd="sng" w="15225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5306614" y="1765850"/>
            <a:ext cx="2988000" cy="25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HandleInput PROC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call ReadKey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jz   NoInput          ; no key pressed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al, 27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je   QuitProg         ; ESC → exit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al, 'c'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je   SwitchToClock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al, 'C'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je   SwitchToClock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; ... S/s A/a T/t R/r SPACE ...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SwitchToClock: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currentMode, 0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je   NoInput          ; already here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currentMode, 0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needsClear, 1    ; trigger redraw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Toggle12Hour: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cmp  currentMode, 0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jne  NoInput          ; clock mode only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xor  is12Hour, 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mov  needsClear, 1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950"/>
              <a:buFont typeface="Consolas"/>
              <a:buNone/>
            </a:pPr>
            <a:r>
              <a:rPr lang="en-US" sz="60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  ret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095" y="242496"/>
            <a:ext cx="3842351" cy="3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07  DATA STRUCTURES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Variables in the .data Segment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74320" y="1371600"/>
            <a:ext cx="91440" cy="1865376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502920" y="138988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Visual / Rendering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3" y="166420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blockChar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395678" y="1664188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885763" y="1674185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'#'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2192275" y="1664188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Character used to paint all segments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02923" y="1947664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baseX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395678" y="1947651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885763" y="1957649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192275" y="1947652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Current digit's X screen column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02923" y="2231128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baseY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395678" y="2231115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885763" y="2241113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2192275" y="2231116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Fixed Y row for digit top row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02923" y="2514591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colorVal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395678" y="2514579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885763" y="2524577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192275" y="2514580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Console text color (cycles 9–15)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02923" y="2798055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lastSecond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395678" y="2798043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885763" y="2808041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192275" y="2798044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Detects new second for color cycle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02923" y="3081519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needsClear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395678" y="3081506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885763" y="3091506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2192275" y="3081508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Flag: 1 = full screen redraw needed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274320" y="3547872"/>
            <a:ext cx="91440" cy="1298448"/>
          </a:xfrm>
          <a:prstGeom prst="rect">
            <a:avLst/>
          </a:prstGeom>
          <a:solidFill>
            <a:srgbClr val="39D9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02920" y="356616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9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39D98A"/>
                </a:solidFill>
                <a:latin typeface="Calibri"/>
                <a:ea typeface="Calibri"/>
                <a:cs typeface="Calibri"/>
                <a:sym typeface="Calibri"/>
              </a:rPr>
              <a:t>State Control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02923" y="384047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currentMode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395678" y="3840458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885763" y="3850458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192275" y="3840461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Active screen (0 Clock, 1 SW, 2 About)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02923" y="4123934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is12Hour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395678" y="4123922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885763" y="4133922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192275" y="4123925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0 = 24hr mode, 1 = 12hr mode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02923" y="4407398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isPM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395678" y="4407385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885763" y="4417386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2192275" y="4407389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0 = AM, 1 = PM (set by 12hr logic)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02923" y="4690862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swState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395678" y="4690849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885763" y="4700850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192275" y="4690853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0 = stopped, 1 = running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636511" y="1398664"/>
            <a:ext cx="91500" cy="15819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4865111" y="141695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Stopwatch Timing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865115" y="1691261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timeStart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757869" y="1691249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DWORD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247955" y="1701251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554467" y="1691254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GetMSeconds value when SW started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865115" y="1974725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timeElapsed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757869" y="1974713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DWORD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247955" y="1984715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554467" y="1974718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Accumulated ms across pause cycles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865115" y="2258189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swMins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757869" y="2258177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DWORD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247955" y="2268180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554467" y="2258182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Computed display: minutes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865115" y="2541653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swSecs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5757869" y="2541640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DWORD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247955" y="2551644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554467" y="2541646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Computed display: seconds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865115" y="2825117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8F0F6"/>
                </a:solidFill>
                <a:latin typeface="Consolas"/>
                <a:ea typeface="Consolas"/>
                <a:cs typeface="Consolas"/>
                <a:sym typeface="Consolas"/>
              </a:rPr>
              <a:t>swCentis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757869" y="2825104"/>
            <a:ext cx="38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DWORD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247955" y="2835108"/>
            <a:ext cx="2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554467" y="2825111"/>
            <a:ext cx="181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Computed display: centiseconds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248" y="3767526"/>
            <a:ext cx="1325500" cy="929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750" y="3964480"/>
            <a:ext cx="1817700" cy="563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3450" y="3770758"/>
            <a:ext cx="1509083" cy="9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 txBox="1"/>
          <p:nvPr/>
        </p:nvSpPr>
        <p:spPr>
          <a:xfrm>
            <a:off x="4256333" y="3363658"/>
            <a:ext cx="1325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 View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08  PROCEDURE REFERENCE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Procedures at a Glance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" name="Google Shape;343;p12"/>
          <p:cNvGraphicFramePr/>
          <p:nvPr/>
        </p:nvGraphicFramePr>
        <p:xfrm>
          <a:off x="36576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{98F6D575-4BF9-43CF-92D2-633FFC540F0B}</a:tableStyleId>
              </a:tblPr>
              <a:tblGrid>
                <a:gridCol w="1828800"/>
                <a:gridCol w="4114800"/>
                <a:gridCol w="246887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2A8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Entry point; hosts main loop and mode dispatcher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HandleInput, DrawUIHeader, all modes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DrawUIHeader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Prints static header (title, author, border)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WriteString, Gotoxy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HandleInput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Reads keyboard; drives currentMode state machine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ReadKey, GetMSeconds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WriteZeroPadded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Prints numbers with leading zero (e.g. 09)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WriteChar, WriteDec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DrawHugeDigit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Dispatches to correct segment combination for 0–9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ClearDigitArea, SegA–SegG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ClearDigitArea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Blanks 7 rows × 6 cols before each digit redraw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SegA / SegD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and bottom horizontal segments (4 chars wide)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SegB / SegC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vertical segments (upper &amp; lower)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SegE / SegF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 vertical segments (upper &amp; lower)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SegG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Middle horizontal segment (4 chars wide)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6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E8F0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435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2A8"/>
                        </a:buClr>
                        <a:buSzPts val="950"/>
                        <a:buFont typeface="Consolas"/>
                        <a:buNone/>
                      </a:pPr>
                      <a:r>
                        <a:rPr lang="en-US" sz="950" u="none" cap="none" strike="noStrike">
                          <a:solidFill>
                            <a:srgbClr val="00C2A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DrawColon</a:t>
                      </a:r>
                      <a:endParaRPr sz="9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Draws ':' separator between digit pairs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9BB8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7B9B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Gotoxy, WriteChar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0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8669572" y="483770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09  CHALLENGES &amp; SOLUTIONS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Decisions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20040" y="1298448"/>
            <a:ext cx="4114800" cy="17190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57200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005840" y="13898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Wine Environment Time Bug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57200" y="1865376"/>
            <a:ext cx="22860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Manually added 12 to wHour with modulo 24 wrap-around to compensate for Wine's broken AM-only time reporting.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2880360" y="1865376"/>
            <a:ext cx="1417320" cy="1024128"/>
          </a:xfrm>
          <a:prstGeom prst="rect">
            <a:avLst/>
          </a:prstGeom>
          <a:solidFill>
            <a:srgbClr val="0A1520"/>
          </a:solidFill>
          <a:ln cap="flat" cmpd="sng" w="9525">
            <a:solidFill>
              <a:srgbClr val="00C2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2926080" y="1892808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add eax,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cmp eax, 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jb  TimeFixed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sub eax, 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709160" y="1298448"/>
            <a:ext cx="4114800" cy="17190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846320" y="13898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394960" y="1389888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12-Hour Edge Cases (Noon &amp; Midnight)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4846320" y="1865376"/>
            <a:ext cx="22860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Separate branches check for exactly 00:00 (convert → 12 AM) and exactly 12:00 (keep as 12 PM), preventing 0 AM and 12 → 0 PM bugs.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7269480" y="1865376"/>
            <a:ext cx="1417200" cy="1024200"/>
          </a:xfrm>
          <a:prstGeom prst="rect">
            <a:avLst/>
          </a:prstGeom>
          <a:solidFill>
            <a:srgbClr val="0A1520"/>
          </a:solidFill>
          <a:ln cap="flat" cmpd="sng" w="9525">
            <a:solidFill>
              <a:srgbClr val="00C2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7315200" y="1892808"/>
            <a:ext cx="137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cmp eax, 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je  SetNoon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cmp eax, 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je  DrawHoursNormal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20040" y="3246120"/>
            <a:ext cx="4114800" cy="17190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005840" y="33375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Screen Flicker During Redraws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57200" y="3813048"/>
            <a:ext cx="22860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needsClear flag defers Clrscr to the next loop iteration only when mode changes, not every 50 ms. Digit areas are cleared individually.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880360" y="3813048"/>
            <a:ext cx="1417320" cy="1024128"/>
          </a:xfrm>
          <a:prstGeom prst="rect">
            <a:avLst/>
          </a:prstGeom>
          <a:solidFill>
            <a:srgbClr val="0A1520"/>
          </a:solidFill>
          <a:ln cap="flat" cmpd="sng" w="9525">
            <a:solidFill>
              <a:srgbClr val="00C2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2926080" y="384048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cmp needsClear,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jne SkipClear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call Clrscr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mov  needsClear, 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709160" y="3246120"/>
            <a:ext cx="4114800" cy="1719000"/>
          </a:xfrm>
          <a:prstGeom prst="rect">
            <a:avLst/>
          </a:prstGeom>
          <a:solidFill>
            <a:srgbClr val="162435"/>
          </a:solidFill>
          <a:ln cap="flat" cmpd="sng" w="10150">
            <a:solidFill>
              <a:srgbClr val="00C2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90319950" rotWithShape="0" algn="bl" dist="48387000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4846320" y="3337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5394960" y="3337560"/>
            <a:ext cx="329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8F0F6"/>
                </a:solidFill>
                <a:latin typeface="Calibri"/>
                <a:ea typeface="Calibri"/>
                <a:cs typeface="Calibri"/>
                <a:sym typeface="Calibri"/>
              </a:rPr>
              <a:t>Stopwatch Accuracy Across Pauses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4846320" y="3813048"/>
            <a:ext cx="22860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timeElapsed accumulates each paused segment. On resume, a fresh timeStart snapshot is taken so elapsed time is preserved correctly.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7269480" y="3813048"/>
            <a:ext cx="1417200" cy="1024200"/>
          </a:xfrm>
          <a:prstGeom prst="rect">
            <a:avLst/>
          </a:prstGeom>
          <a:solidFill>
            <a:srgbClr val="0A1520"/>
          </a:solidFill>
          <a:ln cap="flat" cmpd="sng" w="9525">
            <a:solidFill>
              <a:srgbClr val="00C2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7315200" y="3840480"/>
            <a:ext cx="1371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sub eax, timeStart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A8E6CF"/>
                </a:solidFill>
                <a:latin typeface="Consolas"/>
                <a:ea typeface="Consolas"/>
                <a:cs typeface="Consolas"/>
                <a:sym typeface="Consolas"/>
              </a:rPr>
              <a:t>add timeElapsed, eax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C2A8">
              <a:alpha val="705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7132320" y="2834640"/>
            <a:ext cx="2286000" cy="2286000"/>
          </a:xfrm>
          <a:prstGeom prst="ellipse">
            <a:avLst/>
          </a:prstGeom>
          <a:solidFill>
            <a:srgbClr val="39D98A">
              <a:alpha val="10196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fmla="val 25000" name="adj"/>
            </a:avLst>
          </a:prstGeom>
          <a:solidFill>
            <a:srgbClr val="00C2A8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457200" y="256032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  CONCLUSION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57200" y="658368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Was Achieved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65760" y="141732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22960" y="14356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Real-Time Clock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822960" y="167335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System time fetched via Win32 GetLocalTime API and rendered as large 7-segment digits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65760" y="2020824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822960" y="20391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12/24 Hr Toggle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822960" y="2276856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Full AM/PM logic with bullet-proof midnight and noon edge cases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365760" y="2624328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822960" y="26426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Functional Stopwatch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22960" y="288036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Centisecond precision, start/pause/resume/reset, state preserved across pauses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65760" y="3227832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822960" y="3246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Dynamic Color 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822960" y="3483864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Per-second color cycling paused intelligently on stopwatch stop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365760" y="3831336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22960" y="384962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Clean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22960" y="4087368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State-machine input handler, modular PROC design, needsClear redraw optimization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365760" y="443484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822960" y="44531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Assembly Mastery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822960" y="469087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Irvine32 I/O, Win32 API calls, BYTE/DWORD state, DIV arithmetic, register hygiene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398300" y="-13600"/>
            <a:ext cx="4745700" cy="4149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4085625" y="40092"/>
            <a:ext cx="544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B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7B9BB8"/>
                </a:solidFill>
                <a:latin typeface="Calibri"/>
                <a:ea typeface="Calibri"/>
                <a:cs typeface="Calibri"/>
                <a:sym typeface="Calibri"/>
              </a:rPr>
              <a:t>COAL Semester Project  ·  Air University  ·  Developer: Wasif Ali  ·  Instructor: Sir Imran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0712" y="2089896"/>
            <a:ext cx="3466500" cy="166830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12" kx="0" rotWithShape="0" algn="bl" stA="38000" stPos="0" sy="-100000" ky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