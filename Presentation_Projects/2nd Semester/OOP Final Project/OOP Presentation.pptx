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8" r:id="rId12"/>
    <p:sldId id="266" r:id="rId13"/>
    <p:sldId id="267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AFB"/>
    <a:srgbClr val="2190D2"/>
    <a:srgbClr val="2695D5"/>
    <a:srgbClr val="40ADE3"/>
    <a:srgbClr val="2796D5"/>
    <a:srgbClr val="6ED2F7"/>
    <a:srgbClr val="55B4F5"/>
    <a:srgbClr val="2B99D7"/>
    <a:srgbClr val="0036A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93163-59B8-4B53-8020-0EEB52EA81A5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E8829-7223-470A-8453-9CFA717C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85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C0CB-E2BA-98A4-27A5-2BDAE10C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9FFE0-BFF9-59D0-64B9-FF9274E2B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D676F-ECAB-C844-D291-CA016F9A9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4628C-1B7B-D6B2-755A-547B7A666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6CD1-3DAB-C7CD-5374-B8410CE7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1E236-897D-09AD-EB47-7B32A3BD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0BF85-A90A-3DBA-6010-42D1AE7FA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769E9-1789-4F1F-611D-63490CDE7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6BB-AFE9-9D98-50BF-204CFC42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63A0A-4A20-D44E-83B5-10C5A148F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298EC-3C93-6B68-92F1-12C50FBC8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428C-C008-5348-A129-7ADD26EBC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3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C0DB-ECAC-9BAC-B12D-E0E59B56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B63B1-490C-4727-855A-70E8FADE3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EE3D9-B8FE-34FA-163A-43B8A8BD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465AB-078B-4161-FC6C-C61913EF9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28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17065-1515-7DCD-B65A-44A5F3CF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8482B-071B-C927-58BD-69DB8B76A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FE06D-88B3-30C7-71E0-68CC1DCA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1750-99D0-EAD9-A28A-777693A17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28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DF13-5724-7BD6-7AD5-FDBC86D07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32A9F-7FC7-81C6-C2D8-82163EDFB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01774-842B-04A8-C24E-42CE39BD9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C00ED-7C57-AE89-07B5-3ABA98DFB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15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EF66-04A8-7D23-57A0-AEA4613F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9E3DA-7B93-8069-970D-4E525E8C6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FECD7-B2AB-443E-8EB1-89DB40E6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32AF4-4855-EDC7-2449-60F162CA9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4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5CCB-3257-0350-B27F-CF7FAD46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E35AC-9F70-E2D4-030B-C9EDDAD66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36B44-497A-3E6E-7A17-B3F6F74CD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9B37-F6E9-3343-56A8-F7E099812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5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33AB-A558-5A2D-120B-836064D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23E52-3F26-89A1-EEE6-220C26B90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8C1AF-22F5-C2D0-5FDE-994EEAE5C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E9C5-C2AD-4B43-541D-EE1F18424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34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D901-3DE3-AF85-91A9-2D797F62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D59A6-22DC-360A-B89D-E60C2697C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A6554-9907-5309-B128-51AC01B74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5D185-F08F-7A8D-3CE5-7C14B66DF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40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87D3-52AA-9714-31E2-32900BF9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D628B-7420-2111-7522-78E99240D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04DE5-F275-2DDE-9A68-B140217B8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8D4EC-BF7D-6DE4-8B27-FF6E785FF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59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E62B-9313-4F1F-0E84-CEFE623D0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C5A80-EB65-3CF1-D4F9-2FA63E5B4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5EDC3-321B-C885-1F96-C44D5C3FB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550C-E437-5EBA-79D1-D480D811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69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77CD-5D54-559D-DBD2-C906C4E3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4DCE2-6ADD-A525-723B-D0496AD41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35939-FBBA-D29E-938B-DDF39A0A9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D89D1-7E0F-0A63-64FA-407C52D45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E8829-7223-470A-8453-9CFA717C10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3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1733-65AB-EF22-B2F1-394B0B718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66C5B-62CE-55F4-75FA-5B46DCC6F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93C9-E028-1407-1A08-69ECBA04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5EC21-543C-2398-17D7-1180239E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9C771-E838-6478-58CC-5FFDB79B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9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D44F-B7FE-A4B9-CCB2-68A8CC97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D2D4-8400-5CFF-8EC6-9E4CBF443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BCEFB-7E3B-98FA-FABA-88193BFE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EF512-9512-0C14-817E-37DAAA6E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8D6DD-AB80-D1F4-4594-D366CDC7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C1E6-FE31-DB54-E8E1-1B6C81F5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82C37-0006-C38F-E951-E0919913C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E663A-C9C8-8E47-8FEF-1AA61D3F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07BAB-2C98-9560-2749-F2732D21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E538-3153-A9A5-789A-4F41D8AC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7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B27F-B924-B81D-E77A-EBBED677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89FC0-CD3A-C099-93D3-E7856007D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83823-152A-CECF-CE9C-2432099BD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B7C1B-3274-0866-AF47-EEB810F8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6A226-A6B3-F13F-EA07-1845B2F7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7F5FA-1EA8-0304-9267-D21A2EBC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DC72-9156-6735-8CA0-392AC67F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825A2-C8C9-8C74-318E-4547DCF3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0963-591C-5A15-3D6E-A10CE11C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D7314-A683-C5CC-73C8-A3D95FC2C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4920-8C6A-145E-4DCD-8A4B653F8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F5CF5-86C3-B278-2E33-F989FB07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AA595-58FA-B309-7F8B-ADDE9E74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6B00F-CDAB-B58A-F66C-9FA5A714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1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7E21-D74B-2F98-0160-F9227230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01886-228E-4654-829D-E5DA08B2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29D76-F5C5-1628-236A-F7B893A2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61301-1C4D-3FEA-588D-37DA23B2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9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7905B-79EB-8552-A563-D3243D80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2F1AB-43C1-619F-B58D-62D1F1E9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B63A6-A10F-5367-ACB5-B2DB494F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4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0E76-50B1-6D1D-842F-41068EA9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A5A44-469C-742B-373A-8050C26D8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37A02-CB10-9102-86A8-0249D62E9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68DBA-FFFC-6DD5-B6A5-9245D4FA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4DBD1-DCFF-06F1-946F-225E21F6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3223D-4C4F-EAD5-F064-34E44206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3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6C07-E195-4122-3D1B-D5611F46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2BC11-6014-7D1E-DEFE-40CCB55B3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9A57C-F408-66B2-9210-CB52ED611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9A02A-4DBA-AACE-C330-BC3820D0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7602C-38BA-46A3-712C-97CAAE47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993A1-AF29-08CA-D4B4-BC772969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8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E5A3-BC79-2A14-29A6-5A8C2E7D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C7F40-9657-FD4B-1062-5C7807A6B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D09B7-9B7D-82E6-EDEA-D3509C69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0A510-6B27-B59E-9CF4-2CF6E103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9C06-FB71-C5A4-71F4-E06F21D1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5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A9AFD-0310-C58F-7613-FF61385C3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4263B-2B40-0FEB-55DC-15D60344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0958-551C-3376-11B5-F2B9BA3A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B121C-4759-F0F1-2AD4-1AD629F2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5BE4A-074C-F080-1584-CC7D09BB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29FF4-9FBA-B810-5B80-4AF84EA46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ADB73-5C4A-425A-8368-57002B05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3796-1296-24F8-3FED-A4D86B296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A94B7-210F-48F0-89AA-666CED135F57}" type="datetimeFigureOut">
              <a:rPr lang="en-US" smtClean="0"/>
              <a:t>01-Jun-26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FBB5E-3778-E743-7178-EE2864B2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BFB7-28E2-C899-C268-78115F97E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DB0BE-B097-4B74-B12B-985AA804C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7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microsoft.com/office/2007/relationships/hdphoto" Target="../media/hdphoto6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microsoft.com/office/2007/relationships/hdphoto" Target="../media/hdphoto8.wdp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8.png"/><Relationship Id="rId7" Type="http://schemas.microsoft.com/office/2007/relationships/hdphoto" Target="../media/hdphoto10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microsoft.com/office/2007/relationships/hdphoto" Target="../media/hdphoto9.wdp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microsoft.com/office/2007/relationships/hdphoto" Target="../media/hdphoto1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65F3AE-D072-5115-1602-E636C4770997}"/>
              </a:ext>
            </a:extLst>
          </p:cNvPr>
          <p:cNvSpPr/>
          <p:nvPr/>
        </p:nvSpPr>
        <p:spPr>
          <a:xfrm>
            <a:off x="0" y="6523120"/>
            <a:ext cx="7453745" cy="33488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0B879-0D58-4882-C759-FACA592D5CF4}"/>
              </a:ext>
            </a:extLst>
          </p:cNvPr>
          <p:cNvSpPr txBox="1"/>
          <p:nvPr/>
        </p:nvSpPr>
        <p:spPr>
          <a:xfrm>
            <a:off x="571502" y="3994152"/>
            <a:ext cx="274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Group Members</a:t>
            </a: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Wasif Ali (245187)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rgbClr val="002060"/>
                </a:solidFill>
              </a:rPr>
              <a:t>Anisa</a:t>
            </a:r>
            <a:r>
              <a:rPr lang="en-US" smtClean="0">
                <a:solidFill>
                  <a:srgbClr val="002060"/>
                </a:solidFill>
              </a:rPr>
              <a:t> Khan (245215)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01DDEDEB-0E5E-0F22-051A-D3537F8776E0}"/>
              </a:ext>
            </a:extLst>
          </p:cNvPr>
          <p:cNvSpPr/>
          <p:nvPr/>
        </p:nvSpPr>
        <p:spPr>
          <a:xfrm>
            <a:off x="-1002884" y="-851479"/>
            <a:ext cx="7462677" cy="2754026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8EAA6-0BA8-1F67-910A-ADF0200EBAD8}"/>
              </a:ext>
            </a:extLst>
          </p:cNvPr>
          <p:cNvSpPr txBox="1"/>
          <p:nvPr/>
        </p:nvSpPr>
        <p:spPr>
          <a:xfrm>
            <a:off x="206479" y="340868"/>
            <a:ext cx="5889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Open sauce" panose="020B0604020202020204"/>
              </a:rPr>
              <a:t>OBJECT ORIENTED PROGRAMMING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82C66-CDE0-D873-A324-A2328C2707F9}"/>
              </a:ext>
            </a:extLst>
          </p:cNvPr>
          <p:cNvSpPr txBox="1"/>
          <p:nvPr/>
        </p:nvSpPr>
        <p:spPr>
          <a:xfrm>
            <a:off x="147491" y="817775"/>
            <a:ext cx="777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Open Sauce" panose="020B0604020202020204" charset="0"/>
              </a:rPr>
              <a:t> Air University Kamra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D7103-E89F-78E4-7F4A-11B5E36DBD7F}"/>
              </a:ext>
            </a:extLst>
          </p:cNvPr>
          <p:cNvSpPr txBox="1"/>
          <p:nvPr/>
        </p:nvSpPr>
        <p:spPr>
          <a:xfrm>
            <a:off x="206479" y="1632809"/>
            <a:ext cx="99402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PHARMACY MANAGEMENT SYSTEM</a:t>
            </a:r>
          </a:p>
        </p:txBody>
      </p:sp>
      <p:pic>
        <p:nvPicPr>
          <p:cNvPr id="1026" name="Picture 2" descr="Pharmacy Management System Script">
            <a:extLst>
              <a:ext uri="{FF2B5EF4-FFF2-40B4-BE49-F238E27FC236}">
                <a16:creationId xmlns:a16="http://schemas.microsoft.com/office/drawing/2014/main" id="{1CF2AE4B-E276-FD3D-6D78-76712BE08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1000" y1="43000" x2="46500" y2="51000"/>
                        <a14:foregroundMark x1="46500" y1="51000" x2="48000" y2="52500"/>
                        <a14:foregroundMark x1="11500" y1="50000" x2="47500" y2="63500"/>
                        <a14:foregroundMark x1="47500" y1="63500" x2="53500" y2="63500"/>
                        <a14:foregroundMark x1="36500" y1="51500" x2="37000" y2="59500"/>
                        <a14:foregroundMark x1="43000" y1="55500" x2="44000" y2="61000"/>
                        <a14:foregroundMark x1="34500" y1="47000" x2="41500" y2="56500"/>
                        <a14:foregroundMark x1="34500" y1="46500" x2="41000" y2="5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156" y="104477"/>
            <a:ext cx="2226815" cy="2226815"/>
          </a:xfrm>
          <a:prstGeom prst="rect">
            <a:avLst/>
          </a:prstGeom>
          <a:noFill/>
          <a:effectLst>
            <a:outerShdw blurRad="50800" dist="50800" dir="5400000" sx="1000" sy="1000" algn="ctr" rotWithShape="0">
              <a:srgbClr val="000000">
                <a:alpha val="9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C07F0E-1A67-5149-C9DA-8D024B13A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549" y="3910441"/>
            <a:ext cx="2213494" cy="2213494"/>
          </a:xfrm>
          <a:prstGeom prst="rect">
            <a:avLst/>
          </a:prstGeom>
          <a:effectLst>
            <a:glow>
              <a:schemeClr val="accent1"/>
            </a:glow>
            <a:outerShdw blurRad="50800" dist="50800" dir="5400000" algn="ctr" rotWithShape="0">
              <a:srgbClr val="000000">
                <a:alpha val="77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EEE425-FF44-C16D-1C94-3BAF85D2BAD4}"/>
              </a:ext>
            </a:extLst>
          </p:cNvPr>
          <p:cNvSpPr txBox="1"/>
          <p:nvPr/>
        </p:nvSpPr>
        <p:spPr>
          <a:xfrm>
            <a:off x="77127" y="6547155"/>
            <a:ext cx="9324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Open sauce" panose="020B0604020202020204" charset="0"/>
              </a:rPr>
              <a:t>DEPARTMENT OF COMPUTER SCIENCE |  AIR UNIVERSITY – KAMRA CAMPUS</a:t>
            </a:r>
          </a:p>
          <a:p>
            <a:endParaRPr lang="en-US" sz="1400" b="1" dirty="0">
              <a:solidFill>
                <a:schemeClr val="bg1">
                  <a:lumMod val="95000"/>
                </a:schemeClr>
              </a:solidFill>
              <a:latin typeface="Open sau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08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B559B-82CE-0F72-6335-80CAD7F9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E37232-5370-653C-93DD-72E201FB33FE}"/>
              </a:ext>
            </a:extLst>
          </p:cNvPr>
          <p:cNvSpPr txBox="1"/>
          <p:nvPr/>
        </p:nvSpPr>
        <p:spPr>
          <a:xfrm>
            <a:off x="397903" y="486248"/>
            <a:ext cx="7434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INTRODUCTION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04420B-270B-0D22-A89C-F9113282C538}"/>
              </a:ext>
            </a:extLst>
          </p:cNvPr>
          <p:cNvSpPr txBox="1"/>
          <p:nvPr/>
        </p:nvSpPr>
        <p:spPr>
          <a:xfrm>
            <a:off x="357765" y="1222447"/>
            <a:ext cx="6193630" cy="5661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A desktop app to manage pharmacy operations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Handles medicines, customers, and inventory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Separate panels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Admin, Seller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Customer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Technologies Used: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Java (Swing for GUI)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MySQL (if database is used)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Eclipse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uce" panose="020B0604020202020204"/>
            </a:endParaRPr>
          </a:p>
        </p:txBody>
      </p:sp>
      <p:pic>
        <p:nvPicPr>
          <p:cNvPr id="2051" name="Picture 3" descr="Java&quot; Icon - Download for free – Iconduck">
            <a:extLst>
              <a:ext uri="{FF2B5EF4-FFF2-40B4-BE49-F238E27FC236}">
                <a16:creationId xmlns:a16="http://schemas.microsoft.com/office/drawing/2014/main" id="{7F4C8D0E-984F-9426-C4A5-FA78EDA4E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832" y="387486"/>
            <a:ext cx="1644293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Mysql Database - MySQL Database Icon - CleanPNG">
            <a:extLst>
              <a:ext uri="{FF2B5EF4-FFF2-40B4-BE49-F238E27FC236}">
                <a16:creationId xmlns:a16="http://schemas.microsoft.com/office/drawing/2014/main" id="{C33F1223-88BF-42D2-A278-44C2B021A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4641" y1="28216" x2="51675" y2="394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872" y="486248"/>
            <a:ext cx="1644293" cy="189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Eclipse IDE Icon Logo PNG vector in SVG, PDF, AI, CDR format">
            <a:extLst>
              <a:ext uri="{FF2B5EF4-FFF2-40B4-BE49-F238E27FC236}">
                <a16:creationId xmlns:a16="http://schemas.microsoft.com/office/drawing/2014/main" id="{F4C7D4ED-B99A-A694-828C-9851B3EC8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Eclipse IDE Icon Logo PNG vector in SVG, PDF, AI, CDR format">
            <a:extLst>
              <a:ext uri="{FF2B5EF4-FFF2-40B4-BE49-F238E27FC236}">
                <a16:creationId xmlns:a16="http://schemas.microsoft.com/office/drawing/2014/main" id="{58242A7F-9FED-75E3-843F-440D7DCBAA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04A0E-3445-7964-30EA-C5B98288C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54" b="90000" l="9931" r="89954">
                        <a14:foregroundMark x1="41686" y1="23231" x2="60162" y2="23231"/>
                        <a14:foregroundMark x1="44226" y1="76923" x2="57506" y2="76000"/>
                        <a14:foregroundMark x1="21132" y1="30154" x2="21132" y2="30154"/>
                        <a14:foregroundMark x1="21132" y1="31077" x2="17898" y2="33692"/>
                        <a14:foregroundMark x1="40993" y1="8154" x2="44226" y2="8154"/>
                        <a14:foregroundMark x1="49538" y1="43385" x2="54157" y2="43385"/>
                        <a14:foregroundMark x1="46305" y1="54000" x2="52194" y2="54000"/>
                        <a14:foregroundMark x1="54157" y1="75077" x2="63395" y2="75077"/>
                        <a14:foregroundMark x1="56813" y1="16154" x2="67436" y2="25846"/>
                        <a14:foregroundMark x1="35681" y1="12615" x2="33025" y2="1615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48512" y="2467538"/>
            <a:ext cx="2155839" cy="16181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B47F00-BA98-FBE3-1DFB-55870CA83309}"/>
              </a:ext>
            </a:extLst>
          </p:cNvPr>
          <p:cNvSpPr/>
          <p:nvPr/>
        </p:nvSpPr>
        <p:spPr>
          <a:xfrm>
            <a:off x="0" y="0"/>
            <a:ext cx="9272588" cy="387486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75000"/>
                </a:schemeClr>
              </a:gs>
              <a:gs pos="0">
                <a:srgbClr val="6ED2F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92C04EB-38FE-C8D3-0A5F-DCC49D12468B}"/>
              </a:ext>
            </a:extLst>
          </p:cNvPr>
          <p:cNvGrpSpPr/>
          <p:nvPr/>
        </p:nvGrpSpPr>
        <p:grpSpPr>
          <a:xfrm>
            <a:off x="5149455" y="4547864"/>
            <a:ext cx="6684780" cy="1950806"/>
            <a:chOff x="5149455" y="4547864"/>
            <a:chExt cx="6684780" cy="19508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9720ED3-6F2C-6568-ABF6-3817B9F3F523}"/>
                </a:ext>
              </a:extLst>
            </p:cNvPr>
            <p:cNvGrpSpPr/>
            <p:nvPr/>
          </p:nvGrpSpPr>
          <p:grpSpPr>
            <a:xfrm>
              <a:off x="5149455" y="4547864"/>
              <a:ext cx="6684780" cy="1472535"/>
              <a:chOff x="5149455" y="4547864"/>
              <a:chExt cx="6684780" cy="1472535"/>
            </a:xfrm>
          </p:grpSpPr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01842787-FEC3-AB23-95F3-E60FB7368E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49455" y="4568761"/>
                <a:ext cx="1451638" cy="14516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Premium Vector | Online Pharmacy icon vector image Can be used for Pharmacy">
                <a:extLst>
                  <a:ext uri="{FF2B5EF4-FFF2-40B4-BE49-F238E27FC236}">
                    <a16:creationId xmlns:a16="http://schemas.microsoft.com/office/drawing/2014/main" id="{C7F64228-423F-CCF8-CFF2-4BF12A0ACA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hqprint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3195" b="99361" l="2716" r="99042">
                            <a14:foregroundMark x1="18371" y1="66454" x2="19489" y2="41214"/>
                            <a14:foregroundMark x1="19489" y1="41214" x2="42332" y2="19649"/>
                            <a14:foregroundMark x1="42332" y1="19649" x2="52556" y2="56550"/>
                            <a14:foregroundMark x1="52556" y1="56550" x2="54473" y2="27157"/>
                            <a14:foregroundMark x1="54473" y1="27157" x2="61022" y2="42173"/>
                            <a14:foregroundMark x1="34345" y1="50799" x2="27796" y2="26358"/>
                            <a14:foregroundMark x1="27796" y1="26358" x2="54792" y2="22684"/>
                            <a14:foregroundMark x1="54792" y1="22684" x2="61821" y2="29393"/>
                            <a14:foregroundMark x1="47125" y1="34026" x2="57987" y2="23323"/>
                            <a14:foregroundMark x1="57987" y1="23323" x2="35623" y2="15974"/>
                            <a14:foregroundMark x1="35623" y1="15974" x2="29073" y2="19968"/>
                            <a14:foregroundMark x1="22045" y1="27316" x2="43291" y2="6390"/>
                            <a14:foregroundMark x1="43291" y1="6390" x2="60543" y2="9425"/>
                            <a14:foregroundMark x1="60543" y1="9425" x2="85623" y2="35942"/>
                            <a14:foregroundMark x1="85623" y1="35942" x2="85144" y2="63898"/>
                            <a14:foregroundMark x1="85144" y1="63898" x2="80192" y2="77796"/>
                            <a14:foregroundMark x1="80192" y1="77796" x2="65815" y2="86102"/>
                            <a14:foregroundMark x1="65815" y1="86102" x2="47764" y2="90895"/>
                            <a14:foregroundMark x1="47764" y1="90895" x2="25719" y2="81789"/>
                            <a14:foregroundMark x1="25719" y1="81789" x2="12780" y2="65016"/>
                            <a14:foregroundMark x1="12780" y1="65016" x2="10703" y2="44728"/>
                            <a14:foregroundMark x1="10703" y1="44728" x2="17252" y2="26358"/>
                            <a14:foregroundMark x1="17252" y1="26358" x2="26997" y2="17093"/>
                            <a14:foregroundMark x1="75399" y1="49521" x2="74281" y2="64537"/>
                            <a14:foregroundMark x1="74281" y1="64537" x2="58946" y2="65176"/>
                            <a14:foregroundMark x1="39617" y1="76677" x2="60224" y2="76677"/>
                            <a14:foregroundMark x1="90575" y1="34345" x2="90575" y2="64377"/>
                            <a14:foregroundMark x1="90575" y1="64377" x2="88658" y2="68850"/>
                            <a14:foregroundMark x1="86102" y1="35623" x2="92332" y2="59265"/>
                            <a14:foregroundMark x1="92332" y1="59265" x2="89776" y2="67572"/>
                            <a14:foregroundMark x1="40895" y1="10863" x2="23323" y2="15815"/>
                            <a14:foregroundMark x1="23323" y1="15815" x2="11502" y2="29233"/>
                            <a14:foregroundMark x1="11502" y1="29233" x2="5112" y2="54153"/>
                            <a14:foregroundMark x1="5112" y1="54153" x2="11022" y2="66613"/>
                            <a14:foregroundMark x1="11022" y1="66613" x2="11821" y2="66773"/>
                            <a14:foregroundMark x1="53994" y1="3514" x2="38818" y2="3195"/>
                            <a14:foregroundMark x1="2716" y1="40096" x2="2875" y2="54473"/>
                            <a14:foregroundMark x1="2875" y1="54473" x2="3994" y2="54952"/>
                            <a14:foregroundMark x1="93930" y1="32748" x2="92971" y2="61821"/>
                            <a14:foregroundMark x1="92971" y1="61821" x2="88339" y2="76518"/>
                            <a14:foregroundMark x1="88339" y1="76518" x2="75080" y2="86422"/>
                            <a14:foregroundMark x1="75080" y1="86422" x2="47125" y2="94728"/>
                            <a14:foregroundMark x1="98083" y1="39776" x2="98882" y2="60703"/>
                            <a14:foregroundMark x1="99201" y1="61022" x2="99201" y2="61022"/>
                            <a14:foregroundMark x1="73323" y1="27796" x2="73802" y2="58946"/>
                            <a14:foregroundMark x1="76198" y1="65974" x2="71885" y2="41374"/>
                            <a14:foregroundMark x1="71885" y1="41374" x2="58466" y2="31470"/>
                            <a14:foregroundMark x1="58466" y1="31470" x2="35942" y2="37380"/>
                            <a14:foregroundMark x1="35942" y1="37380" x2="30511" y2="58307"/>
                            <a14:foregroundMark x1="30511" y1="58307" x2="52716" y2="55431"/>
                            <a14:foregroundMark x1="52716" y1="55431" x2="65495" y2="35463"/>
                            <a14:foregroundMark x1="65495" y1="35463" x2="66773" y2="30671"/>
                            <a14:foregroundMark x1="70447" y1="58626" x2="36102" y2="48403"/>
                            <a14:foregroundMark x1="36102" y1="48403" x2="19968" y2="57029"/>
                            <a14:foregroundMark x1="19968" y1="57029" x2="38019" y2="64217"/>
                            <a14:foregroundMark x1="38019" y1="64217" x2="48882" y2="73003"/>
                            <a14:foregroundMark x1="48882" y1="73003" x2="60703" y2="63898"/>
                            <a14:foregroundMark x1="60703" y1="63898" x2="60703" y2="63898"/>
                            <a14:foregroundMark x1="63099" y1="72204" x2="36422" y2="63419"/>
                            <a14:foregroundMark x1="36422" y1="63419" x2="27636" y2="50160"/>
                            <a14:foregroundMark x1="27636" y1="50160" x2="35304" y2="28275"/>
                            <a14:foregroundMark x1="35304" y1="28275" x2="21885" y2="31629"/>
                            <a14:foregroundMark x1="21885" y1="31629" x2="35463" y2="40096"/>
                            <a14:foregroundMark x1="35463" y1="40096" x2="19968" y2="34824"/>
                            <a14:foregroundMark x1="19968" y1="34824" x2="19489" y2="35623"/>
                            <a14:foregroundMark x1="45048" y1="36901" x2="37220" y2="30192"/>
                            <a14:foregroundMark x1="45847" y1="25399" x2="38818" y2="26997"/>
                            <a14:foregroundMark x1="50319" y1="26198" x2="52875" y2="26198"/>
                            <a14:foregroundMark x1="50319" y1="27316" x2="51118" y2="30671"/>
                            <a14:foregroundMark x1="61502" y1="24920" x2="60703" y2="30192"/>
                            <a14:foregroundMark x1="64377" y1="24920" x2="68051" y2="27316"/>
                            <a14:foregroundMark x1="60703" y1="28594" x2="61821" y2="31150"/>
                            <a14:foregroundMark x1="63099" y1="25719" x2="63578" y2="32268"/>
                            <a14:foregroundMark x1="65176" y1="37700" x2="42173" y2="38818"/>
                            <a14:foregroundMark x1="52875" y1="45048" x2="41374" y2="36422"/>
                            <a14:foregroundMark x1="41374" y1="43450" x2="41374" y2="43450"/>
                            <a14:foregroundMark x1="39617" y1="42652" x2="47444" y2="42652"/>
                            <a14:foregroundMark x1="38019" y1="49201" x2="44249" y2="54952"/>
                            <a14:foregroundMark x1="37700" y1="50000" x2="41693" y2="55751"/>
                            <a14:foregroundMark x1="59744" y1="47923" x2="60224" y2="46645"/>
                            <a14:foregroundMark x1="62300" y1="45847" x2="58147" y2="50319"/>
                            <a14:foregroundMark x1="61502" y1="57827" x2="58626" y2="58626"/>
                            <a14:foregroundMark x1="34824" y1="58946" x2="48722" y2="58946"/>
                            <a14:foregroundMark x1="48722" y1="58946" x2="61502" y2="56070"/>
                            <a14:foregroundMark x1="68850" y1="26518" x2="76358" y2="44249"/>
                            <a14:foregroundMark x1="76358" y1="44249" x2="76198" y2="65974"/>
                            <a14:foregroundMark x1="43450" y1="97604" x2="40895" y2="98882"/>
                            <a14:foregroundMark x1="46645" y1="98083" x2="46645" y2="99361"/>
                            <a14:foregroundMark x1="23642" y1="38019" x2="23323" y2="56390"/>
                            <a14:foregroundMark x1="23323" y1="56390" x2="36581" y2="66773"/>
                            <a14:foregroundMark x1="36581" y1="66773" x2="40096" y2="66773"/>
                            <a14:foregroundMark x1="23642" y1="58626" x2="24121" y2="67252"/>
                            <a14:foregroundMark x1="26518" y1="66773" x2="34345" y2="66773"/>
                            <a14:foregroundMark x1="27316" y1="61821" x2="30671" y2="64696"/>
                            <a14:foregroundMark x1="39617" y1="63898" x2="73003" y2="63898"/>
                            <a14:foregroundMark x1="55272" y1="66773" x2="75399" y2="66773"/>
                            <a14:foregroundMark x1="52396" y1="69329" x2="40895" y2="79073"/>
                            <a14:foregroundMark x1="40895" y1="79073" x2="46326" y2="72204"/>
                            <a14:foregroundMark x1="54473" y1="69329" x2="42971" y2="79553"/>
                            <a14:foregroundMark x1="45847" y1="76677" x2="60224" y2="76677"/>
                            <a14:foregroundMark x1="53674" y1="75080" x2="60224" y2="75080"/>
                            <a14:foregroundMark x1="49521" y1="79553" x2="58626" y2="79553"/>
                            <a14:foregroundMark x1="50799" y1="78754" x2="59425" y2="78754"/>
                            <a14:foregroundMark x1="57827" y1="53195" x2="63578" y2="52396"/>
                            <a14:foregroundMark x1="40895" y1="48722" x2="50319" y2="49201"/>
                            <a14:foregroundMark x1="71406" y1="26997" x2="76677" y2="28594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32311" y="4772393"/>
                <a:ext cx="1248006" cy="12480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A3E75D1-6D1F-61E9-13A9-0DBADB8A79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61700" y="4547864"/>
                <a:ext cx="1472535" cy="1472535"/>
              </a:xfrm>
              <a:prstGeom prst="rect">
                <a:avLst/>
              </a:prstGeom>
            </p:spPr>
          </p:pic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97459ED3-088F-9B87-1D60-89D06D6353FE}"/>
                  </a:ext>
                </a:extLst>
              </p:cNvPr>
              <p:cNvSpPr/>
              <p:nvPr/>
            </p:nvSpPr>
            <p:spPr>
              <a:xfrm>
                <a:off x="6601093" y="5294580"/>
                <a:ext cx="1047419" cy="163245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E67E7BBA-A130-9CC2-D760-D63C2027339C}"/>
                  </a:ext>
                </a:extLst>
              </p:cNvPr>
              <p:cNvSpPr/>
              <p:nvPr/>
            </p:nvSpPr>
            <p:spPr>
              <a:xfrm>
                <a:off x="9170741" y="5314773"/>
                <a:ext cx="1047419" cy="163245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EF9224-1C39-0B9E-867E-D2DD69083645}"/>
                </a:ext>
              </a:extLst>
            </p:cNvPr>
            <p:cNvSpPr txBox="1"/>
            <p:nvPr/>
          </p:nvSpPr>
          <p:spPr>
            <a:xfrm>
              <a:off x="5572135" y="6129338"/>
              <a:ext cx="690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</a:rPr>
                <a:t>User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8DB2E6-BE12-8880-D961-BF1CD6A3429C}"/>
                </a:ext>
              </a:extLst>
            </p:cNvPr>
            <p:cNvSpPr txBox="1"/>
            <p:nvPr/>
          </p:nvSpPr>
          <p:spPr>
            <a:xfrm>
              <a:off x="7866450" y="6129338"/>
              <a:ext cx="1406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</a:rPr>
                <a:t>Application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6F802E-ABC2-AE0F-3AE7-E493F1954B01}"/>
                </a:ext>
              </a:extLst>
            </p:cNvPr>
            <p:cNvSpPr txBox="1"/>
            <p:nvPr/>
          </p:nvSpPr>
          <p:spPr>
            <a:xfrm>
              <a:off x="10448309" y="6129338"/>
              <a:ext cx="1219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</a:rPr>
                <a:t>Database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43A93C8-CB3A-1581-DFBA-FE30535536F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09647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03C64-6437-B45C-9412-4BE597286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259E9-82EC-A2C9-CCF3-8762A33ECAF1}"/>
              </a:ext>
            </a:extLst>
          </p:cNvPr>
          <p:cNvSpPr txBox="1"/>
          <p:nvPr/>
        </p:nvSpPr>
        <p:spPr>
          <a:xfrm>
            <a:off x="392216" y="476773"/>
            <a:ext cx="9544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SYSTEM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CA174-D440-F2FA-805A-0D9F5B936897}"/>
              </a:ext>
            </a:extLst>
          </p:cNvPr>
          <p:cNvSpPr txBox="1"/>
          <p:nvPr/>
        </p:nvSpPr>
        <p:spPr>
          <a:xfrm>
            <a:off x="585788" y="1395247"/>
            <a:ext cx="591931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Manage medicines efficiently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Provide separate panels for admin, seller customer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Track inventory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Simplify purchase processes</a:t>
            </a:r>
          </a:p>
          <a:p>
            <a:pPr marL="342900" marR="0" lvl="0" indent="-34290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User-friendly interface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373FC8-83C0-4910-E5BD-E72A381804E2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CDD2A9-5ED6-35A5-4109-C4111315A95B}"/>
              </a:ext>
            </a:extLst>
          </p:cNvPr>
          <p:cNvGrpSpPr/>
          <p:nvPr/>
        </p:nvGrpSpPr>
        <p:grpSpPr>
          <a:xfrm>
            <a:off x="6505107" y="1006578"/>
            <a:ext cx="5686893" cy="3312711"/>
            <a:chOff x="6334117" y="791649"/>
            <a:chExt cx="5686893" cy="33127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6CE3CF8-13BA-A0E7-F115-943A5B819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000" b="93778" l="6667" r="93778">
                          <a14:foregroundMark x1="93778" y1="68444" x2="94222" y2="85778"/>
                          <a14:foregroundMark x1="7111" y1="35111" x2="8889" y2="18667"/>
                          <a14:foregroundMark x1="16889" y1="8000" x2="35111" y2="7111"/>
                          <a14:foregroundMark x1="64889" y1="90667" x2="84889" y2="90667"/>
                          <a14:foregroundMark x1="71556" y1="93778" x2="81778" y2="93778"/>
                          <a14:foregroundMark x1="20889" y1="4000" x2="32444" y2="533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34117" y="1527059"/>
              <a:ext cx="1159754" cy="11597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0A9A75B-D8D5-634E-C243-74BFB3AFB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58744" y="791649"/>
              <a:ext cx="1562266" cy="1562266"/>
            </a:xfrm>
            <a:prstGeom prst="rect">
              <a:avLst/>
            </a:prstGeom>
          </p:spPr>
        </p:pic>
        <p:pic>
          <p:nvPicPr>
            <p:cNvPr id="9" name="Picture 5" descr="Warehouse Inventory Icon Download - Inventory Control Icon Png - Free  Transparent PNG Clipart Images Download">
              <a:extLst>
                <a:ext uri="{FF2B5EF4-FFF2-40B4-BE49-F238E27FC236}">
                  <a16:creationId xmlns:a16="http://schemas.microsoft.com/office/drawing/2014/main" id="{3BF2B18C-85AB-5DD1-08DE-129F24AD7E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3810" y1="47911" x2="64881" y2="66017"/>
                          <a14:foregroundMark x1="64881" y1="66017" x2="67619" y2="51253"/>
                          <a14:foregroundMark x1="67619" y1="51253" x2="67619" y2="50418"/>
                          <a14:foregroundMark x1="59167" y1="38997" x2="59286" y2="77994"/>
                          <a14:foregroundMark x1="59286" y1="77994" x2="67500" y2="85515"/>
                          <a14:foregroundMark x1="67500" y1="85515" x2="72143" y2="72423"/>
                          <a14:foregroundMark x1="72143" y1="72423" x2="73690" y2="50975"/>
                          <a14:foregroundMark x1="73690" y1="50975" x2="71905" y2="38997"/>
                          <a14:foregroundMark x1="60714" y1="47911" x2="70238" y2="45682"/>
                          <a14:foregroundMark x1="70238" y1="45682" x2="62143" y2="440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8177" y="1932054"/>
              <a:ext cx="5082833" cy="21723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FE46ACA-CE98-8078-ADF0-F1924CB7C84D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2/12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EA9743-69F0-F65E-3B30-1787B32F03B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413" r="2841"/>
          <a:stretch/>
        </p:blipFill>
        <p:spPr>
          <a:xfrm>
            <a:off x="4636294" y="3471944"/>
            <a:ext cx="3364532" cy="2466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8886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70627-8034-FC3D-7645-3B05B1D5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910474-FE98-F38C-B24F-6AF98313D1FE}"/>
              </a:ext>
            </a:extLst>
          </p:cNvPr>
          <p:cNvSpPr txBox="1"/>
          <p:nvPr/>
        </p:nvSpPr>
        <p:spPr>
          <a:xfrm>
            <a:off x="392216" y="580012"/>
            <a:ext cx="10672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SYSTEM</a:t>
            </a:r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ARCHITECTUR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1C7FA-9A98-85A9-28AE-8364B6A369E4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6F1E3-C3B4-5ED1-C9D4-6BE926D4F986}"/>
              </a:ext>
            </a:extLst>
          </p:cNvPr>
          <p:cNvSpPr txBox="1"/>
          <p:nvPr/>
        </p:nvSpPr>
        <p:spPr>
          <a:xfrm>
            <a:off x="497757" y="2038127"/>
            <a:ext cx="6098458" cy="252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Open sauce" panose="020B0604020202020204"/>
              </a:rPr>
              <a:t>High-level architecture:</a:t>
            </a:r>
          </a:p>
          <a:p>
            <a:pPr marL="800100" lvl="1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/>
              </a:rPr>
              <a:t>GUI Layer (Java Swing)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/>
              </a:rPr>
              <a:t>Controller Layer (Handles user actions)</a:t>
            </a:r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/>
              </a:rPr>
              <a:t>Backend (Database or storage)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E922F0-A489-6CD7-2112-5D67B3DEB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705" y="1087843"/>
            <a:ext cx="1940538" cy="1940538"/>
          </a:xfrm>
          <a:prstGeom prst="rect">
            <a:avLst/>
          </a:prstGeom>
        </p:spPr>
      </p:pic>
      <p:pic>
        <p:nvPicPr>
          <p:cNvPr id="8" name="Picture 3" descr="Java&quot; Icon - Download for free – Iconduck">
            <a:extLst>
              <a:ext uri="{FF2B5EF4-FFF2-40B4-BE49-F238E27FC236}">
                <a16:creationId xmlns:a16="http://schemas.microsoft.com/office/drawing/2014/main" id="{CCB86ABC-CF91-110F-B964-B55BB1497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827" y="4191044"/>
            <a:ext cx="1644293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C2A55468-EDFD-E098-FBC5-8894B4D75804}"/>
              </a:ext>
            </a:extLst>
          </p:cNvPr>
          <p:cNvSpPr/>
          <p:nvPr/>
        </p:nvSpPr>
        <p:spPr>
          <a:xfrm>
            <a:off x="10583863" y="3132871"/>
            <a:ext cx="280219" cy="953684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0A61B6-0C7D-FF07-E8DF-4C0D96381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931" y="2697854"/>
            <a:ext cx="2529923" cy="25299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6123D5-1BBF-4D8D-25B8-E38FC413CC8A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428871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8D2D4-6202-20B1-0783-ADE4DEC1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7A71AA-C097-703E-FFB6-A0E817B0B127}"/>
              </a:ext>
            </a:extLst>
          </p:cNvPr>
          <p:cNvSpPr txBox="1"/>
          <p:nvPr/>
        </p:nvSpPr>
        <p:spPr>
          <a:xfrm>
            <a:off x="392216" y="476773"/>
            <a:ext cx="746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Modules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C63DB-1A14-1879-4BC4-2E7150AF582C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ADCD6-BEA5-40FA-353C-C0776E6C0A62}"/>
              </a:ext>
            </a:extLst>
          </p:cNvPr>
          <p:cNvSpPr txBox="1"/>
          <p:nvPr/>
        </p:nvSpPr>
        <p:spPr>
          <a:xfrm>
            <a:off x="578874" y="1492436"/>
            <a:ext cx="4052120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Admin Panel: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uce" panose="020B0604020202020204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Add/edit/delete medicines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Manage inventory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Open sauce" panose="020B0604020202020204"/>
              </a:rPr>
              <a:t>Seller Panel: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Adds sales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Updates stock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Views assigned products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uce" panose="020B060402020202020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Customer Panel: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uce" panose="020B0604020202020204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Browse medicines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Place orders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View history</a:t>
            </a:r>
          </a:p>
        </p:txBody>
      </p:sp>
      <p:pic>
        <p:nvPicPr>
          <p:cNvPr id="3075" name="Picture 3" descr="Download Free Inventory Icons in PNG &amp; SVG">
            <a:extLst>
              <a:ext uri="{FF2B5EF4-FFF2-40B4-BE49-F238E27FC236}">
                <a16:creationId xmlns:a16="http://schemas.microsoft.com/office/drawing/2014/main" id="{CF472742-B6DD-BE81-C140-1A9E44ECA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823" y="943897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EB1601-6B93-9440-E0FE-5F6778B4C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894" y="4053906"/>
            <a:ext cx="2586038" cy="2190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1F57C8-DFC4-D15F-BB28-3DC6F2D01B6F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299306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41C5-E6EB-0233-EBBC-14B83838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BCD082-C86D-4661-83B9-E0CD4D6934E0}"/>
              </a:ext>
            </a:extLst>
          </p:cNvPr>
          <p:cNvSpPr txBox="1"/>
          <p:nvPr/>
        </p:nvSpPr>
        <p:spPr>
          <a:xfrm>
            <a:off x="392216" y="476773"/>
            <a:ext cx="11329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ADMIN PANEL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1426E-64A5-B8C1-5922-084F97ABCDA1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CCEFF5-264C-BFAB-FAD5-9988C3996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72" y="1547119"/>
            <a:ext cx="406179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Secure Login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Open sauce" panose="020B0604020202020204"/>
              </a:rPr>
              <a:t>Dashboard to view/manage: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uce" panose="020B0604020202020204"/>
              </a:rPr>
              <a:t>Stock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uce" panose="020B0604020202020204"/>
              </a:rPr>
              <a:t>Orders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uce" panose="020B0604020202020204"/>
              </a:rPr>
              <a:t>Customers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Open sauce" panose="020B0604020202020204"/>
              </a:rPr>
              <a:t>Real-time updates to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Login - Free security icons">
            <a:extLst>
              <a:ext uri="{FF2B5EF4-FFF2-40B4-BE49-F238E27FC236}">
                <a16:creationId xmlns:a16="http://schemas.microsoft.com/office/drawing/2014/main" id="{351AD455-E0CD-F2CA-D1D3-5FE7CF510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099" y="1492436"/>
            <a:ext cx="1015663" cy="101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al-Time Inventory Tracking">
            <a:extLst>
              <a:ext uri="{FF2B5EF4-FFF2-40B4-BE49-F238E27FC236}">
                <a16:creationId xmlns:a16="http://schemas.microsoft.com/office/drawing/2014/main" id="{EBB2C608-ADED-2DD2-2557-FC4EC7453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79" y="3149065"/>
            <a:ext cx="2095909" cy="132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2506AD-6FE6-295F-CDC7-F9F64CA51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7" y="1818347"/>
            <a:ext cx="6149586" cy="32213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85AA9F-81D3-86C8-691D-7A57E264A93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33845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31D55-8EA4-97FA-C9C8-3EA5112F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0F1A90-BA07-7152-FED3-0252804EF890}"/>
              </a:ext>
            </a:extLst>
          </p:cNvPr>
          <p:cNvSpPr txBox="1"/>
          <p:nvPr/>
        </p:nvSpPr>
        <p:spPr>
          <a:xfrm>
            <a:off x="392216" y="476773"/>
            <a:ext cx="11322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SELLER PANEL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6BD677-965A-A3D4-30E3-00448EEE2163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E8447-2A93-0A79-A413-6C991F455E1D}"/>
              </a:ext>
            </a:extLst>
          </p:cNvPr>
          <p:cNvSpPr txBox="1"/>
          <p:nvPr/>
        </p:nvSpPr>
        <p:spPr>
          <a:xfrm>
            <a:off x="582216" y="1640596"/>
            <a:ext cx="4875609" cy="3814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Logs in with credentials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Views and updates assigned products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Records sales transactions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Manages stock availability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Simple, task-focused UI</a:t>
            </a:r>
          </a:p>
        </p:txBody>
      </p:sp>
      <p:pic>
        <p:nvPicPr>
          <p:cNvPr id="1027" name="Picture 3" descr="Free: Login Icon Png - Free User Access Icon - nohat.cc">
            <a:extLst>
              <a:ext uri="{FF2B5EF4-FFF2-40B4-BE49-F238E27FC236}">
                <a16:creationId xmlns:a16="http://schemas.microsoft.com/office/drawing/2014/main" id="{38E3F9F5-F706-AEC5-0A10-3B0C1C687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13" b="91574" l="10000" r="90000">
                        <a14:foregroundMark x1="42656" y1="9978" x2="45469" y2="9313"/>
                        <a14:foregroundMark x1="70469" y1="47228" x2="73281" y2="47228"/>
                        <a14:foregroundMark x1="43594" y1="91574" x2="47031" y2="915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34" r="17110"/>
          <a:stretch/>
        </p:blipFill>
        <p:spPr bwMode="auto">
          <a:xfrm>
            <a:off x="4257675" y="1492436"/>
            <a:ext cx="1200150" cy="12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Transaction record - Free commerce and shopping icons">
            <a:extLst>
              <a:ext uri="{FF2B5EF4-FFF2-40B4-BE49-F238E27FC236}">
                <a16:creationId xmlns:a16="http://schemas.microsoft.com/office/drawing/2014/main" id="{055C5B88-2708-FA37-0D0C-2C7DE563A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75" y="3293321"/>
            <a:ext cx="1292967" cy="129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tock Availability Icon - Free Download Miscellaneous Icons | IconScout">
            <a:extLst>
              <a:ext uri="{FF2B5EF4-FFF2-40B4-BE49-F238E27FC236}">
                <a16:creationId xmlns:a16="http://schemas.microsoft.com/office/drawing/2014/main" id="{ECF6D3D1-3E0E-7533-20A2-BF8D40F93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501981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DC2103-0665-18D9-37B3-751E72C84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384" y="1984988"/>
            <a:ext cx="5943600" cy="31261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D87100-7B8A-C45E-E402-A2FEE2F87B7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59124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F19F1-AE45-19DC-4217-B50A1C4E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F12C0B-B6E3-9A69-8C1A-99E43FA3007A}"/>
              </a:ext>
            </a:extLst>
          </p:cNvPr>
          <p:cNvSpPr txBox="1"/>
          <p:nvPr/>
        </p:nvSpPr>
        <p:spPr>
          <a:xfrm>
            <a:off x="392216" y="476773"/>
            <a:ext cx="12165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CUSTOMER PANEL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6D347-D938-3D96-3AF2-9A10D2E1F9F5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B1A8C-95C0-72F5-851F-CAEFC6D805A8}"/>
              </a:ext>
            </a:extLst>
          </p:cNvPr>
          <p:cNvSpPr txBox="1"/>
          <p:nvPr/>
        </p:nvSpPr>
        <p:spPr>
          <a:xfrm>
            <a:off x="625078" y="1492436"/>
            <a:ext cx="4261247" cy="454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Login/Sign Up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Browse and search for medicines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Add to cart and checkout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/>
              </a:rPr>
              <a:t>View purchase history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Open sauce" panose="020B0604020202020204"/>
              </a:rPr>
              <a:t>Print and Save Bill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uce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1C254-D82A-CC45-1D9A-23BEBB81C3D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94" y="1472564"/>
            <a:ext cx="923919" cy="782694"/>
          </a:xfrm>
          <a:prstGeom prst="rect">
            <a:avLst/>
          </a:prstGeom>
        </p:spPr>
      </p:pic>
      <p:pic>
        <p:nvPicPr>
          <p:cNvPr id="2051" name="Picture 3" descr="Search Icon PNG Images, Vectors Free Download - Pngtree">
            <a:extLst>
              <a:ext uri="{FF2B5EF4-FFF2-40B4-BE49-F238E27FC236}">
                <a16:creationId xmlns:a16="http://schemas.microsoft.com/office/drawing/2014/main" id="{6295992C-D117-70D2-CE93-2B9B76B86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495" y="2508099"/>
            <a:ext cx="1015663" cy="101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heckout - Free commerce and shopping icons">
            <a:extLst>
              <a:ext uri="{FF2B5EF4-FFF2-40B4-BE49-F238E27FC236}">
                <a16:creationId xmlns:a16="http://schemas.microsoft.com/office/drawing/2014/main" id="{ECBC95DD-6235-1B89-05AE-86F0FCF00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184" y="3765366"/>
            <a:ext cx="1015663" cy="101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Login - Free people icons">
            <a:extLst>
              <a:ext uri="{FF2B5EF4-FFF2-40B4-BE49-F238E27FC236}">
                <a16:creationId xmlns:a16="http://schemas.microsoft.com/office/drawing/2014/main" id="{7B288764-0D3E-42DB-9B34-AACB4E09E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13238"/>
            <a:ext cx="1015663" cy="101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Download Free Receipt Coloring Blue icon Icons in PNG &amp; SVG">
            <a:extLst>
              <a:ext uri="{FF2B5EF4-FFF2-40B4-BE49-F238E27FC236}">
                <a16:creationId xmlns:a16="http://schemas.microsoft.com/office/drawing/2014/main" id="{79B791C9-6002-9A55-73E6-6016DD959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938" y="5152504"/>
            <a:ext cx="1228723" cy="12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D6183-DE0F-5EA8-698C-E952912D91D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7/12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B8995-BB7F-A2E6-611F-774ED1484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8590" y="1865103"/>
            <a:ext cx="6275258" cy="33173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409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52BB-5A8F-ADD4-663D-1DA1A0CC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0969F5-C2DC-A4B3-C63F-F2B2446038FA}"/>
              </a:ext>
            </a:extLst>
          </p:cNvPr>
          <p:cNvSpPr/>
          <p:nvPr/>
        </p:nvSpPr>
        <p:spPr>
          <a:xfrm>
            <a:off x="553038" y="4904603"/>
            <a:ext cx="5637125" cy="17072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6E694B-878B-3D79-B9A6-933677879407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84001-7674-A16A-1C8A-B22F0DA163CA}"/>
              </a:ext>
            </a:extLst>
          </p:cNvPr>
          <p:cNvSpPr txBox="1"/>
          <p:nvPr/>
        </p:nvSpPr>
        <p:spPr>
          <a:xfrm>
            <a:off x="359565" y="541836"/>
            <a:ext cx="10062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PROJECT STRUCTURE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F43E37-4A72-624B-B6C4-FF6C83C98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562" y="1358751"/>
            <a:ext cx="5663282" cy="374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Organized with packages: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uce"/>
              </a:rPr>
              <a:t>controller, view, model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Controller: Handles actions, DB logic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Dashboard: Admin/Seller/Customer UIs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Improves modularity and future scalability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27D30-9693-3F93-9748-36C07FCF8114}"/>
              </a:ext>
            </a:extLst>
          </p:cNvPr>
          <p:cNvGrpSpPr/>
          <p:nvPr/>
        </p:nvGrpSpPr>
        <p:grpSpPr>
          <a:xfrm>
            <a:off x="6904164" y="470478"/>
            <a:ext cx="4923711" cy="5829174"/>
            <a:chOff x="7005764" y="570712"/>
            <a:chExt cx="4923711" cy="582917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DA137A0-BBA1-BD05-F43E-40C87DA86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15372" y="3275940"/>
              <a:ext cx="2214103" cy="213295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8D605C-18B7-EB59-DB73-FFC8E9BF3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5372" y="570712"/>
              <a:ext cx="2214103" cy="227303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28F3B95-D613-8426-E73D-54273DF0B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5764" y="602409"/>
              <a:ext cx="2354431" cy="2241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1561223-F9C7-2B6E-88F3-1D0FE4A3D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05764" y="3275939"/>
              <a:ext cx="2354431" cy="270284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CB90EDF-7564-2014-46FD-533F9C0A5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53472" y="5978784"/>
              <a:ext cx="2137901" cy="42110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8562F14-0CDF-BF0A-9ABE-5203A79A2E07}"/>
              </a:ext>
            </a:extLst>
          </p:cNvPr>
          <p:cNvSpPr txBox="1"/>
          <p:nvPr/>
        </p:nvSpPr>
        <p:spPr>
          <a:xfrm>
            <a:off x="610190" y="5019552"/>
            <a:ext cx="55751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2060"/>
                </a:solidFill>
                <a:latin typeface="Open sauce" panose="020B0604020202020204"/>
              </a:rPr>
              <a:t>[Login/Register] → [Dashboard (Admin/Seller/Customer)]  </a:t>
            </a:r>
          </a:p>
          <a:p>
            <a:r>
              <a:rPr lang="en-US" i="1" dirty="0">
                <a:solidFill>
                  <a:srgbClr val="002060"/>
                </a:solidFill>
                <a:latin typeface="Open sauce" panose="020B0604020202020204"/>
              </a:rPr>
              <a:t>                      ↓  </a:t>
            </a:r>
          </a:p>
          <a:p>
            <a:r>
              <a:rPr lang="en-US" i="1" dirty="0">
                <a:solidFill>
                  <a:srgbClr val="002060"/>
                </a:solidFill>
                <a:latin typeface="Open sauce" panose="020B0604020202020204"/>
              </a:rPr>
              <a:t>               [Controller Class]  </a:t>
            </a:r>
          </a:p>
          <a:p>
            <a:r>
              <a:rPr lang="en-US" i="1" dirty="0">
                <a:solidFill>
                  <a:srgbClr val="002060"/>
                </a:solidFill>
                <a:latin typeface="Open sauce" panose="020B0604020202020204"/>
              </a:rPr>
              <a:t>                      ↓  </a:t>
            </a:r>
          </a:p>
          <a:p>
            <a:r>
              <a:rPr lang="en-US" i="1" dirty="0">
                <a:solidFill>
                  <a:srgbClr val="002060"/>
                </a:solidFill>
                <a:latin typeface="Open sauce" panose="020B0604020202020204"/>
              </a:rPr>
              <a:t>                  [Database]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FD457-C049-4203-86DB-B458CBDA4561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377117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CFB35-FF65-2656-EC75-5529076D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4BD007-148E-E253-D532-970AC60AD61A}"/>
              </a:ext>
            </a:extLst>
          </p:cNvPr>
          <p:cNvSpPr txBox="1"/>
          <p:nvPr/>
        </p:nvSpPr>
        <p:spPr>
          <a:xfrm>
            <a:off x="392216" y="476773"/>
            <a:ext cx="1090952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CO</a:t>
            </a:r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DE SNIPPET HIGHLIGHT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A5EAC-8938-493F-9185-EDD4179597C2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18722A-9B70-04BD-CD0D-C8AAE4CF940C}"/>
              </a:ext>
            </a:extLst>
          </p:cNvPr>
          <p:cNvGrpSpPr/>
          <p:nvPr/>
        </p:nvGrpSpPr>
        <p:grpSpPr>
          <a:xfrm>
            <a:off x="580695" y="1813150"/>
            <a:ext cx="4744112" cy="3920588"/>
            <a:chOff x="580695" y="1655984"/>
            <a:chExt cx="4744112" cy="39205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9F50BE1-3784-ECF8-F032-356ACE0588BF}"/>
                </a:ext>
              </a:extLst>
            </p:cNvPr>
            <p:cNvSpPr txBox="1"/>
            <p:nvPr/>
          </p:nvSpPr>
          <p:spPr>
            <a:xfrm>
              <a:off x="580695" y="1655984"/>
              <a:ext cx="26197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  <a:latin typeface="Open sauce" panose="020B0604020202020204"/>
                </a:rPr>
                <a:t>Login Validation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EC0495-99D2-4557-29B9-209AB4919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695" y="2232830"/>
              <a:ext cx="4744112" cy="334374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74BBC9-FC90-EAB8-55A8-872BB035FBFD}"/>
              </a:ext>
            </a:extLst>
          </p:cNvPr>
          <p:cNvGrpSpPr/>
          <p:nvPr/>
        </p:nvGrpSpPr>
        <p:grpSpPr>
          <a:xfrm>
            <a:off x="6557632" y="1813150"/>
            <a:ext cx="4744112" cy="3920588"/>
            <a:chOff x="6443332" y="1655984"/>
            <a:chExt cx="4744112" cy="39205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7CE0B0-7C0F-F000-9368-8C4862EABCDB}"/>
                </a:ext>
              </a:extLst>
            </p:cNvPr>
            <p:cNvSpPr txBox="1"/>
            <p:nvPr/>
          </p:nvSpPr>
          <p:spPr>
            <a:xfrm>
              <a:off x="6443332" y="1655984"/>
              <a:ext cx="42119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  <a:latin typeface="Open sauce" panose="020B0604020202020204"/>
                </a:rPr>
                <a:t>MySQL Database Connection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6E0F85-DD55-608C-2DE5-252BF4326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3332" y="2270936"/>
              <a:ext cx="4744112" cy="330563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3485188-7D1A-17D7-79BD-949C9BE42E3E}"/>
              </a:ext>
            </a:extLst>
          </p:cNvPr>
          <p:cNvSpPr txBox="1"/>
          <p:nvPr/>
        </p:nvSpPr>
        <p:spPr>
          <a:xfrm>
            <a:off x="14288" y="6441518"/>
            <a:ext cx="690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255196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83B74-B8D1-C2C4-6D5D-99E9E1836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43858A-3CE3-3978-8DDF-8762B7F96BAD}"/>
              </a:ext>
            </a:extLst>
          </p:cNvPr>
          <p:cNvSpPr txBox="1"/>
          <p:nvPr/>
        </p:nvSpPr>
        <p:spPr>
          <a:xfrm>
            <a:off x="392216" y="476773"/>
            <a:ext cx="1104794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CO</a:t>
            </a:r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DE SNIPPET HIGHLIGHT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FE50B8-4C0F-211E-C076-8D2FDD0DD1F7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40A517-59BA-CD86-8652-363E36FB9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74" y="2319123"/>
            <a:ext cx="4296375" cy="30770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3AE8E-D5F7-E478-9936-700391363AB1}"/>
              </a:ext>
            </a:extLst>
          </p:cNvPr>
          <p:cNvSpPr txBox="1"/>
          <p:nvPr/>
        </p:nvSpPr>
        <p:spPr>
          <a:xfrm>
            <a:off x="790274" y="1684559"/>
            <a:ext cx="2328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Progress Bar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D7E749-D6ED-87D4-2BC9-D2EB67915301}"/>
              </a:ext>
            </a:extLst>
          </p:cNvPr>
          <p:cNvSpPr txBox="1"/>
          <p:nvPr/>
        </p:nvSpPr>
        <p:spPr>
          <a:xfrm>
            <a:off x="7105352" y="2228850"/>
            <a:ext cx="2167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Visual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14A92-6CCF-B1CD-80BB-AB6C58DB480A}"/>
              </a:ext>
            </a:extLst>
          </p:cNvPr>
          <p:cNvSpPr txBox="1"/>
          <p:nvPr/>
        </p:nvSpPr>
        <p:spPr>
          <a:xfrm>
            <a:off x="14287" y="6441518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10/12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4B10FF-8276-1E1A-7DF0-C431D13CD7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13" r="2841"/>
          <a:stretch/>
        </p:blipFill>
        <p:spPr>
          <a:xfrm>
            <a:off x="7105352" y="2741273"/>
            <a:ext cx="3364532" cy="24667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221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0DAA8-8EB1-995F-17FC-3FC20AC9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691B61-BB1B-B565-164D-C88B29719D9F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4AC13-1E70-A580-83CD-BCC57F64D703}"/>
              </a:ext>
            </a:extLst>
          </p:cNvPr>
          <p:cNvSpPr txBox="1"/>
          <p:nvPr/>
        </p:nvSpPr>
        <p:spPr>
          <a:xfrm>
            <a:off x="389331" y="486844"/>
            <a:ext cx="110039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HALLENGES &amp; SOLUTIONS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185A5-966C-C840-ADF1-FC81FE27835C}"/>
              </a:ext>
            </a:extLst>
          </p:cNvPr>
          <p:cNvSpPr txBox="1"/>
          <p:nvPr/>
        </p:nvSpPr>
        <p:spPr>
          <a:xfrm>
            <a:off x="496491" y="1517895"/>
            <a:ext cx="6193630" cy="5053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Challenges: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Swing UI layout complexity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Linking multiple panels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Inventory updates in real-time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Solutions: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Used null layouts for precision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Modular class design</a:t>
            </a: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Controller classes to manage logic</a:t>
            </a:r>
          </a:p>
        </p:txBody>
      </p:sp>
      <p:pic>
        <p:nvPicPr>
          <p:cNvPr id="4099" name="Picture 3" descr="lady beetle&quot; Emoji - Download for free – Iconduck">
            <a:extLst>
              <a:ext uri="{FF2B5EF4-FFF2-40B4-BE49-F238E27FC236}">
                <a16:creationId xmlns:a16="http://schemas.microsoft.com/office/drawing/2014/main" id="{94E76E3F-9D43-28CD-6FD0-D0D92855F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5" b="99548" l="1316" r="98246">
                        <a14:foregroundMark x1="10088" y1="42534" x2="1754" y2="48416"/>
                        <a14:foregroundMark x1="40351" y1="94570" x2="58333" y2="92760"/>
                        <a14:foregroundMark x1="87719" y1="45249" x2="98246" y2="51131"/>
                        <a14:foregroundMark x1="89035" y1="95928" x2="89912" y2="99548"/>
                        <a14:foregroundMark x1="41667" y1="3620" x2="45175" y2="9955"/>
                        <a14:foregroundMark x1="60965" y1="905" x2="60965" y2="45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507" y="1676126"/>
            <a:ext cx="614168" cy="59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🔧 Wrench Emoji: Meaning &amp; Usage">
            <a:extLst>
              <a:ext uri="{FF2B5EF4-FFF2-40B4-BE49-F238E27FC236}">
                <a16:creationId xmlns:a16="http://schemas.microsoft.com/office/drawing/2014/main" id="{AFE4B412-1CDC-364E-B546-59BA65677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995" y="4652059"/>
            <a:ext cx="1481137" cy="148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903EA-3916-8101-105F-CD9AAACB87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0511" y1="33067" x2="32109" y2="39776"/>
                        <a14:foregroundMark x1="53514" y1="13578" x2="62300" y2="27796"/>
                        <a14:foregroundMark x1="71885" y1="42652" x2="79073" y2="52716"/>
                        <a14:foregroundMark x1="79073" y1="52716" x2="79553" y2="55112"/>
                        <a14:foregroundMark x1="53674" y1="35144" x2="55911" y2="45048"/>
                        <a14:foregroundMark x1="64537" y1="68211" x2="70447" y2="81629"/>
                        <a14:backgroundMark x1="51118" y1="82907" x2="43131" y2="873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67507" y="2798521"/>
            <a:ext cx="1313481" cy="1313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F8EAEA-093A-960C-71CF-AB1EA9779C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156" y="328613"/>
            <a:ext cx="2872981" cy="29494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97D7C8-5D54-0C1A-F2BE-62533B3C95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8156" y="3763835"/>
            <a:ext cx="2905097" cy="27655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36BE1-E743-8ADD-4CAB-279F29D31924}"/>
              </a:ext>
            </a:extLst>
          </p:cNvPr>
          <p:cNvSpPr txBox="1"/>
          <p:nvPr/>
        </p:nvSpPr>
        <p:spPr>
          <a:xfrm>
            <a:off x="14288" y="644151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313394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D0584-169C-8565-40C2-3B772AB9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2B14CF-98D1-88C2-9AB1-FEEABE2A675B}"/>
              </a:ext>
            </a:extLst>
          </p:cNvPr>
          <p:cNvSpPr txBox="1"/>
          <p:nvPr/>
        </p:nvSpPr>
        <p:spPr>
          <a:xfrm>
            <a:off x="403277" y="491059"/>
            <a:ext cx="86946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CONCLUSION</a:t>
            </a:r>
            <a:endParaRPr lang="en-US" sz="5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C23B6B-B7A5-B041-1E98-6850E7D09A19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4EE2D73-7638-A758-B8B1-4B4FF497C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77" y="1380961"/>
            <a:ext cx="6175665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A robust desktop app for pharmacy management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Simplifies tasks for admin, seller, and customer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Improves accuracy in stock and sales tracking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User-friendly and modular design for easy updates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uce"/>
              </a:rPr>
              <a:t>Ready for future upgrades like billing and online orders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336D1D-593B-8636-B5F0-861F6D6E4CC1}"/>
              </a:ext>
            </a:extLst>
          </p:cNvPr>
          <p:cNvGrpSpPr/>
          <p:nvPr/>
        </p:nvGrpSpPr>
        <p:grpSpPr>
          <a:xfrm>
            <a:off x="6125762" y="337455"/>
            <a:ext cx="5966222" cy="5816833"/>
            <a:chOff x="6125762" y="337455"/>
            <a:chExt cx="5966222" cy="581683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C1FEF05-F423-3947-7EA3-66904B64D0FB}"/>
                </a:ext>
              </a:extLst>
            </p:cNvPr>
            <p:cNvGrpSpPr/>
            <p:nvPr/>
          </p:nvGrpSpPr>
          <p:grpSpPr>
            <a:xfrm>
              <a:off x="6125762" y="337455"/>
              <a:ext cx="5966222" cy="2117852"/>
              <a:chOff x="6225778" y="337455"/>
              <a:chExt cx="5966222" cy="211785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EC3A651-D998-D541-8132-FF94F58E1B64}"/>
                  </a:ext>
                </a:extLst>
              </p:cNvPr>
              <p:cNvGrpSpPr/>
              <p:nvPr/>
            </p:nvGrpSpPr>
            <p:grpSpPr>
              <a:xfrm>
                <a:off x="6225778" y="337455"/>
                <a:ext cx="5966222" cy="1905000"/>
                <a:chOff x="6225778" y="625662"/>
                <a:chExt cx="5966222" cy="1905000"/>
              </a:xfrm>
            </p:grpSpPr>
            <p:pic>
              <p:nvPicPr>
                <p:cNvPr id="5123" name="Picture 3" descr="Admin Icon PNGs for Free Download">
                  <a:extLst>
                    <a:ext uri="{FF2B5EF4-FFF2-40B4-BE49-F238E27FC236}">
                      <a16:creationId xmlns:a16="http://schemas.microsoft.com/office/drawing/2014/main" id="{7CB6BC7C-6F1D-9F64-C788-5A0176C8B5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25778" y="625662"/>
                  <a:ext cx="1905000" cy="1905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127" name="Picture 7" descr="Seller - Free user icons">
                  <a:extLst>
                    <a:ext uri="{FF2B5EF4-FFF2-40B4-BE49-F238E27FC236}">
                      <a16:creationId xmlns:a16="http://schemas.microsoft.com/office/drawing/2014/main" id="{1F39000F-99DF-2014-F606-716523FE59C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374856" y="663759"/>
                  <a:ext cx="1795463" cy="179546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131" name="Picture 11" descr="Customer - Free user icons">
                  <a:extLst>
                    <a:ext uri="{FF2B5EF4-FFF2-40B4-BE49-F238E27FC236}">
                      <a16:creationId xmlns:a16="http://schemas.microsoft.com/office/drawing/2014/main" id="{47FEE170-84E3-E590-C71A-DBC6EC9D14C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658475" y="794727"/>
                  <a:ext cx="1533525" cy="15335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932316-D1FC-A20A-36D3-85E32D433556}"/>
                  </a:ext>
                </a:extLst>
              </p:cNvPr>
              <p:cNvSpPr txBox="1"/>
              <p:nvPr/>
            </p:nvSpPr>
            <p:spPr>
              <a:xfrm>
                <a:off x="6681592" y="2081830"/>
                <a:ext cx="8336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Admin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AC11D2-EF8A-ABCC-F49E-27B0DE3155DC}"/>
                  </a:ext>
                </a:extLst>
              </p:cNvPr>
              <p:cNvSpPr txBox="1"/>
              <p:nvPr/>
            </p:nvSpPr>
            <p:spPr>
              <a:xfrm>
                <a:off x="10864226" y="2085975"/>
                <a:ext cx="1122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Customer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9EFFDA-38F8-A94F-E705-4EE0EBA6B7AF}"/>
                  </a:ext>
                </a:extLst>
              </p:cNvPr>
              <p:cNvSpPr txBox="1"/>
              <p:nvPr/>
            </p:nvSpPr>
            <p:spPr>
              <a:xfrm>
                <a:off x="8711576" y="2085975"/>
                <a:ext cx="1122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Seller</a:t>
                </a:r>
              </a:p>
            </p:txBody>
          </p:sp>
        </p:grpSp>
        <p:pic>
          <p:nvPicPr>
            <p:cNvPr id="5133" name="Picture 13" descr="Inventory management - Free shipping and delivery icons">
              <a:extLst>
                <a:ext uri="{FF2B5EF4-FFF2-40B4-BE49-F238E27FC236}">
                  <a16:creationId xmlns:a16="http://schemas.microsoft.com/office/drawing/2014/main" id="{B849A4A9-143B-4CE0-587C-194547E2F3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6908" y="2800396"/>
              <a:ext cx="2162084" cy="2162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5" name="Picture 15" descr="Upgrade - Free computer icons">
              <a:extLst>
                <a:ext uri="{FF2B5EF4-FFF2-40B4-BE49-F238E27FC236}">
                  <a16:creationId xmlns:a16="http://schemas.microsoft.com/office/drawing/2014/main" id="{672E11B4-46F1-2026-D5F4-7FE4E46C0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4274" y="4686986"/>
              <a:ext cx="1467302" cy="1467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7" name="Picture 17" descr="Productivity Improvement Icon Stock Illustrations – 5,742 Productivity  Improvement Icon Stock Illustrations, Vectors &amp; Clipart - Dreamstime">
              <a:extLst>
                <a:ext uri="{FF2B5EF4-FFF2-40B4-BE49-F238E27FC236}">
                  <a16:creationId xmlns:a16="http://schemas.microsoft.com/office/drawing/2014/main" id="{01E4259B-FB4E-5FA3-853B-33C379787C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23250" y1="46875" x2="20875" y2="52875"/>
                          <a14:foregroundMark x1="35500" y1="56250" x2="33375" y2="56625"/>
                          <a14:foregroundMark x1="54000" y1="36000" x2="64000" y2="31625"/>
                          <a14:foregroundMark x1="64000" y1="31625" x2="64875" y2="33375"/>
                          <a14:foregroundMark x1="69625" y1="43750" x2="70875" y2="42750"/>
                          <a14:foregroundMark x1="78875" y1="53375" x2="77375" y2="62875"/>
                          <a14:foregroundMark x1="73625" y1="55250" x2="75125" y2="68500"/>
                          <a14:foregroundMark x1="65250" y1="66500" x2="65750" y2="76500"/>
                          <a14:foregroundMark x1="74250" y1="68375" x2="74500" y2="7662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49" t="15625" r="12445" b="15625"/>
            <a:stretch/>
          </p:blipFill>
          <p:spPr bwMode="auto">
            <a:xfrm>
              <a:off x="6648265" y="2739201"/>
              <a:ext cx="1557318" cy="13795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5221D5-84AA-DDAF-10F9-6CC340990875}"/>
              </a:ext>
            </a:extLst>
          </p:cNvPr>
          <p:cNvSpPr txBox="1"/>
          <p:nvPr/>
        </p:nvSpPr>
        <p:spPr>
          <a:xfrm>
            <a:off x="14287" y="6441518"/>
            <a:ext cx="94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Open sauce" panose="020B0604020202020204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377434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28000">
              <a:srgbClr val="62CEF6"/>
            </a:gs>
            <a:gs pos="0">
              <a:srgbClr val="2190D2"/>
            </a:gs>
            <a:gs pos="80000">
              <a:srgbClr val="C5EDFC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A8687-5CEB-ACF5-2DD1-8F82B683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4B3ACA-5864-2C97-EBBF-77765B23D367}"/>
              </a:ext>
            </a:extLst>
          </p:cNvPr>
          <p:cNvSpPr/>
          <p:nvPr/>
        </p:nvSpPr>
        <p:spPr>
          <a:xfrm>
            <a:off x="0" y="0"/>
            <a:ext cx="9272588" cy="328613"/>
          </a:xfrm>
          <a:prstGeom prst="rect">
            <a:avLst/>
          </a:prstGeom>
          <a:gradFill flip="none" rotWithShape="1">
            <a:gsLst>
              <a:gs pos="100000">
                <a:srgbClr val="2190D2"/>
              </a:gs>
              <a:gs pos="0">
                <a:srgbClr val="2695D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210F47-D633-4695-0756-C954D19D9D61}"/>
              </a:ext>
            </a:extLst>
          </p:cNvPr>
          <p:cNvGrpSpPr/>
          <p:nvPr/>
        </p:nvGrpSpPr>
        <p:grpSpPr>
          <a:xfrm>
            <a:off x="3343276" y="1885950"/>
            <a:ext cx="6143625" cy="1543050"/>
            <a:chOff x="3386138" y="1885950"/>
            <a:chExt cx="6143625" cy="1543050"/>
          </a:xfrm>
          <a:solidFill>
            <a:srgbClr val="BBEAFB"/>
          </a:solidFill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FEA69699-F310-A946-AC29-54985B8CA914}"/>
                </a:ext>
              </a:extLst>
            </p:cNvPr>
            <p:cNvSpPr/>
            <p:nvPr/>
          </p:nvSpPr>
          <p:spPr>
            <a:xfrm>
              <a:off x="3386138" y="1885950"/>
              <a:ext cx="6143625" cy="1543050"/>
            </a:xfrm>
            <a:prstGeom prst="homePlat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677EC5-FC61-A683-24EF-79FE0348370C}"/>
                </a:ext>
              </a:extLst>
            </p:cNvPr>
            <p:cNvSpPr txBox="1"/>
            <p:nvPr/>
          </p:nvSpPr>
          <p:spPr>
            <a:xfrm>
              <a:off x="3800475" y="2057310"/>
              <a:ext cx="4986337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7200" b="1" dirty="0">
                  <a:solidFill>
                    <a:srgbClr val="002060"/>
                  </a:solidFill>
                </a:rPr>
                <a:t>THANK YOU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8673E4-9A02-9259-26D9-38FBF5B898EB}"/>
              </a:ext>
            </a:extLst>
          </p:cNvPr>
          <p:cNvCxnSpPr/>
          <p:nvPr/>
        </p:nvCxnSpPr>
        <p:spPr>
          <a:xfrm>
            <a:off x="3343276" y="3929063"/>
            <a:ext cx="5400674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C69B0B2B-1156-8206-0D9B-48B5B55A2ED9}"/>
              </a:ext>
            </a:extLst>
          </p:cNvPr>
          <p:cNvSpPr/>
          <p:nvPr/>
        </p:nvSpPr>
        <p:spPr>
          <a:xfrm>
            <a:off x="3357563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56BBCF-972F-454B-4CF4-766C8D6E3AA8}"/>
              </a:ext>
            </a:extLst>
          </p:cNvPr>
          <p:cNvSpPr/>
          <p:nvPr/>
        </p:nvSpPr>
        <p:spPr>
          <a:xfrm>
            <a:off x="8343900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92C34E-B09B-8C99-0D37-581B68DF7035}"/>
              </a:ext>
            </a:extLst>
          </p:cNvPr>
          <p:cNvSpPr/>
          <p:nvPr/>
        </p:nvSpPr>
        <p:spPr>
          <a:xfrm>
            <a:off x="5895975" y="3757614"/>
            <a:ext cx="400050" cy="3428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2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375</Words>
  <Application>Microsoft Office PowerPoint</Application>
  <PresentationFormat>Widescreen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Anton</vt:lpstr>
      <vt:lpstr>Arial</vt:lpstr>
      <vt:lpstr>Calibri</vt:lpstr>
      <vt:lpstr>Calibri Light</vt:lpstr>
      <vt:lpstr>Courier New</vt:lpstr>
      <vt:lpstr>Open sauce</vt:lpstr>
      <vt:lpstr>Open sauce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Wasif Ali</dc:creator>
  <cp:lastModifiedBy>Wasif Ali</cp:lastModifiedBy>
  <cp:revision>22</cp:revision>
  <dcterms:created xsi:type="dcterms:W3CDTF">2025-05-31T20:40:21Z</dcterms:created>
  <dcterms:modified xsi:type="dcterms:W3CDTF">2026-06-01T06:43:14Z</dcterms:modified>
</cp:coreProperties>
</file>