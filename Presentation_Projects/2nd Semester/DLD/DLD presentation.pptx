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7" r:id="rId8"/>
    <p:sldId id="263" r:id="rId9"/>
    <p:sldId id="269" r:id="rId10"/>
    <p:sldId id="264" r:id="rId11"/>
    <p:sldId id="266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B2F0"/>
    <a:srgbClr val="9AE0F9"/>
    <a:srgbClr val="00CCFF"/>
    <a:srgbClr val="83D9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3DE-E964-4C91-A00D-C3A8FB0683DA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E5D4-C836-48CA-8F12-C9B6160982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524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3DE-E964-4C91-A00D-C3A8FB0683DA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E5D4-C836-48CA-8F12-C9B6160982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348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3DE-E964-4C91-A00D-C3A8FB0683DA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E5D4-C836-48CA-8F12-C9B6160982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234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3DE-E964-4C91-A00D-C3A8FB0683DA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E5D4-C836-48CA-8F12-C9B6160982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772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3DE-E964-4C91-A00D-C3A8FB0683DA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E5D4-C836-48CA-8F12-C9B6160982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200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3DE-E964-4C91-A00D-C3A8FB0683DA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E5D4-C836-48CA-8F12-C9B6160982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139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3DE-E964-4C91-A00D-C3A8FB0683DA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E5D4-C836-48CA-8F12-C9B6160982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347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3DE-E964-4C91-A00D-C3A8FB0683DA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E5D4-C836-48CA-8F12-C9B6160982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57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3DE-E964-4C91-A00D-C3A8FB0683DA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E5D4-C836-48CA-8F12-C9B6160982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63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3DE-E964-4C91-A00D-C3A8FB0683DA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E5D4-C836-48CA-8F12-C9B6160982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16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33DE-E964-4C91-A00D-C3A8FB0683DA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DE5D4-C836-48CA-8F12-C9B6160982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182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233DE-E964-4C91-A00D-C3A8FB0683DA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DE5D4-C836-48CA-8F12-C9B6160982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013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microsoft.com/office/2007/relationships/hdphoto" Target="../media/hdphoto5.wdp"/><Relationship Id="rId3" Type="http://schemas.microsoft.com/office/2007/relationships/hdphoto" Target="../media/hdphoto2.wdp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17" Type="http://schemas.openxmlformats.org/officeDocument/2006/relationships/image" Target="../media/image14.png"/><Relationship Id="rId2" Type="http://schemas.openxmlformats.org/officeDocument/2006/relationships/image" Target="../media/image2.png"/><Relationship Id="rId16" Type="http://schemas.openxmlformats.org/officeDocument/2006/relationships/image" Target="../media/image13.png"/><Relationship Id="rId20" Type="http://schemas.microsoft.com/office/2007/relationships/hdphoto" Target="../media/hdphoto6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5" Type="http://schemas.openxmlformats.org/officeDocument/2006/relationships/image" Target="../media/image12.png"/><Relationship Id="rId10" Type="http://schemas.microsoft.com/office/2007/relationships/hdphoto" Target="../media/hdphoto3.wdp"/><Relationship Id="rId19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microsoft.com/office/2007/relationships/hdphoto" Target="../media/hdphoto4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7.wdp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10.wdp"/><Relationship Id="rId3" Type="http://schemas.microsoft.com/office/2007/relationships/hdphoto" Target="../media/hdphoto8.wdp"/><Relationship Id="rId7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microsoft.com/office/2007/relationships/hdphoto" Target="../media/hdphoto9.wdp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2.wdp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15.wdp"/><Relationship Id="rId13" Type="http://schemas.openxmlformats.org/officeDocument/2006/relationships/image" Target="../media/image10.png"/><Relationship Id="rId3" Type="http://schemas.microsoft.com/office/2007/relationships/hdphoto" Target="../media/hdphoto13.wdp"/><Relationship Id="rId7" Type="http://schemas.openxmlformats.org/officeDocument/2006/relationships/image" Target="../media/image34.png"/><Relationship Id="rId12" Type="http://schemas.microsoft.com/office/2007/relationships/hdphoto" Target="../media/hdphoto17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6.png"/><Relationship Id="rId5" Type="http://schemas.microsoft.com/office/2007/relationships/hdphoto" Target="../media/hdphoto14.wdp"/><Relationship Id="rId15" Type="http://schemas.openxmlformats.org/officeDocument/2006/relationships/image" Target="../media/image38.png"/><Relationship Id="rId10" Type="http://schemas.microsoft.com/office/2007/relationships/hdphoto" Target="../media/hdphoto16.wdp"/><Relationship Id="rId4" Type="http://schemas.openxmlformats.org/officeDocument/2006/relationships/image" Target="../media/image32.png"/><Relationship Id="rId9" Type="http://schemas.openxmlformats.org/officeDocument/2006/relationships/image" Target="../media/image35.png"/><Relationship Id="rId1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1"/>
            </a:gs>
            <a:gs pos="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-471056"/>
            <a:ext cx="12192000" cy="8261889"/>
            <a:chOff x="0" y="-471056"/>
            <a:chExt cx="12192000" cy="8261889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5392" b="89869" l="9967" r="89869"/>
                      </a14:imgEffect>
                    </a14:imgLayer>
                  </a14:imgProps>
                </a:ext>
              </a:extLst>
            </a:blip>
            <a:srcRect r="49599"/>
            <a:stretch/>
          </p:blipFill>
          <p:spPr>
            <a:xfrm>
              <a:off x="8021782" y="-471056"/>
              <a:ext cx="4170218" cy="8261889"/>
            </a:xfrm>
            <a:prstGeom prst="rect">
              <a:avLst/>
            </a:prstGeom>
          </p:spPr>
        </p:pic>
        <p:grpSp>
          <p:nvGrpSpPr>
            <p:cNvPr id="10" name="Group 9"/>
            <p:cNvGrpSpPr/>
            <p:nvPr/>
          </p:nvGrpSpPr>
          <p:grpSpPr>
            <a:xfrm>
              <a:off x="0" y="193964"/>
              <a:ext cx="7923842" cy="968144"/>
              <a:chOff x="0" y="193964"/>
              <a:chExt cx="7923842" cy="968144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0" y="193964"/>
                <a:ext cx="6747164" cy="623455"/>
                <a:chOff x="0" y="193964"/>
                <a:chExt cx="7711964" cy="623455"/>
              </a:xfrm>
            </p:grpSpPr>
            <p:sp>
              <p:nvSpPr>
                <p:cNvPr id="5" name="Pentagon 4"/>
                <p:cNvSpPr/>
                <p:nvPr/>
              </p:nvSpPr>
              <p:spPr>
                <a:xfrm>
                  <a:off x="0" y="193964"/>
                  <a:ext cx="5417127" cy="623455"/>
                </a:xfrm>
                <a:prstGeom prst="homePlate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TextBox 5"/>
                <p:cNvSpPr txBox="1"/>
                <p:nvPr/>
              </p:nvSpPr>
              <p:spPr>
                <a:xfrm>
                  <a:off x="299782" y="321025"/>
                  <a:ext cx="74121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atin typeface="Open sauce"/>
                    </a:rPr>
                    <a:t>DIGITAL LOGIC DESIGN  PROJECT </a:t>
                  </a:r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151442" y="761998"/>
                <a:ext cx="77724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>
                        <a:lumMod val="50000"/>
                      </a:schemeClr>
                    </a:solidFill>
                    <a:latin typeface="Open Sauce" panose="020B0604020202020204" charset="0"/>
                  </a:rPr>
                  <a:t> Air University Kamra</a:t>
                </a:r>
              </a:p>
            </p:txBody>
          </p:sp>
        </p:grpSp>
        <p:sp>
          <p:nvSpPr>
            <p:cNvPr id="12" name="TextBox 11"/>
            <p:cNvSpPr txBox="1"/>
            <p:nvPr/>
          </p:nvSpPr>
          <p:spPr>
            <a:xfrm>
              <a:off x="262278" y="1331340"/>
              <a:ext cx="11250849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 panose="020B0604020202020204" charset="0"/>
                </a:rPr>
                <a:t>P</a:t>
              </a:r>
              <a:r>
                <a:rPr lang="en-US" sz="2800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 panose="020B0604020202020204" charset="0"/>
                </a:rPr>
                <a:t>RESENTING</a:t>
              </a:r>
              <a:br>
                <a:rPr lang="en-US" sz="6600" b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 panose="020B0604020202020204" charset="0"/>
                </a:rPr>
              </a:br>
              <a:r>
                <a:rPr lang="en-US" sz="6600" b="1" dirty="0">
                  <a:solidFill>
                    <a:schemeClr val="accent5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 panose="020B0604020202020204" charset="0"/>
                </a:rPr>
                <a:t>DIGITAL STOPWATCH</a:t>
              </a: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0" y="6523120"/>
              <a:ext cx="9401714" cy="547255"/>
              <a:chOff x="0" y="6523120"/>
              <a:chExt cx="9401714" cy="547255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0" y="6523120"/>
                <a:ext cx="7453745" cy="334880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77127" y="6547155"/>
                <a:ext cx="932458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chemeClr val="bg1">
                        <a:lumMod val="95000"/>
                      </a:schemeClr>
                    </a:solidFill>
                    <a:latin typeface="Open sauce" panose="020B0604020202020204" charset="0"/>
                  </a:rPr>
                  <a:t>DEPARTMENT OF COMPUTER SCIENCE |  AIR UNIVERSITY – KAMRA CAMPUS</a:t>
                </a:r>
              </a:p>
              <a:p>
                <a:endParaRPr lang="en-US" sz="1400" b="1" dirty="0">
                  <a:solidFill>
                    <a:schemeClr val="bg1">
                      <a:lumMod val="95000"/>
                    </a:schemeClr>
                  </a:solidFill>
                  <a:latin typeface="Open sauce" panose="020B0604020202020204" charset="0"/>
                </a:endParaRPr>
              </a:p>
            </p:txBody>
          </p:sp>
        </p:grpSp>
      </p:grpSp>
      <p:sp>
        <p:nvSpPr>
          <p:cNvPr id="19" name="TextBox 18"/>
          <p:cNvSpPr txBox="1"/>
          <p:nvPr/>
        </p:nvSpPr>
        <p:spPr>
          <a:xfrm>
            <a:off x="268536" y="3306025"/>
            <a:ext cx="194214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>
                <a:latin typeface="Open sauce" panose="020B0604020202020204" charset="0"/>
              </a:rPr>
              <a:t>  Group 03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Open sauce" panose="020B0604020202020204" charset="0"/>
              </a:rPr>
              <a:t>Faiqa Umar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Open sauce" panose="020B0604020202020204" charset="0"/>
              </a:rPr>
              <a:t>Anisa Khan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Open sauce" panose="020B0604020202020204" charset="0"/>
              </a:rPr>
              <a:t>Aima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306025"/>
            <a:ext cx="239683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>
                <a:latin typeface="Open sauce" panose="020B0604020202020204" charset="0"/>
              </a:rPr>
              <a:t>  Group 04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Open sauce" panose="020B0604020202020204" charset="0"/>
              </a:rPr>
              <a:t>Wasif Ali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Open sauce" panose="020B0604020202020204" charset="0"/>
              </a:rPr>
              <a:t>Saad Ali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Open sauce" panose="020B0604020202020204" charset="0"/>
              </a:rPr>
              <a:t>M. Huzaifa</a:t>
            </a:r>
          </a:p>
        </p:txBody>
      </p:sp>
    </p:spTree>
    <p:extLst>
      <p:ext uri="{BB962C8B-B14F-4D97-AF65-F5344CB8AC3E}">
        <p14:creationId xmlns:p14="http://schemas.microsoft.com/office/powerpoint/2010/main" val="115398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/>
            </a:gs>
            <a:gs pos="0">
              <a:srgbClr val="00B0F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30145" cy="277091"/>
          </a:xfrm>
          <a:prstGeom prst="rect">
            <a:avLst/>
          </a:prstGeom>
          <a:gradFill flip="none" rotWithShape="1">
            <a:gsLst>
              <a:gs pos="100000">
                <a:srgbClr val="9AE0F9"/>
              </a:gs>
              <a:gs pos="68000">
                <a:srgbClr val="00CCFF"/>
              </a:gs>
              <a:gs pos="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508360" y="500062"/>
            <a:ext cx="3983183" cy="1015663"/>
            <a:chOff x="505689" y="651164"/>
            <a:chExt cx="3983183" cy="1015663"/>
          </a:xfrm>
        </p:grpSpPr>
        <p:sp>
          <p:nvSpPr>
            <p:cNvPr id="8" name="TextBox 7"/>
            <p:cNvSpPr txBox="1"/>
            <p:nvPr/>
          </p:nvSpPr>
          <p:spPr>
            <a:xfrm>
              <a:off x="505689" y="651164"/>
              <a:ext cx="398318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 panose="020B0604020202020204" charset="0"/>
                </a:rPr>
                <a:t>OUTLINE</a:t>
              </a:r>
            </a:p>
          </p:txBody>
        </p:sp>
        <p:sp>
          <p:nvSpPr>
            <p:cNvPr id="13" name="AutoShape 25"/>
            <p:cNvSpPr/>
            <p:nvPr/>
          </p:nvSpPr>
          <p:spPr>
            <a:xfrm>
              <a:off x="659759" y="1625262"/>
              <a:ext cx="1781461" cy="0"/>
            </a:xfrm>
            <a:prstGeom prst="line">
              <a:avLst/>
            </a:prstGeom>
            <a:ln w="76200" cap="flat">
              <a:gradFill>
                <a:gsLst>
                  <a:gs pos="0">
                    <a:srgbClr val="00162E">
                      <a:alpha val="100000"/>
                    </a:srgb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22" name="TextBox 28"/>
          <p:cNvSpPr txBox="1"/>
          <p:nvPr/>
        </p:nvSpPr>
        <p:spPr>
          <a:xfrm>
            <a:off x="619200" y="1515725"/>
            <a:ext cx="82124" cy="15110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18" name="Isosceles Triangle 17"/>
          <p:cNvSpPr/>
          <p:nvPr/>
        </p:nvSpPr>
        <p:spPr>
          <a:xfrm rot="16200000">
            <a:off x="10674928" y="-173183"/>
            <a:ext cx="1343889" cy="1690251"/>
          </a:xfrm>
          <a:prstGeom prst="triangle">
            <a:avLst>
              <a:gd name="adj" fmla="val 100000"/>
            </a:avLst>
          </a:prstGeom>
          <a:solidFill>
            <a:srgbClr val="00206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utoShape 2" descr="Agile Methodology icon Testing icon Criteria icon - Clean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7565199" y="2274494"/>
            <a:ext cx="2936548" cy="2718768"/>
            <a:chOff x="6875887" y="2666349"/>
            <a:chExt cx="2254258" cy="2289480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875887" y="2666349"/>
              <a:ext cx="2254258" cy="2289480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42212" b="72500" l="21387" r="76074"/>
                      </a14:imgEffect>
                    </a14:imgLayer>
                  </a14:imgProps>
                </a:ext>
              </a:extLst>
            </a:blip>
            <a:srcRect l="18260" t="43296" r="48552" b="25237"/>
            <a:stretch/>
          </p:blipFill>
          <p:spPr>
            <a:xfrm>
              <a:off x="7287491" y="3657599"/>
              <a:ext cx="748145" cy="720437"/>
            </a:xfrm>
            <a:prstGeom prst="rect">
              <a:avLst/>
            </a:prstGeom>
          </p:spPr>
        </p:pic>
        <p:grpSp>
          <p:nvGrpSpPr>
            <p:cNvPr id="10" name="Group 9"/>
            <p:cNvGrpSpPr/>
            <p:nvPr/>
          </p:nvGrpSpPr>
          <p:grpSpPr>
            <a:xfrm>
              <a:off x="8091054" y="3643090"/>
              <a:ext cx="637309" cy="678872"/>
              <a:chOff x="4585855" y="3976255"/>
              <a:chExt cx="637309" cy="678872"/>
            </a:xfrm>
          </p:grpSpPr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46154" b="73750" l="51563" r="77344"/>
                        </a14:imgEffect>
                      </a14:imgLayer>
                    </a14:imgProps>
                  </a:ext>
                </a:extLst>
              </a:blip>
              <a:srcRect l="50922" t="42568" r="20806" b="27780"/>
              <a:stretch/>
            </p:blipFill>
            <p:spPr>
              <a:xfrm>
                <a:off x="4585855" y="3976255"/>
                <a:ext cx="637309" cy="678872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48365" b="90000" l="55762" r="73633"/>
                        </a14:imgEffect>
                      </a14:imgLayer>
                    </a14:imgProps>
                  </a:ext>
                </a:extLst>
              </a:blip>
              <a:srcRect l="54812" t="49977" r="23677" b="27028"/>
              <a:stretch/>
            </p:blipFill>
            <p:spPr>
              <a:xfrm>
                <a:off x="4677464" y="4128655"/>
                <a:ext cx="484909" cy="526472"/>
              </a:xfrm>
              <a:prstGeom prst="rect">
                <a:avLst/>
              </a:prstGeom>
            </p:spPr>
          </p:pic>
        </p:grpSp>
        <p:grpSp>
          <p:nvGrpSpPr>
            <p:cNvPr id="11" name="Group 10"/>
            <p:cNvGrpSpPr/>
            <p:nvPr/>
          </p:nvGrpSpPr>
          <p:grpSpPr>
            <a:xfrm>
              <a:off x="7580450" y="2978072"/>
              <a:ext cx="789711" cy="651164"/>
              <a:chOff x="3491344" y="3255818"/>
              <a:chExt cx="789711" cy="651164"/>
            </a:xfrm>
          </p:grpSpPr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3750" b="43462" l="35059" r="63379"/>
                        </a14:imgEffect>
                      </a14:imgLayer>
                    </a14:imgProps>
                  </a:ext>
                </a:extLst>
              </a:blip>
              <a:srcRect l="31459" t="13796" r="33509" b="57762"/>
              <a:stretch/>
            </p:blipFill>
            <p:spPr>
              <a:xfrm>
                <a:off x="3491344" y="3255818"/>
                <a:ext cx="789711" cy="651164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000" b="36442" l="41504" r="57520"/>
                        </a14:imgEffect>
                      </a14:imgLayer>
                    </a14:imgProps>
                  </a:ext>
                </a:extLst>
              </a:blip>
              <a:srcRect l="36607" t="17049" r="40038" b="59351"/>
              <a:stretch/>
            </p:blipFill>
            <p:spPr>
              <a:xfrm>
                <a:off x="3610445" y="3345873"/>
                <a:ext cx="526472" cy="540327"/>
              </a:xfrm>
              <a:prstGeom prst="rect">
                <a:avLst/>
              </a:prstGeom>
            </p:spPr>
          </p:pic>
        </p:grpSp>
      </p:grpSp>
      <p:sp>
        <p:nvSpPr>
          <p:cNvPr id="38" name="AutoShape 4" descr="Free Digital Stopwatch Icon - Free Download Sports &amp; Games Icons | IconScou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3" name="Group 42"/>
          <p:cNvGrpSpPr/>
          <p:nvPr/>
        </p:nvGrpSpPr>
        <p:grpSpPr>
          <a:xfrm>
            <a:off x="-40113" y="1649675"/>
            <a:ext cx="6281862" cy="5553713"/>
            <a:chOff x="-40113" y="1649675"/>
            <a:chExt cx="6281862" cy="5553713"/>
          </a:xfrm>
        </p:grpSpPr>
        <p:grpSp>
          <p:nvGrpSpPr>
            <p:cNvPr id="3" name="Group 2"/>
            <p:cNvGrpSpPr/>
            <p:nvPr/>
          </p:nvGrpSpPr>
          <p:grpSpPr>
            <a:xfrm>
              <a:off x="-40113" y="1657254"/>
              <a:ext cx="4177030" cy="5546134"/>
              <a:chOff x="-41566" y="1581703"/>
              <a:chExt cx="4177030" cy="5546134"/>
            </a:xfrm>
          </p:grpSpPr>
          <p:sp>
            <p:nvSpPr>
              <p:cNvPr id="26" name="TextBox 25"/>
              <p:cNvSpPr txBox="1"/>
              <p:nvPr/>
            </p:nvSpPr>
            <p:spPr>
              <a:xfrm>
                <a:off x="1054496" y="1581703"/>
                <a:ext cx="3080968" cy="55461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000" dirty="0">
                    <a:latin typeface="Open sauce" panose="020B0604020202020204" charset="0"/>
                  </a:rPr>
                  <a:t>Introduction</a:t>
                </a:r>
              </a:p>
              <a:p>
                <a:pPr lvl="0" eaLnBrk="0" fontAlgn="base" hangingPunct="0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000" dirty="0">
                    <a:latin typeface="Open sauce" panose="020B0604020202020204" charset="0"/>
                  </a:rPr>
                  <a:t>Methodology</a:t>
                </a:r>
              </a:p>
              <a:p>
                <a:pPr lvl="0" eaLnBrk="0" fontAlgn="base" hangingPunct="0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000" dirty="0">
                    <a:latin typeface="Open sauce" panose="020B0604020202020204" charset="0"/>
                  </a:rPr>
                  <a:t>Simulations</a:t>
                </a:r>
              </a:p>
              <a:p>
                <a:pPr lvl="0" eaLnBrk="0" fontAlgn="base" hangingPunct="0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000" dirty="0">
                    <a:latin typeface="Open sauce" panose="020B0604020202020204" charset="0"/>
                  </a:rPr>
                  <a:t>Hardware Implementation</a:t>
                </a:r>
              </a:p>
              <a:p>
                <a:pPr lvl="0" eaLnBrk="0" fontAlgn="base" hangingPunct="0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000" dirty="0">
                    <a:latin typeface="Open sauce" panose="020B0604020202020204" charset="0"/>
                  </a:rPr>
                  <a:t>Cost Analysis</a:t>
                </a:r>
              </a:p>
              <a:p>
                <a:pPr lvl="0" eaLnBrk="0" fontAlgn="base" hangingPunct="0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000" dirty="0">
                    <a:latin typeface="Open sauce" panose="020B0604020202020204" charset="0"/>
                  </a:rPr>
                  <a:t>Applications</a:t>
                </a:r>
              </a:p>
              <a:p>
                <a:pPr lvl="0" eaLnBrk="0" fontAlgn="base" hangingPunct="0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000" dirty="0">
                    <a:latin typeface="Open sauce" panose="020B0604020202020204" charset="0"/>
                  </a:rPr>
                  <a:t>Conclusion</a:t>
                </a:r>
              </a:p>
              <a:p>
                <a:pPr>
                  <a:lnSpc>
                    <a:spcPct val="200000"/>
                  </a:lnSpc>
                </a:pPr>
                <a:endParaRPr lang="en-US" sz="2000" dirty="0"/>
              </a:p>
            </p:txBody>
          </p:sp>
          <p:grpSp>
            <p:nvGrpSpPr>
              <p:cNvPr id="2" name="Group 1"/>
              <p:cNvGrpSpPr/>
              <p:nvPr/>
            </p:nvGrpSpPr>
            <p:grpSpPr>
              <a:xfrm>
                <a:off x="-41566" y="1911925"/>
                <a:ext cx="505690" cy="4461160"/>
                <a:chOff x="-41566" y="1911925"/>
                <a:chExt cx="505690" cy="4461160"/>
              </a:xfrm>
            </p:grpSpPr>
            <p:sp>
              <p:nvSpPr>
                <p:cNvPr id="27" name="Right Arrow 26"/>
                <p:cNvSpPr/>
                <p:nvPr/>
              </p:nvSpPr>
              <p:spPr>
                <a:xfrm>
                  <a:off x="-41565" y="1911925"/>
                  <a:ext cx="505689" cy="193964"/>
                </a:xfrm>
                <a:prstGeom prst="rightArrow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Right Arrow 27"/>
                <p:cNvSpPr/>
                <p:nvPr/>
              </p:nvSpPr>
              <p:spPr>
                <a:xfrm>
                  <a:off x="-41565" y="2493816"/>
                  <a:ext cx="505689" cy="193964"/>
                </a:xfrm>
                <a:prstGeom prst="rightArrow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ight Arrow 28"/>
                <p:cNvSpPr/>
                <p:nvPr/>
              </p:nvSpPr>
              <p:spPr>
                <a:xfrm>
                  <a:off x="-41566" y="3117266"/>
                  <a:ext cx="505689" cy="193964"/>
                </a:xfrm>
                <a:prstGeom prst="rightArrow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Right Arrow 29"/>
                <p:cNvSpPr/>
                <p:nvPr/>
              </p:nvSpPr>
              <p:spPr>
                <a:xfrm>
                  <a:off x="-41565" y="4959930"/>
                  <a:ext cx="505689" cy="193964"/>
                </a:xfrm>
                <a:prstGeom prst="rightArrow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Right Arrow 30"/>
                <p:cNvSpPr/>
                <p:nvPr/>
              </p:nvSpPr>
              <p:spPr>
                <a:xfrm>
                  <a:off x="-41565" y="5583382"/>
                  <a:ext cx="505689" cy="193964"/>
                </a:xfrm>
                <a:prstGeom prst="rightArrow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Right Arrow 31"/>
                <p:cNvSpPr/>
                <p:nvPr/>
              </p:nvSpPr>
              <p:spPr>
                <a:xfrm>
                  <a:off x="-41566" y="6179121"/>
                  <a:ext cx="505689" cy="193964"/>
                </a:xfrm>
                <a:prstGeom prst="rightArrow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Right Arrow 32"/>
                <p:cNvSpPr/>
                <p:nvPr/>
              </p:nvSpPr>
              <p:spPr>
                <a:xfrm>
                  <a:off x="-41565" y="3740718"/>
                  <a:ext cx="505689" cy="193964"/>
                </a:xfrm>
                <a:prstGeom prst="rightArrow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Right Arrow 33"/>
                <p:cNvSpPr/>
                <p:nvPr/>
              </p:nvSpPr>
              <p:spPr>
                <a:xfrm>
                  <a:off x="-41565" y="4336478"/>
                  <a:ext cx="505689" cy="193964"/>
                </a:xfrm>
                <a:prstGeom prst="rightArrow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54501" y="1649675"/>
              <a:ext cx="822738" cy="822738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755411" y="2074880"/>
              <a:ext cx="1176981" cy="1176981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654501" y="2908799"/>
              <a:ext cx="762000" cy="762000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 rotWithShape="1"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16513" t="24269" r="25085" b="7634"/>
            <a:stretch/>
          </p:blipFill>
          <p:spPr>
            <a:xfrm rot="5400000">
              <a:off x="5002621" y="3366210"/>
              <a:ext cx="934539" cy="1543717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87725" y="4137562"/>
              <a:ext cx="1193088" cy="1193088"/>
            </a:xfrm>
            <a:prstGeom prst="rect">
              <a:avLst/>
            </a:prstGeom>
          </p:spPr>
        </p:pic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851770" y="5063875"/>
              <a:ext cx="1219200" cy="1219200"/>
            </a:xfrm>
            <a:prstGeom prst="rect">
              <a:avLst/>
            </a:prstGeom>
          </p:spPr>
        </p:pic>
        <p:grpSp>
          <p:nvGrpSpPr>
            <p:cNvPr id="42" name="Group 41"/>
            <p:cNvGrpSpPr/>
            <p:nvPr/>
          </p:nvGrpSpPr>
          <p:grpSpPr>
            <a:xfrm>
              <a:off x="3737997" y="5652731"/>
              <a:ext cx="960032" cy="966151"/>
              <a:chOff x="6798728" y="514350"/>
              <a:chExt cx="5829300" cy="5829300"/>
            </a:xfrm>
          </p:grpSpPr>
          <p:pic>
            <p:nvPicPr>
              <p:cNvPr id="40" name="Picture 39"/>
              <p:cNvPicPr>
                <a:picLocks noChangeAspect="1"/>
              </p:cNvPicPr>
              <p:nvPr/>
            </p:nvPicPr>
            <p:blipFill>
              <a:blip r:embed="rId17" cstate="print">
                <a:extLst>
                  <a:ext uri="{BEBA8EAE-BF5A-486C-A8C5-ECC9F3942E4B}">
                    <a14:imgProps xmlns:a14="http://schemas.microsoft.com/office/drawing/2010/main">
                      <a14:imgLayer r:embed="rId18">
                        <a14:imgEffect>
                          <a14:backgroundRemoval t="2778" b="89706" l="9804" r="9902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798728" y="514350"/>
                <a:ext cx="5829300" cy="5829300"/>
              </a:xfrm>
              <a:prstGeom prst="rect">
                <a:avLst/>
              </a:prstGeom>
            </p:spPr>
          </p:pic>
          <p:pic>
            <p:nvPicPr>
              <p:cNvPr id="9222" name="Picture 6" descr="84,500+ Conclusion Icon Stock Illustrations, Royalty-Free Vector Graphics &amp;  Clip Art - iStock | Summary, Conclusions, Wrap up"/>
              <p:cNvPicPr>
                <a:picLocks noChangeAspect="1" noChangeArrowheads="1"/>
              </p:cNvPicPr>
              <p:nvPr/>
            </p:nvPicPr>
            <p:blipFill rotWithShape="1">
              <a:blip r:embed="rId19" cstate="print">
                <a:extLst>
                  <a:ext uri="{BEBA8EAE-BF5A-486C-A8C5-ECC9F3942E4B}">
                    <a14:imgProps xmlns:a14="http://schemas.microsoft.com/office/drawing/2010/main">
                      <a14:imgLayer r:embed="rId20">
                        <a14:imgEffect>
                          <a14:backgroundRemoval t="9967" b="89869" l="19608" r="89869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635" t="12127" r="12343"/>
              <a:stretch/>
            </p:blipFill>
            <p:spPr bwMode="auto">
              <a:xfrm>
                <a:off x="8078557" y="1080657"/>
                <a:ext cx="3906982" cy="51224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4D80F89-380E-9E9C-E4D2-D59A601FB6E2}"/>
              </a:ext>
            </a:extLst>
          </p:cNvPr>
          <p:cNvSpPr txBox="1"/>
          <p:nvPr/>
        </p:nvSpPr>
        <p:spPr>
          <a:xfrm>
            <a:off x="11472868" y="6491500"/>
            <a:ext cx="7143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3595511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1"/>
            </a:gs>
            <a:gs pos="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563" y="796976"/>
            <a:ext cx="80814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anose="020B0604020202020204" charset="0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360" y="1418743"/>
            <a:ext cx="78736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Open sauce" panose="020B0604020202020204" charset="0"/>
              </a:rPr>
              <a:t>A Digital Stopwatch that counts from 00:00 to 59:59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Open sauce" panose="020B0604020202020204" charset="0"/>
              </a:rPr>
              <a:t>Purely hardware-based: No microcontroller or software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Open sauce" panose="020B0604020202020204" charset="0"/>
              </a:rPr>
              <a:t>Demonstrates real-time timekeeping using logic ICs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Open sauce" panose="020B0604020202020204" charset="0"/>
              </a:rPr>
              <a:t>Educational focus on pulse generation, counting, and display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Open sauce" panose="020B0604020202020204" charset="0"/>
              </a:rPr>
              <a:t>Enhances understanding of digital logic and display systems</a:t>
            </a:r>
          </a:p>
          <a:p>
            <a:pPr>
              <a:lnSpc>
                <a:spcPct val="300000"/>
              </a:lnSpc>
            </a:pP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03128" y="230283"/>
            <a:ext cx="4225636" cy="23769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99023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9818" y="3096491"/>
            <a:ext cx="3006436" cy="30064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" y="0"/>
            <a:ext cx="7259782" cy="230283"/>
          </a:xfrm>
          <a:prstGeom prst="rect">
            <a:avLst/>
          </a:prstGeom>
          <a:gradFill flip="none" rotWithShape="1">
            <a:gsLst>
              <a:gs pos="100000">
                <a:srgbClr val="07B2F0"/>
              </a:gs>
              <a:gs pos="68000">
                <a:srgbClr val="00CCFF"/>
              </a:gs>
              <a:gs pos="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81E1D0-A74C-0283-D825-00D632641E27}"/>
              </a:ext>
            </a:extLst>
          </p:cNvPr>
          <p:cNvSpPr txBox="1"/>
          <p:nvPr/>
        </p:nvSpPr>
        <p:spPr>
          <a:xfrm>
            <a:off x="11472868" y="6491500"/>
            <a:ext cx="7143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1814252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1"/>
            </a:gs>
            <a:gs pos="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5341" y="348572"/>
            <a:ext cx="109216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anose="020B0604020202020204" charset="0"/>
              </a:rPr>
              <a:t>METHODOLOGY </a:t>
            </a:r>
            <a:r>
              <a:rPr 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anose="020B0604020202020204" charset="0"/>
              </a:rPr>
              <a:t>(Overview)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5341" y="1100998"/>
            <a:ext cx="817844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Open sauce" panose="020B0604020202020204" charset="0"/>
              </a:rPr>
              <a:t>1Hz clock pulse generation using 555 Timer (Astable Mode)</a:t>
            </a:r>
          </a:p>
          <a:p>
            <a:pPr marL="285750" lvl="0" indent="-28575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Open sauce" panose="020B0604020202020204" charset="0"/>
              </a:rPr>
              <a:t>Toggle Flip-Flop for Start/Stop Control</a:t>
            </a:r>
          </a:p>
          <a:p>
            <a:pPr marL="285750" lvl="0" indent="-28575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Open sauce" panose="020B0604020202020204" charset="0"/>
              </a:rPr>
              <a:t>AND Gate logic to pass/pause clock pulses</a:t>
            </a:r>
          </a:p>
          <a:p>
            <a:pPr marL="285750" lvl="0" indent="-28575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Open sauce" panose="020B0604020202020204" charset="0"/>
              </a:rPr>
              <a:t>4 CD4026 counters for MM:SS counting </a:t>
            </a:r>
          </a:p>
          <a:p>
            <a:pPr marL="285750" lvl="0" indent="-28575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Open sauce" panose="020B0604020202020204" charset="0"/>
              </a:rPr>
              <a:t>7-segment displays for visual output</a:t>
            </a:r>
          </a:p>
          <a:p>
            <a:pPr marL="285750" lvl="0" indent="-28575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Open sauce" panose="020B0604020202020204" charset="0"/>
              </a:rPr>
              <a:t>Push-button for reset function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5900738" y="4286250"/>
            <a:ext cx="6725552" cy="2571750"/>
            <a:chOff x="5535429" y="2116661"/>
            <a:chExt cx="6999216" cy="2636844"/>
          </a:xfrm>
        </p:grpSpPr>
        <p:grpSp>
          <p:nvGrpSpPr>
            <p:cNvPr id="10" name="Group 9"/>
            <p:cNvGrpSpPr/>
            <p:nvPr/>
          </p:nvGrpSpPr>
          <p:grpSpPr>
            <a:xfrm>
              <a:off x="5535429" y="2116661"/>
              <a:ext cx="6999216" cy="2466110"/>
              <a:chOff x="5535429" y="2116661"/>
              <a:chExt cx="6999216" cy="2466110"/>
            </a:xfrm>
          </p:grpSpPr>
          <p:pic>
            <p:nvPicPr>
              <p:cNvPr id="1026" name="Picture 2" descr="555 Pin Diagram / Pin Configuration of 555 Timer IC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10648" b="83519" l="47500" r="83125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7715" t="29524" r="16819" b="12626"/>
              <a:stretch/>
            </p:blipFill>
            <p:spPr bwMode="auto">
              <a:xfrm>
                <a:off x="8183778" y="2116661"/>
                <a:ext cx="2687782" cy="24661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" name="Picture 2" descr="555 Pin Diagram / Pin Configuration of 555 Timer IC"/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28889" b="80093" l="10000" r="34375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166" t="41664" r="62053" b="18251"/>
              <a:stretch/>
            </p:blipFill>
            <p:spPr bwMode="auto">
              <a:xfrm>
                <a:off x="5535429" y="2618509"/>
                <a:ext cx="2175164" cy="17041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TextBox 4"/>
              <p:cNvSpPr txBox="1"/>
              <p:nvPr/>
            </p:nvSpPr>
            <p:spPr>
              <a:xfrm>
                <a:off x="7326923" y="2287887"/>
                <a:ext cx="1039092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sz="1600" dirty="0"/>
                  <a:t>GROUNG</a:t>
                </a:r>
              </a:p>
              <a:p>
                <a:pPr algn="r">
                  <a:lnSpc>
                    <a:spcPct val="200000"/>
                  </a:lnSpc>
                </a:pPr>
                <a:r>
                  <a:rPr lang="en-US" sz="1600" dirty="0"/>
                  <a:t>TRIGGER</a:t>
                </a:r>
              </a:p>
              <a:p>
                <a:pPr algn="r">
                  <a:lnSpc>
                    <a:spcPct val="200000"/>
                  </a:lnSpc>
                </a:pPr>
                <a:r>
                  <a:rPr lang="en-US" sz="1600" dirty="0"/>
                  <a:t>OUTPUT</a:t>
                </a:r>
              </a:p>
              <a:p>
                <a:pPr algn="r">
                  <a:lnSpc>
                    <a:spcPct val="200000"/>
                  </a:lnSpc>
                </a:pPr>
                <a:r>
                  <a:rPr lang="en-US" sz="1600" dirty="0"/>
                  <a:t>RESET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10807085" y="2314349"/>
                <a:ext cx="1727560" cy="15006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600" dirty="0"/>
                  <a:t>+Vcc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1600" dirty="0"/>
                  <a:t>DISCHARGE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1600" dirty="0"/>
                  <a:t>THRESHOLD</a:t>
                </a:r>
                <a:endParaRPr lang="en-US" sz="1200" dirty="0"/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10821749" y="3891731"/>
              <a:ext cx="1209604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CONTROL VOLTAGE</a:t>
              </a:r>
            </a:p>
            <a:p>
              <a:endParaRPr lang="en-US" dirty="0"/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0556" b="69444" l="11042" r="70417"/>
                    </a14:imgEffect>
                  </a14:imgLayer>
                </a14:imgProps>
              </a:ext>
            </a:extLst>
          </a:blip>
          <a:srcRect l="12301" t="32084" r="43012" b="25416"/>
          <a:stretch/>
        </p:blipFill>
        <p:spPr>
          <a:xfrm>
            <a:off x="6221740" y="2086246"/>
            <a:ext cx="1757363" cy="1253503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9229725" y="1725891"/>
            <a:ext cx="2446535" cy="874434"/>
            <a:chOff x="6361636" y="3089272"/>
            <a:chExt cx="2422146" cy="939803"/>
          </a:xfrm>
        </p:grpSpPr>
        <p:sp>
          <p:nvSpPr>
            <p:cNvPr id="7" name="Flowchart: Delay 6"/>
            <p:cNvSpPr/>
            <p:nvPr/>
          </p:nvSpPr>
          <p:spPr>
            <a:xfrm>
              <a:off x="7129463" y="3089272"/>
              <a:ext cx="1145960" cy="939803"/>
            </a:xfrm>
            <a:prstGeom prst="flowChartDelay">
              <a:avLst/>
            </a:prstGeom>
            <a:noFill/>
            <a:ln w="762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/>
            <p:cNvCxnSpPr/>
            <p:nvPr/>
          </p:nvCxnSpPr>
          <p:spPr>
            <a:xfrm flipH="1">
              <a:off x="6361636" y="3225445"/>
              <a:ext cx="753994" cy="0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6375469" y="3908864"/>
              <a:ext cx="753994" cy="0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8254080" y="3559173"/>
              <a:ext cx="529702" cy="0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0625" b="75664" l="7578" r="92305"/>
                    </a14:imgEffect>
                  </a14:imgLayer>
                </a14:imgProps>
              </a:ext>
            </a:extLst>
          </a:blip>
          <a:srcRect l="10893" t="44677" r="12278" b="30370"/>
          <a:stretch/>
        </p:blipFill>
        <p:spPr>
          <a:xfrm>
            <a:off x="7614780" y="3211132"/>
            <a:ext cx="2540602" cy="8251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2" name="Rectangle 21"/>
          <p:cNvSpPr/>
          <p:nvPr/>
        </p:nvSpPr>
        <p:spPr>
          <a:xfrm>
            <a:off x="0" y="0"/>
            <a:ext cx="12142675" cy="348572"/>
          </a:xfrm>
          <a:prstGeom prst="rect">
            <a:avLst/>
          </a:prstGeom>
          <a:gradFill flip="none" rotWithShape="1">
            <a:gsLst>
              <a:gs pos="100000">
                <a:srgbClr val="07B2F0"/>
              </a:gs>
              <a:gs pos="68000">
                <a:srgbClr val="00CCFF"/>
              </a:gs>
              <a:gs pos="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024C45-0BBC-6CE9-CC96-77B194684985}"/>
              </a:ext>
            </a:extLst>
          </p:cNvPr>
          <p:cNvSpPr txBox="1"/>
          <p:nvPr/>
        </p:nvSpPr>
        <p:spPr>
          <a:xfrm>
            <a:off x="11472868" y="6491500"/>
            <a:ext cx="7143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3/10</a:t>
            </a:r>
          </a:p>
        </p:txBody>
      </p:sp>
    </p:spTree>
    <p:extLst>
      <p:ext uri="{BB962C8B-B14F-4D97-AF65-F5344CB8AC3E}">
        <p14:creationId xmlns:p14="http://schemas.microsoft.com/office/powerpoint/2010/main" val="2758681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1"/>
            </a:gs>
            <a:gs pos="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8734" y="376281"/>
            <a:ext cx="120022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anose="020B0604020202020204" charset="0"/>
              </a:rPr>
              <a:t>METHODOLOGY</a:t>
            </a:r>
            <a:r>
              <a:rPr lang="en-US" sz="6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anose="020B0604020202020204" charset="0"/>
              </a:rPr>
              <a:t> </a:t>
            </a:r>
            <a:r>
              <a:rPr lang="en-US" sz="4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anose="020B0604020202020204" charset="0"/>
              </a:rPr>
              <a:t>(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anose="020B0604020202020204" charset="0"/>
              </a:rPr>
              <a:t>Block Diagram)</a:t>
            </a:r>
            <a:r>
              <a:rPr 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anose="020B0604020202020204" charset="0"/>
              </a:rPr>
              <a:t> </a:t>
            </a:r>
            <a:endParaRPr lang="en-US" sz="6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ton" panose="020B060402020202020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8719886" y="1184119"/>
            <a:ext cx="3181000" cy="5443549"/>
            <a:chOff x="8857854" y="1289760"/>
            <a:chExt cx="3181000" cy="5443549"/>
          </a:xfrm>
        </p:grpSpPr>
        <p:pic>
          <p:nvPicPr>
            <p:cNvPr id="4" name="Picture 3" descr="C:\Users\Wasif Ali\AppData\Local\Packages\5319275A.WhatsAppDesktop_cv1g1gvanyjgm\TempState\87DB7E7138EDB20AEC02BB8CA2281DD0\WhatsApp Image 2025-04-27 at 12.22.21_8c8b3b61.jpg"/>
            <p:cNvPicPr/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3986" r="52638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326" t="-255" r="55040" b="31412"/>
            <a:stretch/>
          </p:blipFill>
          <p:spPr bwMode="auto">
            <a:xfrm>
              <a:off x="8857854" y="1289760"/>
              <a:ext cx="1449928" cy="37407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Picture 2" descr="C:\Users\Wasif Ali\AppData\Local\Packages\5319275A.WhatsAppDesktop_cv1g1gvanyjgm\TempState\87DB7E7138EDB20AEC02BB8CA2281DD0\WhatsApp Image 2025-04-27 at 12.22.21_8c8b3b61.jpg"/>
            <p:cNvPicPr/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3125" b="98750" l="40680" r="98476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874" r="1"/>
            <a:stretch/>
          </p:blipFill>
          <p:spPr bwMode="auto">
            <a:xfrm>
              <a:off x="10155382" y="1299610"/>
              <a:ext cx="1883472" cy="54336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TextBox 9"/>
          <p:cNvSpPr txBox="1"/>
          <p:nvPr/>
        </p:nvSpPr>
        <p:spPr>
          <a:xfrm>
            <a:off x="488734" y="1391944"/>
            <a:ext cx="58881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Open sauce" panose="020B0604020202020204" charset="0"/>
              </a:rPr>
              <a:t>Power Supply → Clock Generator (555 Timer)</a:t>
            </a:r>
          </a:p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Open sauce" panose="020B0604020202020204" charset="0"/>
              </a:rPr>
              <a:t>Start/Stop Control → Counter Chain (CD4026)</a:t>
            </a:r>
          </a:p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Open sauce" panose="020B0604020202020204" charset="0"/>
              </a:rPr>
              <a:t>7-Segment Displays</a:t>
            </a:r>
          </a:p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Open sauce" panose="020B0604020202020204" charset="0"/>
              </a:rPr>
              <a:t>Reset Logic</a:t>
            </a:r>
          </a:p>
        </p:txBody>
      </p:sp>
      <p:sp>
        <p:nvSpPr>
          <p:cNvPr id="5" name="AutoShape 2" descr="Digital Counter using 4026 IC in Proteus ISIS. - The Engineering Project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/>
          <a:srcRect l="1865" t="4196" r="1853" b="3375"/>
          <a:stretch/>
        </p:blipFill>
        <p:spPr>
          <a:xfrm>
            <a:off x="3202107" y="3729038"/>
            <a:ext cx="5432862" cy="289863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47FFB3A-691D-4711-BE63-2F62EC6569E2}"/>
              </a:ext>
            </a:extLst>
          </p:cNvPr>
          <p:cNvSpPr/>
          <p:nvPr/>
        </p:nvSpPr>
        <p:spPr>
          <a:xfrm>
            <a:off x="0" y="0"/>
            <a:ext cx="12142675" cy="348572"/>
          </a:xfrm>
          <a:prstGeom prst="rect">
            <a:avLst/>
          </a:prstGeom>
          <a:gradFill flip="none" rotWithShape="1">
            <a:gsLst>
              <a:gs pos="100000">
                <a:srgbClr val="07B2F0"/>
              </a:gs>
              <a:gs pos="68000">
                <a:srgbClr val="00CCFF"/>
              </a:gs>
              <a:gs pos="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7E20AC-93D4-BC4A-99FB-73D3E99F17C2}"/>
              </a:ext>
            </a:extLst>
          </p:cNvPr>
          <p:cNvSpPr txBox="1"/>
          <p:nvPr/>
        </p:nvSpPr>
        <p:spPr>
          <a:xfrm>
            <a:off x="11472868" y="6491500"/>
            <a:ext cx="7143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4/10</a:t>
            </a:r>
          </a:p>
        </p:txBody>
      </p:sp>
    </p:spTree>
    <p:extLst>
      <p:ext uri="{BB962C8B-B14F-4D97-AF65-F5344CB8AC3E}">
        <p14:creationId xmlns:p14="http://schemas.microsoft.com/office/powerpoint/2010/main" val="1794691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1"/>
            </a:gs>
            <a:gs pos="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3891" y="361344"/>
            <a:ext cx="89265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anose="020B0604020202020204" charset="0"/>
              </a:rPr>
              <a:t>SIMULATION</a:t>
            </a:r>
            <a:r>
              <a:rPr lang="en-US" sz="6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anose="020B0604020202020204" charset="0"/>
              </a:rPr>
              <a:t> </a:t>
            </a:r>
            <a:r>
              <a:rPr lang="en-US" sz="6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anose="020B0604020202020204" charset="0"/>
              </a:rPr>
              <a:t>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EC6820-632E-401F-9B3C-B4A70D007D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484" t="14375" b="8334"/>
          <a:stretch/>
        </p:blipFill>
        <p:spPr>
          <a:xfrm>
            <a:off x="433891" y="1389779"/>
            <a:ext cx="10881809" cy="534485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056E590-D8A0-4882-8BFE-3EF0175B1357}"/>
              </a:ext>
            </a:extLst>
          </p:cNvPr>
          <p:cNvSpPr/>
          <p:nvPr/>
        </p:nvSpPr>
        <p:spPr>
          <a:xfrm>
            <a:off x="0" y="0"/>
            <a:ext cx="12142675" cy="348572"/>
          </a:xfrm>
          <a:prstGeom prst="rect">
            <a:avLst/>
          </a:prstGeom>
          <a:gradFill flip="none" rotWithShape="1">
            <a:gsLst>
              <a:gs pos="100000">
                <a:srgbClr val="07B2F0"/>
              </a:gs>
              <a:gs pos="68000">
                <a:srgbClr val="00CCFF"/>
              </a:gs>
              <a:gs pos="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27B75B-8A52-5845-05BF-EE4E7CF2F17D}"/>
              </a:ext>
            </a:extLst>
          </p:cNvPr>
          <p:cNvSpPr txBox="1"/>
          <p:nvPr/>
        </p:nvSpPr>
        <p:spPr>
          <a:xfrm>
            <a:off x="11472868" y="6491500"/>
            <a:ext cx="7143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5/10</a:t>
            </a:r>
          </a:p>
        </p:txBody>
      </p:sp>
    </p:spTree>
    <p:extLst>
      <p:ext uri="{BB962C8B-B14F-4D97-AF65-F5344CB8AC3E}">
        <p14:creationId xmlns:p14="http://schemas.microsoft.com/office/powerpoint/2010/main" val="1453734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1"/>
            </a:gs>
            <a:gs pos="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3664" y="348572"/>
            <a:ext cx="89265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anose="020B0604020202020204" charset="0"/>
              </a:rPr>
              <a:t>SIMULATION WORKING</a:t>
            </a:r>
          </a:p>
        </p:txBody>
      </p:sp>
      <p:pic>
        <p:nvPicPr>
          <p:cNvPr id="4" name="WhatsApp Video 2025-05-11 at 23.17.26_968d6e44">
            <a:hlinkClick r:id="" action="ppaction://media"/>
            <a:extLst>
              <a:ext uri="{FF2B5EF4-FFF2-40B4-BE49-F238E27FC236}">
                <a16:creationId xmlns:a16="http://schemas.microsoft.com/office/drawing/2014/main" id="{D4B11588-600A-4C81-9B01-8CBF34762D5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11267" t="12731"/>
          <a:stretch/>
        </p:blipFill>
        <p:spPr>
          <a:xfrm>
            <a:off x="633664" y="1306695"/>
            <a:ext cx="10924672" cy="555130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AC293B2-E02A-4C92-98C6-14D45D8353AA}"/>
              </a:ext>
            </a:extLst>
          </p:cNvPr>
          <p:cNvSpPr/>
          <p:nvPr/>
        </p:nvSpPr>
        <p:spPr>
          <a:xfrm>
            <a:off x="0" y="0"/>
            <a:ext cx="12142675" cy="348572"/>
          </a:xfrm>
          <a:prstGeom prst="rect">
            <a:avLst/>
          </a:prstGeom>
          <a:gradFill flip="none" rotWithShape="1">
            <a:gsLst>
              <a:gs pos="100000">
                <a:srgbClr val="07B2F0"/>
              </a:gs>
              <a:gs pos="68000">
                <a:srgbClr val="00CCFF"/>
              </a:gs>
              <a:gs pos="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3D9240-2029-8F8E-CC0F-180EA2C3522D}"/>
              </a:ext>
            </a:extLst>
          </p:cNvPr>
          <p:cNvSpPr txBox="1"/>
          <p:nvPr/>
        </p:nvSpPr>
        <p:spPr>
          <a:xfrm>
            <a:off x="11472868" y="6491500"/>
            <a:ext cx="7143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6/10</a:t>
            </a:r>
          </a:p>
        </p:txBody>
      </p:sp>
    </p:spTree>
    <p:extLst>
      <p:ext uri="{BB962C8B-B14F-4D97-AF65-F5344CB8AC3E}">
        <p14:creationId xmlns:p14="http://schemas.microsoft.com/office/powerpoint/2010/main" val="145004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63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1"/>
            </a:gs>
            <a:gs pos="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3777" y="320865"/>
            <a:ext cx="84087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anose="020B0604020202020204" charset="0"/>
              </a:rPr>
              <a:t>FINAL HARDWARE RESULT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821E60-9A34-4C3C-B346-E2BE4402FB6C}"/>
              </a:ext>
            </a:extLst>
          </p:cNvPr>
          <p:cNvSpPr/>
          <p:nvPr/>
        </p:nvSpPr>
        <p:spPr>
          <a:xfrm>
            <a:off x="0" y="0"/>
            <a:ext cx="12142675" cy="348572"/>
          </a:xfrm>
          <a:prstGeom prst="rect">
            <a:avLst/>
          </a:prstGeom>
          <a:gradFill flip="none" rotWithShape="1">
            <a:gsLst>
              <a:gs pos="100000">
                <a:srgbClr val="07B2F0"/>
              </a:gs>
              <a:gs pos="68000">
                <a:srgbClr val="00CCFF"/>
              </a:gs>
              <a:gs pos="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4EEFD76-CF44-906F-94D1-D51251901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1714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6225BC2-69DD-211E-225E-232957CE0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113" y="1090306"/>
            <a:ext cx="8171721" cy="55989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F0C938-C6FA-58D6-E755-7C8BED67792D}"/>
              </a:ext>
            </a:extLst>
          </p:cNvPr>
          <p:cNvSpPr txBox="1"/>
          <p:nvPr/>
        </p:nvSpPr>
        <p:spPr>
          <a:xfrm>
            <a:off x="11472868" y="6491500"/>
            <a:ext cx="7143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7/10</a:t>
            </a:r>
          </a:p>
        </p:txBody>
      </p:sp>
    </p:spTree>
    <p:extLst>
      <p:ext uri="{BB962C8B-B14F-4D97-AF65-F5344CB8AC3E}">
        <p14:creationId xmlns:p14="http://schemas.microsoft.com/office/powerpoint/2010/main" val="1783264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1"/>
            </a:gs>
            <a:gs pos="0">
              <a:srgbClr val="00B0F0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2F005A-4889-13AE-EBDA-88616000C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09CC14-B5AC-D01A-E1DE-142542E205EC}"/>
              </a:ext>
            </a:extLst>
          </p:cNvPr>
          <p:cNvSpPr txBox="1"/>
          <p:nvPr/>
        </p:nvSpPr>
        <p:spPr>
          <a:xfrm>
            <a:off x="563777" y="320865"/>
            <a:ext cx="65020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anose="020B0604020202020204" charset="0"/>
              </a:rPr>
              <a:t>COST ANALYSIS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97A73E-6F83-C068-F5C4-83C70E07F7E0}"/>
              </a:ext>
            </a:extLst>
          </p:cNvPr>
          <p:cNvGraphicFramePr>
            <a:graphicFrameLocks noGrp="1"/>
          </p:cNvGraphicFramePr>
          <p:nvPr/>
        </p:nvGraphicFramePr>
        <p:xfrm>
          <a:off x="563777" y="1447364"/>
          <a:ext cx="10550236" cy="5119777"/>
        </p:xfrm>
        <a:graphic>
          <a:graphicData uri="http://schemas.openxmlformats.org/drawingml/2006/table">
            <a:tbl>
              <a:tblPr/>
              <a:tblGrid>
                <a:gridCol w="2637559">
                  <a:extLst>
                    <a:ext uri="{9D8B030D-6E8A-4147-A177-3AD203B41FA5}">
                      <a16:colId xmlns:a16="http://schemas.microsoft.com/office/drawing/2014/main" val="2906650681"/>
                    </a:ext>
                  </a:extLst>
                </a:gridCol>
                <a:gridCol w="2637559">
                  <a:extLst>
                    <a:ext uri="{9D8B030D-6E8A-4147-A177-3AD203B41FA5}">
                      <a16:colId xmlns:a16="http://schemas.microsoft.com/office/drawing/2014/main" val="345843201"/>
                    </a:ext>
                  </a:extLst>
                </a:gridCol>
                <a:gridCol w="2637559">
                  <a:extLst>
                    <a:ext uri="{9D8B030D-6E8A-4147-A177-3AD203B41FA5}">
                      <a16:colId xmlns:a16="http://schemas.microsoft.com/office/drawing/2014/main" val="2688105590"/>
                    </a:ext>
                  </a:extLst>
                </a:gridCol>
                <a:gridCol w="2637559">
                  <a:extLst>
                    <a:ext uri="{9D8B030D-6E8A-4147-A177-3AD203B41FA5}">
                      <a16:colId xmlns:a16="http://schemas.microsoft.com/office/drawing/2014/main" val="1303181463"/>
                    </a:ext>
                  </a:extLst>
                </a:gridCol>
              </a:tblGrid>
              <a:tr h="37547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b="1" dirty="0">
                          <a:latin typeface="Open sauce" panose="020B0604020202020204" charset="0"/>
                        </a:rPr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b="1" dirty="0">
                          <a:latin typeface="Open sauce" panose="020B0604020202020204" charset="0"/>
                        </a:rPr>
                        <a:t>Quantity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b="1" dirty="0">
                          <a:latin typeface="Open sauce" panose="020B0604020202020204" charset="0"/>
                        </a:rPr>
                        <a:t>Unit Cost (PKR)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b="1" dirty="0">
                          <a:latin typeface="Open sauce" panose="020B0604020202020204" charset="0"/>
                        </a:rPr>
                        <a:t>Total (PKR)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924432"/>
                  </a:ext>
                </a:extLst>
              </a:tr>
              <a:tr h="471138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Open sauce" panose="020B0604020202020204" charset="0"/>
                        </a:rPr>
                        <a:t>CD4026 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Open sauce" panose="020B060402020202020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Open sauce" panose="020B0604020202020204" charset="0"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Open sauce" panose="020B0604020202020204" charset="0"/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3409005"/>
                  </a:ext>
                </a:extLst>
              </a:tr>
              <a:tr h="498764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Open sauce" panose="020B0604020202020204" charset="0"/>
                        </a:rPr>
                        <a:t>555 Timer 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Open sauce" panose="020B060402020202020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Open sauce" panose="020B0604020202020204" charset="0"/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Open sauce" panose="020B0604020202020204" charset="0"/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6543193"/>
                  </a:ext>
                </a:extLst>
              </a:tr>
              <a:tr h="554182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Open sauce" panose="020B0604020202020204" charset="0"/>
                        </a:rPr>
                        <a:t>9V Battery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Open sauce" panose="020B060402020202020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Open sauce" panose="020B0604020202020204" charset="0"/>
                        </a:rPr>
                        <a:t>270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Open sauce" panose="020B0604020202020204" charset="0"/>
                        </a:rPr>
                        <a:t>270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774596"/>
                  </a:ext>
                </a:extLst>
              </a:tr>
              <a:tr h="484909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Open sauce" panose="020B0604020202020204" charset="0"/>
                        </a:rPr>
                        <a:t>Battery Clip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Open sauce" panose="020B060402020202020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Open sauce" panose="020B0604020202020204" charset="0"/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Open sauce" panose="020B0604020202020204" charset="0"/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072377"/>
                  </a:ext>
                </a:extLst>
              </a:tr>
              <a:tr h="512618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l-GR" sz="1600" dirty="0"/>
                        <a:t>220Ω </a:t>
                      </a:r>
                      <a:r>
                        <a:rPr lang="en-US" sz="1600" dirty="0">
                          <a:latin typeface="Open sauce" panose="020B0604020202020204" charset="0"/>
                        </a:rPr>
                        <a:t>Resistors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Open sauce" panose="020B0604020202020204" charset="0"/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Open sauce" panose="020B060402020202020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Open sauce" panose="020B0604020202020204" charset="0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1173492"/>
                  </a:ext>
                </a:extLst>
              </a:tr>
              <a:tr h="324550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Open sauce" panose="020B0604020202020204" charset="0"/>
                        </a:rPr>
                        <a:t>Capacitors (470µF &amp; 47pF)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Open sauce" panose="020B0604020202020204" charset="0"/>
                        </a:rPr>
                        <a:t>1 each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Open sauce" panose="020B0604020202020204" charset="0"/>
                        </a:rPr>
                        <a:t>20 &amp; 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Open sauce" panose="020B0604020202020204" charset="0"/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326797"/>
                  </a:ext>
                </a:extLst>
              </a:tr>
              <a:tr h="375475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Open sauce" panose="020B0604020202020204" charset="0"/>
                        </a:rPr>
                        <a:t>Breadboards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Open sauce" panose="020B060402020202020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Open sauce" panose="020B0604020202020204" charset="0"/>
                        </a:rPr>
                        <a:t>270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Open sauce" panose="020B0604020202020204" charset="0"/>
                        </a:rPr>
                        <a:t>810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8579993"/>
                  </a:ext>
                </a:extLst>
              </a:tr>
              <a:tr h="375475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Open sauce" panose="020B0604020202020204" charset="0"/>
                        </a:rPr>
                        <a:t>Push Buttons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Open sauce" panose="020B060402020202020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Open sauce" panose="020B0604020202020204" charset="0"/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Open sauce" panose="020B0604020202020204" charset="0"/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9665820"/>
                  </a:ext>
                </a:extLst>
              </a:tr>
              <a:tr h="375475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latin typeface="Open sauce" panose="020B0604020202020204" charset="0"/>
                        </a:rPr>
                        <a:t>Jumper Wires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Open sauce" panose="020B0604020202020204" charset="0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Open sauce" panose="020B0604020202020204" charset="0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Open sauce" panose="020B0604020202020204" charset="0"/>
                        </a:rPr>
                        <a:t>350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0546511"/>
                  </a:ext>
                </a:extLst>
              </a:tr>
              <a:tr h="375475"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600" b="1" dirty="0">
                          <a:latin typeface="Open sauce" panose="020B0604020202020204" charset="0"/>
                        </a:rPr>
                        <a:t>Total</a:t>
                      </a:r>
                      <a:endParaRPr lang="en-US" sz="1600" dirty="0">
                        <a:latin typeface="Open sauce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Open sauce" panose="020B0604020202020204" charset="0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Open sauce" panose="020B0604020202020204" charset="0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latin typeface="Open sauce" panose="020B0604020202020204" charset="0"/>
                        </a:rPr>
                        <a:t>2,200 PKR</a:t>
                      </a:r>
                      <a:endParaRPr lang="en-US" sz="1600" dirty="0">
                        <a:latin typeface="Open sauce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9596052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A66726A-1047-A93E-F2BE-1FDBA686CDBA}"/>
              </a:ext>
            </a:extLst>
          </p:cNvPr>
          <p:cNvSpPr/>
          <p:nvPr/>
        </p:nvSpPr>
        <p:spPr>
          <a:xfrm>
            <a:off x="0" y="0"/>
            <a:ext cx="12142675" cy="348572"/>
          </a:xfrm>
          <a:prstGeom prst="rect">
            <a:avLst/>
          </a:prstGeom>
          <a:gradFill flip="none" rotWithShape="1">
            <a:gsLst>
              <a:gs pos="100000">
                <a:srgbClr val="07B2F0"/>
              </a:gs>
              <a:gs pos="68000">
                <a:srgbClr val="00CCFF"/>
              </a:gs>
              <a:gs pos="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9BE2A-0688-46C6-BC1A-7C6D8EF7C18B}"/>
              </a:ext>
            </a:extLst>
          </p:cNvPr>
          <p:cNvSpPr txBox="1"/>
          <p:nvPr/>
        </p:nvSpPr>
        <p:spPr>
          <a:xfrm>
            <a:off x="11472868" y="6491500"/>
            <a:ext cx="7143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8/10</a:t>
            </a:r>
          </a:p>
        </p:txBody>
      </p:sp>
    </p:spTree>
    <p:extLst>
      <p:ext uri="{BB962C8B-B14F-4D97-AF65-F5344CB8AC3E}">
        <p14:creationId xmlns:p14="http://schemas.microsoft.com/office/powerpoint/2010/main" val="3964409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1"/>
            </a:gs>
            <a:gs pos="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8468" y="390135"/>
            <a:ext cx="135401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itchFamily="2" charset="0"/>
              </a:rPr>
              <a:t>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8468" y="1405798"/>
            <a:ext cx="7762805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Open sauce" panose="020B0604020202020204" charset="0"/>
              </a:rPr>
              <a:t>Lab experiments </a:t>
            </a:r>
            <a:r>
              <a:rPr lang="en-US" sz="2000" dirty="0">
                <a:latin typeface="Open sauce" panose="020B0604020202020204" charset="0"/>
              </a:rPr>
              <a:t>for measuring precise durations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Open sauce" panose="020B0604020202020204" charset="0"/>
              </a:rPr>
              <a:t>Can be applied in </a:t>
            </a:r>
            <a:r>
              <a:rPr lang="en-US" sz="2000" b="1" dirty="0">
                <a:latin typeface="Open sauce" panose="020B0604020202020204" charset="0"/>
              </a:rPr>
              <a:t>sports timing</a:t>
            </a:r>
            <a:r>
              <a:rPr lang="en-US" sz="2000" dirty="0">
                <a:latin typeface="Open sauce" panose="020B0604020202020204" charset="0"/>
              </a:rPr>
              <a:t> (e.g., races, drills)</a:t>
            </a:r>
            <a:endParaRPr lang="en-US" altLang="en-US" sz="2000" dirty="0">
              <a:latin typeface="Open sauce" panose="020B0604020202020204" charset="0"/>
            </a:endParaRP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Open sauce" panose="020B0604020202020204" charset="0"/>
              </a:rPr>
              <a:t>Base for real-time clocks or countdown systems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Open sauce" panose="020B0604020202020204" charset="0"/>
              </a:rPr>
              <a:t>Educational tool to teach digital logic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Open sauce" panose="020B0604020202020204" charset="0"/>
              </a:rPr>
              <a:t>Can be extended with microcontrollers or </a:t>
            </a:r>
            <a:r>
              <a:rPr lang="en-US" altLang="en-US" sz="2000" dirty="0" err="1">
                <a:latin typeface="Open sauce" panose="020B0604020202020204" charset="0"/>
              </a:rPr>
              <a:t>IoT</a:t>
            </a:r>
            <a:r>
              <a:rPr lang="en-US" altLang="en-US" sz="2000" dirty="0">
                <a:latin typeface="Open sauce" panose="020B0604020202020204" charset="0"/>
              </a:rPr>
              <a:t> integration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Open sauce" panose="020B0604020202020204" charset="0"/>
              </a:rPr>
              <a:t>Can be extended to </a:t>
            </a:r>
            <a:r>
              <a:rPr lang="en-US" sz="2000" b="1" dirty="0">
                <a:latin typeface="Open sauce" panose="020B0604020202020204" charset="0"/>
              </a:rPr>
              <a:t>track hours</a:t>
            </a:r>
            <a:r>
              <a:rPr lang="en-US" sz="2000" dirty="0">
                <a:latin typeface="Open sauce" panose="020B0604020202020204" charset="0"/>
              </a:rPr>
              <a:t> by adding more counters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Open sauce" panose="020B0604020202020204" charset="0"/>
              </a:rPr>
              <a:t>Acts as a base for </a:t>
            </a:r>
            <a:r>
              <a:rPr lang="en-US" sz="2000" b="1" dirty="0">
                <a:latin typeface="Open sauce" panose="020B0604020202020204" charset="0"/>
              </a:rPr>
              <a:t>countdown timers or real-time clocks</a:t>
            </a:r>
            <a:endParaRPr lang="en-US" altLang="en-US" sz="2000" dirty="0">
              <a:latin typeface="Open sauce" panose="020B0604020202020204" charset="0"/>
            </a:endParaRPr>
          </a:p>
          <a:p>
            <a:pPr>
              <a:lnSpc>
                <a:spcPct val="200000"/>
              </a:lnSpc>
            </a:pPr>
            <a:endParaRPr lang="en-US" dirty="0">
              <a:latin typeface="Open sauce" panose="020B060402020202020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0E3D0B-7B67-442B-B5A5-BBDC828BB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4822" y="432999"/>
            <a:ext cx="3751428" cy="21101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E44EDD-A05D-45C0-99E5-E7D47384F1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36"/>
          <a:stretch/>
        </p:blipFill>
        <p:spPr>
          <a:xfrm>
            <a:off x="8191500" y="3320141"/>
            <a:ext cx="3714750" cy="24606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1F9131-063D-4BB1-8818-8B801F098AE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0" r="97750">
                        <a14:foregroundMark x1="4500" y1="37750" x2="0" y2="59750"/>
                        <a14:foregroundMark x1="3750" y1="38000" x2="16750" y2="37250"/>
                        <a14:foregroundMark x1="16750" y1="37250" x2="85000" y2="38000"/>
                        <a14:foregroundMark x1="85000" y1="38000" x2="93250" y2="36500"/>
                        <a14:foregroundMark x1="91750" y1="36250" x2="97750" y2="60250"/>
                        <a14:foregroundMark x1="1000" y1="62000" x2="78000" y2="62000"/>
                        <a14:foregroundMark x1="78000" y1="62000" x2="96750" y2="61250"/>
                        <a14:foregroundMark x1="6250" y1="37750" x2="24000" y2="35000"/>
                        <a14:foregroundMark x1="24000" y1="35000" x2="95000" y2="35750"/>
                        <a14:foregroundMark x1="95000" y1="35750" x2="95500" y2="36250"/>
                        <a14:foregroundMark x1="14250" y1="49250" x2="13500" y2="55750"/>
                        <a14:foregroundMark x1="14500" y1="50750" x2="8250" y2="56500"/>
                        <a14:foregroundMark x1="7500" y1="52000" x2="66750" y2="50000"/>
                        <a14:foregroundMark x1="4500" y1="51500" x2="8500" y2="52000"/>
                        <a14:foregroundMark x1="10500" y1="51250" x2="53250" y2="46000"/>
                        <a14:foregroundMark x1="53250" y1="46000" x2="80000" y2="46000"/>
                        <a14:foregroundMark x1="80000" y1="46000" x2="91750" y2="43750"/>
                        <a14:foregroundMark x1="17250" y1="55000" x2="45500" y2="52250"/>
                        <a14:foregroundMark x1="45500" y1="52250" x2="86250" y2="54250"/>
                        <a14:foregroundMark x1="86250" y1="54250" x2="91750" y2="53000"/>
                        <a14:foregroundMark x1="24750" y1="58250" x2="26500" y2="53000"/>
                        <a14:foregroundMark x1="40750" y1="59000" x2="40750" y2="48500"/>
                        <a14:foregroundMark x1="55500" y1="61750" x2="55500" y2="53750"/>
                        <a14:foregroundMark x1="70500" y1="58750" x2="71250" y2="55250"/>
                      </a14:backgroundRemoval>
                    </a14:imgEffect>
                  </a14:imgLayer>
                </a14:imgProps>
              </a:ext>
            </a:extLst>
          </a:blip>
          <a:srcRect t="38375" b="39875"/>
          <a:stretch/>
        </p:blipFill>
        <p:spPr>
          <a:xfrm>
            <a:off x="1631927" y="6015039"/>
            <a:ext cx="4072759" cy="885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9E1ED6-977F-D2A9-601A-28D49E57A998}"/>
              </a:ext>
            </a:extLst>
          </p:cNvPr>
          <p:cNvSpPr txBox="1"/>
          <p:nvPr/>
        </p:nvSpPr>
        <p:spPr>
          <a:xfrm>
            <a:off x="11472868" y="6491500"/>
            <a:ext cx="7143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9/10</a:t>
            </a:r>
          </a:p>
        </p:txBody>
      </p:sp>
    </p:spTree>
    <p:extLst>
      <p:ext uri="{BB962C8B-B14F-4D97-AF65-F5344CB8AC3E}">
        <p14:creationId xmlns:p14="http://schemas.microsoft.com/office/powerpoint/2010/main" val="1997528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1"/>
            </a:gs>
            <a:gs pos="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8359" y="431699"/>
            <a:ext cx="135401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anose="020B0604020202020204" charset="0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359" y="1355029"/>
            <a:ext cx="8368145" cy="3045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Open sauce" panose="020B0604020202020204" charset="0"/>
              </a:rPr>
              <a:t>Designed a working digital stopwatch using logic gates and ICs</a:t>
            </a:r>
          </a:p>
          <a:p>
            <a:pPr marL="285750" lvl="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Open sauce" panose="020B0604020202020204" charset="0"/>
              </a:rPr>
              <a:t>Reinforced understanding of timing, sequencing, and digital display</a:t>
            </a:r>
          </a:p>
          <a:p>
            <a:pPr marL="285750" lvl="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Open sauce" panose="020B0604020202020204" charset="0"/>
              </a:rPr>
              <a:t>Hardware and simulation stages teach real-world circuit behavior</a:t>
            </a:r>
          </a:p>
          <a:p>
            <a:pPr marL="285750" lvl="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Open sauce" panose="020B0604020202020204" charset="0"/>
              </a:rPr>
              <a:t>Ready for further enhancement in future projects</a:t>
            </a:r>
          </a:p>
        </p:txBody>
      </p:sp>
      <p:sp>
        <p:nvSpPr>
          <p:cNvPr id="3" name="AutoShape 2" descr="2+ Thousand Check Mark Clock Logo Royalty-Free Images, Stock Photos &amp;  Pictures | Shutterstock">
            <a:extLst>
              <a:ext uri="{FF2B5EF4-FFF2-40B4-BE49-F238E27FC236}">
                <a16:creationId xmlns:a16="http://schemas.microsoft.com/office/drawing/2014/main" id="{BFDC2B1B-E553-461E-B413-BD8EE6A8F7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19873D-4F5F-4A8F-B2BC-FABCD84590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38500" y1="52333" x2="47333" y2="56333"/>
                        <a14:foregroundMark x1="47333" y1="56333" x2="57000" y2="56667"/>
                        <a14:foregroundMark x1="57000" y1="56667" x2="65500" y2="43333"/>
                        <a14:foregroundMark x1="39667" y1="53500" x2="42667" y2="56833"/>
                        <a14:foregroundMark x1="39167" y1="48000" x2="39667" y2="47833"/>
                        <a14:foregroundMark x1="35000" y1="52500" x2="34667" y2="53000"/>
                        <a14:foregroundMark x1="36167" y1="51000" x2="36167" y2="51000"/>
                        <a14:foregroundMark x1="35667" y1="52000" x2="35667" y2="52000"/>
                        <a14:foregroundMark x1="39667" y1="57333" x2="41000" y2="59000"/>
                        <a14:foregroundMark x1="39167" y1="57500" x2="40000" y2="58500"/>
                        <a14:foregroundMark x1="40500" y1="57500" x2="45097" y2="63748"/>
                        <a14:foregroundMark x1="46000" y1="60500" x2="46000" y2="60500"/>
                        <a14:foregroundMark x1="40500" y1="40500" x2="40500" y2="40500"/>
                        <a14:foregroundMark x1="50167" y1="37833" x2="50167" y2="37833"/>
                        <a14:foregroundMark x1="59500" y1="40333" x2="59500" y2="40333"/>
                        <a14:foregroundMark x1="59500" y1="40333" x2="59500" y2="40333"/>
                        <a14:foregroundMark x1="70000" y1="56833" x2="70000" y2="56833"/>
                        <a14:foregroundMark x1="66167" y1="65833" x2="66167" y2="65833"/>
                        <a14:foregroundMark x1="59167" y1="72500" x2="59167" y2="72500"/>
                        <a14:foregroundMark x1="50167" y1="74500" x2="50167" y2="74500"/>
                        <a14:foregroundMark x1="41167" y1="72500" x2="41167" y2="72500"/>
                        <a14:foregroundMark x1="34000" y1="66000" x2="34000" y2="66000"/>
                        <a14:foregroundMark x1="32000" y1="56833" x2="32000" y2="56833"/>
                        <a14:foregroundMark x1="34500" y1="46833" x2="34500" y2="46833"/>
                        <a14:foregroundMark x1="33500" y1="47500" x2="33500" y2="47500"/>
                        <a14:foregroundMark x1="34167" y1="47500" x2="34167" y2="47500"/>
                        <a14:foregroundMark x1="33500" y1="42833" x2="33500" y2="42833"/>
                        <a14:backgroundMark x1="46000" y1="65833" x2="46000" y2="65833"/>
                        <a14:backgroundMark x1="46167" y1="65833" x2="47000" y2="66833"/>
                        <a14:backgroundMark x1="45167" y1="65000" x2="46000" y2="65500"/>
                        <a14:backgroundMark x1="44167" y1="64833" x2="46500" y2="65833"/>
                        <a14:backgroundMark x1="34167" y1="46500" x2="34167" y2="46500"/>
                        <a14:backgroundMark x1="34667" y1="46500" x2="34667" y2="46500"/>
                        <a14:backgroundMark x1="34167" y1="47000" x2="34167" y2="47000"/>
                        <a14:backgroundMark x1="35167" y1="47333" x2="35500" y2="47333"/>
                      </a14:backgroundRemoval>
                    </a14:imgEffect>
                  </a14:imgLayer>
                </a14:imgProps>
              </a:ext>
            </a:extLst>
          </a:blip>
          <a:srcRect l="13793" t="6883" r="16279" b="12881"/>
          <a:stretch/>
        </p:blipFill>
        <p:spPr>
          <a:xfrm>
            <a:off x="6248400" y="103218"/>
            <a:ext cx="1188572" cy="136377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BD5CCD8-BE05-48B2-9CA6-48B4576822BE}"/>
              </a:ext>
            </a:extLst>
          </p:cNvPr>
          <p:cNvGrpSpPr/>
          <p:nvPr/>
        </p:nvGrpSpPr>
        <p:grpSpPr>
          <a:xfrm>
            <a:off x="8906905" y="1097657"/>
            <a:ext cx="2553928" cy="4025287"/>
            <a:chOff x="8876072" y="557213"/>
            <a:chExt cx="2553928" cy="402528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7687426-B1CA-4BC0-AE28-4AD710D957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9697" r="90758">
                          <a14:foregroundMark x1="9848" y1="29394" x2="9848" y2="29394"/>
                          <a14:foregroundMark x1="10152" y1="28182" x2="10152" y2="28182"/>
                          <a14:foregroundMark x1="89697" y1="41818" x2="89697" y2="41818"/>
                          <a14:foregroundMark x1="90152" y1="40909" x2="90152" y2="40909"/>
                          <a14:foregroundMark x1="90758" y1="40909" x2="90758" y2="40909"/>
                          <a14:foregroundMark x1="90758" y1="50758" x2="90758" y2="50758"/>
                        </a14:backgroundRemoval>
                      </a14:imgEffect>
                    </a14:imgLayer>
                  </a14:imgProps>
                </a:ext>
              </a:extLst>
            </a:blip>
            <a:srcRect l="6019" t="20682" r="6515" b="20227"/>
            <a:stretch/>
          </p:blipFill>
          <p:spPr>
            <a:xfrm>
              <a:off x="8876072" y="865929"/>
              <a:ext cx="2553928" cy="172539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2C2EA1B-8ACC-4A34-94EC-898A60689E56}"/>
                </a:ext>
              </a:extLst>
            </p:cNvPr>
            <p:cNvSpPr txBox="1"/>
            <p:nvPr/>
          </p:nvSpPr>
          <p:spPr>
            <a:xfrm>
              <a:off x="8876504" y="557213"/>
              <a:ext cx="25534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Open sauce" panose="020B0604020202020204"/>
                </a:rPr>
                <a:t>BEFORE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DB39670-91E3-40F1-BAB0-7BA4F2C7ABA9}"/>
                </a:ext>
              </a:extLst>
            </p:cNvPr>
            <p:cNvSpPr txBox="1"/>
            <p:nvPr/>
          </p:nvSpPr>
          <p:spPr>
            <a:xfrm>
              <a:off x="8876072" y="2563774"/>
              <a:ext cx="25534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Open sauce" panose="020B0604020202020204"/>
                </a:rPr>
                <a:t>AFTER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51B8B8D-0E50-43FC-A786-56D2EC3E63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4410" t="7018"/>
            <a:stretch/>
          </p:blipFill>
          <p:spPr>
            <a:xfrm rot="16200000">
              <a:off x="9418217" y="2633819"/>
              <a:ext cx="1544678" cy="235268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15" name="AutoShape 12" descr="Hardware Icon PNG Transparent Background, Free Download #2888 - FreeIconsPNG">
            <a:extLst>
              <a:ext uri="{FF2B5EF4-FFF2-40B4-BE49-F238E27FC236}">
                <a16:creationId xmlns:a16="http://schemas.microsoft.com/office/drawing/2014/main" id="{34799598-65FD-41A4-B2FE-7B475331C4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DA9297C-E4C0-4594-8EC3-9BE2E335C270}"/>
              </a:ext>
            </a:extLst>
          </p:cNvPr>
          <p:cNvGrpSpPr/>
          <p:nvPr/>
        </p:nvGrpSpPr>
        <p:grpSpPr>
          <a:xfrm>
            <a:off x="900244" y="4666821"/>
            <a:ext cx="6455758" cy="1655228"/>
            <a:chOff x="508359" y="4777166"/>
            <a:chExt cx="6455758" cy="1655228"/>
          </a:xfrm>
        </p:grpSpPr>
        <p:pic>
          <p:nvPicPr>
            <p:cNvPr id="1030" name="Picture 6" descr="Idea Images - Free Download on Freepik">
              <a:extLst>
                <a:ext uri="{FF2B5EF4-FFF2-40B4-BE49-F238E27FC236}">
                  <a16:creationId xmlns:a16="http://schemas.microsoft.com/office/drawing/2014/main" id="{0C53D755-D57B-4777-80D9-ED63C5E99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21040" b="77778" l="67568" r="96216">
                          <a14:foregroundMark x1="75541" y1="38534" x2="75405" y2="49409"/>
                          <a14:foregroundMark x1="75405" y1="37116" x2="75811" y2="39007"/>
                          <a14:foregroundMark x1="77703" y1="29787" x2="80541" y2="27896"/>
                          <a14:foregroundMark x1="80541" y1="27896" x2="80676" y2="27896"/>
                          <a14:foregroundMark x1="80676" y1="27896" x2="85811" y2="30733"/>
                          <a14:foregroundMark x1="85811" y1="30733" x2="86351" y2="31678"/>
                          <a14:foregroundMark x1="81892" y1="27896" x2="84459" y2="29078"/>
                          <a14:foregroundMark x1="84459" y1="29078" x2="85676" y2="30496"/>
                          <a14:foregroundMark x1="85000" y1="29787" x2="85135" y2="30024"/>
                          <a14:foregroundMark x1="77838" y1="71395" x2="80946" y2="71631"/>
                          <a14:foregroundMark x1="80946" y1="71631" x2="82973" y2="71395"/>
                          <a14:foregroundMark x1="77568" y1="74941" x2="80541" y2="74941"/>
                          <a14:foregroundMark x1="80541" y1="74941" x2="83378" y2="74704"/>
                          <a14:foregroundMark x1="83378" y1="74704" x2="83378" y2="74704"/>
                          <a14:foregroundMark x1="79595" y1="77541" x2="81622" y2="77541"/>
                          <a14:foregroundMark x1="91081" y1="35934" x2="92568" y2="35225"/>
                          <a14:foregroundMark x1="72838" y1="57447" x2="71351" y2="59811"/>
                          <a14:foregroundMark x1="70270" y1="51300" x2="68514" y2="52246"/>
                          <a14:foregroundMark x1="67568" y1="43499" x2="69459" y2="43735"/>
                          <a14:foregroundMark x1="68378" y1="34752" x2="70135" y2="35934"/>
                          <a14:foregroundMark x1="71351" y1="27187" x2="72568" y2="30024"/>
                          <a14:foregroundMark x1="75811" y1="22695" x2="76351" y2="25532"/>
                          <a14:foregroundMark x1="80405" y1="21040" x2="80405" y2="23641"/>
                          <a14:foregroundMark x1="85676" y1="22695" x2="85135" y2="25296"/>
                          <a14:foregroundMark x1="89865" y1="27896" x2="88514" y2="29787"/>
                          <a14:foregroundMark x1="91757" y1="43262" x2="93649" y2="43262"/>
                          <a14:foregroundMark x1="90946" y1="50827" x2="92973" y2="52719"/>
                          <a14:foregroundMark x1="88378" y1="57447" x2="89865" y2="5981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630" t="15762" b="15163"/>
            <a:stretch/>
          </p:blipFill>
          <p:spPr bwMode="auto">
            <a:xfrm>
              <a:off x="508359" y="4777166"/>
              <a:ext cx="921684" cy="10289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10CD4C55-1B39-4655-86E0-F71E9C751F51}"/>
                </a:ext>
              </a:extLst>
            </p:cNvPr>
            <p:cNvSpPr/>
            <p:nvPr/>
          </p:nvSpPr>
          <p:spPr>
            <a:xfrm>
              <a:off x="1430043" y="5239710"/>
              <a:ext cx="414338" cy="211353"/>
            </a:xfrm>
            <a:prstGeom prst="rightArrow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2" name="Picture 8" descr="Check Mark PNG, Vector, PSD, and Clipart With Transparent Background for  Free Download | Pngtree">
              <a:extLst>
                <a:ext uri="{FF2B5EF4-FFF2-40B4-BE49-F238E27FC236}">
                  <a16:creationId xmlns:a16="http://schemas.microsoft.com/office/drawing/2014/main" id="{E4A2C4F8-9EE9-427D-9612-6B6865B1C3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38000" y1="46000" x2="45500" y2="5683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734" y="5877460"/>
              <a:ext cx="554934" cy="5549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Engineering Tools, Split Key and Triangular Ruler Flat Color Icon. Stock  Vector - Illustration of assembly, dotted: 162098872">
              <a:extLst>
                <a:ext uri="{FF2B5EF4-FFF2-40B4-BE49-F238E27FC236}">
                  <a16:creationId xmlns:a16="http://schemas.microsoft.com/office/drawing/2014/main" id="{875751A0-608B-478F-BD3A-D27F43802A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 cstate="print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86" t="16667" r="10978" b="17638"/>
            <a:stretch/>
          </p:blipFill>
          <p:spPr bwMode="auto">
            <a:xfrm>
              <a:off x="1890885" y="4927992"/>
              <a:ext cx="921684" cy="8780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8" descr="Check Mark PNG, Vector, PSD, and Clipart With Transparent Background for  Free Download | Pngtree">
              <a:extLst>
                <a:ext uri="{FF2B5EF4-FFF2-40B4-BE49-F238E27FC236}">
                  <a16:creationId xmlns:a16="http://schemas.microsoft.com/office/drawing/2014/main" id="{4A78AD1B-E44A-4488-B100-E6FAED57E1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38000" y1="46000" x2="45500" y2="5683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2325" y="5871367"/>
              <a:ext cx="554934" cy="5549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060167A0-3FDF-4FA9-AAD0-6DADDF7FE8BE}"/>
                </a:ext>
              </a:extLst>
            </p:cNvPr>
            <p:cNvSpPr/>
            <p:nvPr/>
          </p:nvSpPr>
          <p:spPr>
            <a:xfrm>
              <a:off x="2766065" y="5234675"/>
              <a:ext cx="414338" cy="211353"/>
            </a:xfrm>
            <a:prstGeom prst="rightArrow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829A495-07FB-44AF-A974-E474C98C3F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385701" y="4927992"/>
              <a:ext cx="878077" cy="878077"/>
            </a:xfrm>
            <a:prstGeom prst="rect">
              <a:avLst/>
            </a:prstGeom>
          </p:spPr>
        </p:pic>
        <p:pic>
          <p:nvPicPr>
            <p:cNvPr id="21" name="Picture 8" descr="Check Mark PNG, Vector, PSD, and Clipart With Transparent Background for  Free Download | Pngtree">
              <a:extLst>
                <a:ext uri="{FF2B5EF4-FFF2-40B4-BE49-F238E27FC236}">
                  <a16:creationId xmlns:a16="http://schemas.microsoft.com/office/drawing/2014/main" id="{11029062-87C9-450B-9658-B9FD8FAFC2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38000" y1="46000" x2="45500" y2="5683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2154" y="5871367"/>
              <a:ext cx="554934" cy="5549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AA16E2AA-BBB1-4EBF-845A-9EE2391CC9EE}"/>
                </a:ext>
              </a:extLst>
            </p:cNvPr>
            <p:cNvSpPr/>
            <p:nvPr/>
          </p:nvSpPr>
          <p:spPr>
            <a:xfrm>
              <a:off x="4392171" y="5233289"/>
              <a:ext cx="414338" cy="211353"/>
            </a:xfrm>
            <a:prstGeom prst="rightArrow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5073A63-5B28-430F-8402-191AB17A67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/>
            <a:srcRect l="15843" t="18125" r="17222" b="19758"/>
            <a:stretch/>
          </p:blipFill>
          <p:spPr>
            <a:xfrm>
              <a:off x="4836910" y="4927992"/>
              <a:ext cx="815888" cy="757161"/>
            </a:xfrm>
            <a:prstGeom prst="rect">
              <a:avLst/>
            </a:prstGeom>
          </p:spPr>
        </p:pic>
        <p:pic>
          <p:nvPicPr>
            <p:cNvPr id="25" name="Picture 8" descr="Check Mark PNG, Vector, PSD, and Clipart With Transparent Background for  Free Download | Pngtree">
              <a:extLst>
                <a:ext uri="{FF2B5EF4-FFF2-40B4-BE49-F238E27FC236}">
                  <a16:creationId xmlns:a16="http://schemas.microsoft.com/office/drawing/2014/main" id="{08E67CA6-D63F-46E6-A5FD-76830EDC87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38000" y1="46000" x2="45500" y2="5683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4598" y="5871367"/>
              <a:ext cx="554934" cy="5549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3DA04954-065B-4AFD-9E44-F949E702D57A}"/>
                </a:ext>
              </a:extLst>
            </p:cNvPr>
            <p:cNvSpPr/>
            <p:nvPr/>
          </p:nvSpPr>
          <p:spPr>
            <a:xfrm>
              <a:off x="5665456" y="5239710"/>
              <a:ext cx="414338" cy="211353"/>
            </a:xfrm>
            <a:prstGeom prst="rightArrow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02F6331-5B24-4E17-92B9-393ADD34D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225930" y="4969871"/>
              <a:ext cx="738187" cy="738187"/>
            </a:xfrm>
            <a:prstGeom prst="rect">
              <a:avLst/>
            </a:prstGeom>
          </p:spPr>
        </p:pic>
        <p:pic>
          <p:nvPicPr>
            <p:cNvPr id="28" name="Picture 8" descr="Check Mark PNG, Vector, PSD, and Clipart With Transparent Background for  Free Download | Pngtree">
              <a:extLst>
                <a:ext uri="{FF2B5EF4-FFF2-40B4-BE49-F238E27FC236}">
                  <a16:creationId xmlns:a16="http://schemas.microsoft.com/office/drawing/2014/main" id="{EC02DC7E-BE43-4EE4-9D94-515977A50A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38000" y1="46000" x2="45500" y2="5683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7556" y="5871367"/>
              <a:ext cx="554934" cy="5549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A1D4D7BD-1924-4BE1-84EA-7D44F306FF38}"/>
              </a:ext>
            </a:extLst>
          </p:cNvPr>
          <p:cNvSpPr/>
          <p:nvPr/>
        </p:nvSpPr>
        <p:spPr>
          <a:xfrm>
            <a:off x="0" y="0"/>
            <a:ext cx="12142675" cy="348572"/>
          </a:xfrm>
          <a:prstGeom prst="rect">
            <a:avLst/>
          </a:prstGeom>
          <a:gradFill flip="none" rotWithShape="1">
            <a:gsLst>
              <a:gs pos="100000">
                <a:srgbClr val="07B2F0"/>
              </a:gs>
              <a:gs pos="68000">
                <a:srgbClr val="00CCFF"/>
              </a:gs>
              <a:gs pos="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BC4C67-A63A-7893-AD4D-7AC6FDAE3B90}"/>
              </a:ext>
            </a:extLst>
          </p:cNvPr>
          <p:cNvSpPr txBox="1"/>
          <p:nvPr/>
        </p:nvSpPr>
        <p:spPr>
          <a:xfrm>
            <a:off x="11397730" y="6491500"/>
            <a:ext cx="78951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10/10</a:t>
            </a:r>
          </a:p>
        </p:txBody>
      </p:sp>
    </p:spTree>
    <p:extLst>
      <p:ext uri="{BB962C8B-B14F-4D97-AF65-F5344CB8AC3E}">
        <p14:creationId xmlns:p14="http://schemas.microsoft.com/office/powerpoint/2010/main" val="2187140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1"/>
            </a:gs>
            <a:gs pos="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1791294" y="1156845"/>
            <a:ext cx="8115300" cy="2310254"/>
            <a:chOff x="1486494" y="1960409"/>
            <a:chExt cx="8115300" cy="2310254"/>
          </a:xfrm>
        </p:grpSpPr>
        <p:grpSp>
          <p:nvGrpSpPr>
            <p:cNvPr id="3" name="Group 2"/>
            <p:cNvGrpSpPr/>
            <p:nvPr/>
          </p:nvGrpSpPr>
          <p:grpSpPr>
            <a:xfrm>
              <a:off x="1486494" y="1960409"/>
              <a:ext cx="8115300" cy="2310254"/>
              <a:chOff x="5086360" y="2833246"/>
              <a:chExt cx="8115300" cy="2310254"/>
            </a:xfrm>
          </p:grpSpPr>
          <p:grpSp>
            <p:nvGrpSpPr>
              <p:cNvPr id="4" name="Group 2"/>
              <p:cNvGrpSpPr/>
              <p:nvPr/>
            </p:nvGrpSpPr>
            <p:grpSpPr>
              <a:xfrm>
                <a:off x="5975947" y="4790611"/>
                <a:ext cx="6336127" cy="352889"/>
                <a:chOff x="0" y="0"/>
                <a:chExt cx="8448169" cy="470519"/>
              </a:xfrm>
            </p:grpSpPr>
            <p:sp>
              <p:nvSpPr>
                <p:cNvPr id="6" name="AutoShape 3"/>
                <p:cNvSpPr/>
                <p:nvPr/>
              </p:nvSpPr>
              <p:spPr>
                <a:xfrm>
                  <a:off x="155294" y="235259"/>
                  <a:ext cx="8292875" cy="0"/>
                </a:xfrm>
                <a:prstGeom prst="line">
                  <a:avLst/>
                </a:prstGeom>
                <a:ln w="101600" cap="flat">
                  <a:solidFill>
                    <a:srgbClr val="0070C0"/>
                  </a:solidFill>
                  <a:prstDash val="solid"/>
                  <a:headEnd type="none" w="sm" len="sm"/>
                  <a:tailEnd type="none" w="sm" len="sm"/>
                </a:ln>
              </p:spPr>
            </p:sp>
            <p:grpSp>
              <p:nvGrpSpPr>
                <p:cNvPr id="7" name="Group 4"/>
                <p:cNvGrpSpPr/>
                <p:nvPr/>
              </p:nvGrpSpPr>
              <p:grpSpPr>
                <a:xfrm>
                  <a:off x="0" y="0"/>
                  <a:ext cx="470519" cy="470519"/>
                  <a:chOff x="0" y="0"/>
                  <a:chExt cx="812800" cy="812800"/>
                </a:xfrm>
              </p:grpSpPr>
              <p:sp>
                <p:nvSpPr>
                  <p:cNvPr id="23" name="Freeform 5"/>
                  <p:cNvSpPr/>
                  <p:nvPr/>
                </p:nvSpPr>
                <p:spPr>
                  <a:xfrm>
                    <a:off x="0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50000"/>
                    </a:schemeClr>
                  </a:solidFill>
                </p:spPr>
              </p:sp>
              <p:sp>
                <p:nvSpPr>
                  <p:cNvPr id="24" name="TextBox 6"/>
                  <p:cNvSpPr txBox="1"/>
                  <p:nvPr/>
                </p:nvSpPr>
                <p:spPr>
                  <a:xfrm>
                    <a:off x="76200" y="38100"/>
                    <a:ext cx="660400" cy="698500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659"/>
                      </a:lnSpc>
                    </a:pPr>
                    <a:endParaRPr/>
                  </a:p>
                </p:txBody>
              </p:sp>
            </p:grpSp>
            <p:grpSp>
              <p:nvGrpSpPr>
                <p:cNvPr id="8" name="Group 7"/>
                <p:cNvGrpSpPr/>
                <p:nvPr/>
              </p:nvGrpSpPr>
              <p:grpSpPr>
                <a:xfrm>
                  <a:off x="6649128" y="0"/>
                  <a:ext cx="470519" cy="470519"/>
                  <a:chOff x="0" y="0"/>
                  <a:chExt cx="812800" cy="812800"/>
                </a:xfrm>
              </p:grpSpPr>
              <p:sp>
                <p:nvSpPr>
                  <p:cNvPr id="21" name="Freeform 8"/>
                  <p:cNvSpPr/>
                  <p:nvPr/>
                </p:nvSpPr>
                <p:spPr>
                  <a:xfrm>
                    <a:off x="0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50000"/>
                    </a:schemeClr>
                  </a:solidFill>
                </p:spPr>
              </p:sp>
              <p:sp>
                <p:nvSpPr>
                  <p:cNvPr id="22" name="TextBox 9"/>
                  <p:cNvSpPr txBox="1"/>
                  <p:nvPr/>
                </p:nvSpPr>
                <p:spPr>
                  <a:xfrm>
                    <a:off x="76200" y="38100"/>
                    <a:ext cx="660400" cy="698500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659"/>
                      </a:lnSpc>
                    </a:pPr>
                    <a:endParaRPr/>
                  </a:p>
                </p:txBody>
              </p:sp>
            </p:grpSp>
            <p:grpSp>
              <p:nvGrpSpPr>
                <p:cNvPr id="9" name="Group 10"/>
                <p:cNvGrpSpPr/>
                <p:nvPr/>
              </p:nvGrpSpPr>
              <p:grpSpPr>
                <a:xfrm>
                  <a:off x="667461" y="0"/>
                  <a:ext cx="470519" cy="470519"/>
                  <a:chOff x="0" y="0"/>
                  <a:chExt cx="812800" cy="812800"/>
                </a:xfrm>
              </p:grpSpPr>
              <p:sp>
                <p:nvSpPr>
                  <p:cNvPr id="19" name="Freeform 11"/>
                  <p:cNvSpPr/>
                  <p:nvPr/>
                </p:nvSpPr>
                <p:spPr>
                  <a:xfrm>
                    <a:off x="0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50000"/>
                    </a:schemeClr>
                  </a:solidFill>
                </p:spPr>
              </p:sp>
              <p:sp>
                <p:nvSpPr>
                  <p:cNvPr id="20" name="TextBox 12"/>
                  <p:cNvSpPr txBox="1"/>
                  <p:nvPr/>
                </p:nvSpPr>
                <p:spPr>
                  <a:xfrm>
                    <a:off x="76200" y="38100"/>
                    <a:ext cx="660400" cy="698500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659"/>
                      </a:lnSpc>
                    </a:pPr>
                    <a:endParaRPr/>
                  </a:p>
                </p:txBody>
              </p:sp>
            </p:grpSp>
            <p:grpSp>
              <p:nvGrpSpPr>
                <p:cNvPr id="10" name="Group 13"/>
                <p:cNvGrpSpPr/>
                <p:nvPr/>
              </p:nvGrpSpPr>
              <p:grpSpPr>
                <a:xfrm>
                  <a:off x="7316589" y="0"/>
                  <a:ext cx="470519" cy="470519"/>
                  <a:chOff x="0" y="0"/>
                  <a:chExt cx="812800" cy="812800"/>
                </a:xfrm>
              </p:grpSpPr>
              <p:sp>
                <p:nvSpPr>
                  <p:cNvPr id="17" name="Freeform 14"/>
                  <p:cNvSpPr/>
                  <p:nvPr/>
                </p:nvSpPr>
                <p:spPr>
                  <a:xfrm>
                    <a:off x="0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50000"/>
                    </a:schemeClr>
                  </a:solidFill>
                </p:spPr>
              </p:sp>
              <p:sp>
                <p:nvSpPr>
                  <p:cNvPr id="18" name="TextBox 15"/>
                  <p:cNvSpPr txBox="1"/>
                  <p:nvPr/>
                </p:nvSpPr>
                <p:spPr>
                  <a:xfrm>
                    <a:off x="76200" y="38100"/>
                    <a:ext cx="660400" cy="698500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659"/>
                      </a:lnSpc>
                    </a:pPr>
                    <a:endParaRPr/>
                  </a:p>
                </p:txBody>
              </p:sp>
            </p:grpSp>
            <p:grpSp>
              <p:nvGrpSpPr>
                <p:cNvPr id="11" name="Group 16"/>
                <p:cNvGrpSpPr/>
                <p:nvPr/>
              </p:nvGrpSpPr>
              <p:grpSpPr>
                <a:xfrm>
                  <a:off x="1328523" y="0"/>
                  <a:ext cx="470519" cy="470519"/>
                  <a:chOff x="0" y="0"/>
                  <a:chExt cx="812800" cy="812800"/>
                </a:xfrm>
              </p:grpSpPr>
              <p:sp>
                <p:nvSpPr>
                  <p:cNvPr id="15" name="Freeform 17"/>
                  <p:cNvSpPr/>
                  <p:nvPr/>
                </p:nvSpPr>
                <p:spPr>
                  <a:xfrm>
                    <a:off x="0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50000"/>
                    </a:schemeClr>
                  </a:solidFill>
                </p:spPr>
              </p:sp>
              <p:sp>
                <p:nvSpPr>
                  <p:cNvPr id="16" name="TextBox 18"/>
                  <p:cNvSpPr txBox="1"/>
                  <p:nvPr/>
                </p:nvSpPr>
                <p:spPr>
                  <a:xfrm>
                    <a:off x="76200" y="38100"/>
                    <a:ext cx="660400" cy="698500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659"/>
                      </a:lnSpc>
                    </a:pPr>
                    <a:endParaRPr/>
                  </a:p>
                </p:txBody>
              </p:sp>
            </p:grpSp>
            <p:grpSp>
              <p:nvGrpSpPr>
                <p:cNvPr id="12" name="Group 19"/>
                <p:cNvGrpSpPr/>
                <p:nvPr/>
              </p:nvGrpSpPr>
              <p:grpSpPr>
                <a:xfrm>
                  <a:off x="7977650" y="0"/>
                  <a:ext cx="470519" cy="470519"/>
                  <a:chOff x="0" y="0"/>
                  <a:chExt cx="812800" cy="812800"/>
                </a:xfrm>
              </p:grpSpPr>
              <p:sp>
                <p:nvSpPr>
                  <p:cNvPr id="13" name="Freeform 20"/>
                  <p:cNvSpPr/>
                  <p:nvPr/>
                </p:nvSpPr>
                <p:spPr>
                  <a:xfrm>
                    <a:off x="0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50000"/>
                    </a:schemeClr>
                  </a:solidFill>
                </p:spPr>
              </p:sp>
              <p:sp>
                <p:nvSpPr>
                  <p:cNvPr id="14" name="TextBox 21"/>
                  <p:cNvSpPr txBox="1"/>
                  <p:nvPr/>
                </p:nvSpPr>
                <p:spPr>
                  <a:xfrm>
                    <a:off x="76200" y="38100"/>
                    <a:ext cx="660400" cy="698500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659"/>
                      </a:lnSpc>
                    </a:pPr>
                    <a:endParaRPr/>
                  </a:p>
                </p:txBody>
              </p:sp>
            </p:grpSp>
          </p:grpSp>
          <p:sp>
            <p:nvSpPr>
              <p:cNvPr id="5" name="TextBox 40"/>
              <p:cNvSpPr txBox="1"/>
              <p:nvPr/>
            </p:nvSpPr>
            <p:spPr>
              <a:xfrm>
                <a:off x="5086360" y="2833246"/>
                <a:ext cx="8115300" cy="1837811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5713"/>
                  </a:lnSpc>
                </a:pPr>
                <a:endParaRPr lang="en-US" sz="11223" dirty="0">
                  <a:solidFill>
                    <a:srgbClr val="711662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</p:grpSp>
        <p:sp>
          <p:nvSpPr>
            <p:cNvPr id="25" name="Rectangle 24"/>
            <p:cNvSpPr/>
            <p:nvPr/>
          </p:nvSpPr>
          <p:spPr>
            <a:xfrm>
              <a:off x="2838793" y="2358585"/>
              <a:ext cx="5343201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7200" dirty="0">
                  <a:solidFill>
                    <a:srgbClr val="002060"/>
                  </a:solidFill>
                  <a:latin typeface="Anton"/>
                  <a:ea typeface="Anton"/>
                  <a:cs typeface="Anton"/>
                  <a:sym typeface="Anton"/>
                </a:rPr>
                <a:t>THANK YOU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727B6313-8A84-4D6D-81B6-C6AE2D212862}"/>
              </a:ext>
            </a:extLst>
          </p:cNvPr>
          <p:cNvSpPr/>
          <p:nvPr/>
        </p:nvSpPr>
        <p:spPr>
          <a:xfrm>
            <a:off x="0" y="0"/>
            <a:ext cx="12142675" cy="348572"/>
          </a:xfrm>
          <a:prstGeom prst="rect">
            <a:avLst/>
          </a:prstGeom>
          <a:gradFill flip="none" rotWithShape="1">
            <a:gsLst>
              <a:gs pos="100000">
                <a:srgbClr val="07B2F0"/>
              </a:gs>
              <a:gs pos="68000">
                <a:srgbClr val="00CCFF"/>
              </a:gs>
              <a:gs pos="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210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857</TotalTime>
  <Words>367</Words>
  <Application>Microsoft Office PowerPoint</Application>
  <PresentationFormat>Widescreen</PresentationFormat>
  <Paragraphs>120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Anton</vt:lpstr>
      <vt:lpstr>Arial</vt:lpstr>
      <vt:lpstr>Calibri</vt:lpstr>
      <vt:lpstr>Calibri Light</vt:lpstr>
      <vt:lpstr>Open sauce</vt:lpstr>
      <vt:lpstr>Open sauce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Wasif Ali</dc:creator>
  <cp:lastModifiedBy>Wasif Ali</cp:lastModifiedBy>
  <cp:revision>57</cp:revision>
  <dcterms:created xsi:type="dcterms:W3CDTF">2025-05-11T14:16:27Z</dcterms:created>
  <dcterms:modified xsi:type="dcterms:W3CDTF">2025-05-27T10:11:14Z</dcterms:modified>
</cp:coreProperties>
</file>