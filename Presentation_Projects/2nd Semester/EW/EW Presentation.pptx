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75" r:id="rId4"/>
    <p:sldId id="257" r:id="rId5"/>
    <p:sldId id="274" r:id="rId6"/>
    <p:sldId id="276" r:id="rId7"/>
    <p:sldId id="267" r:id="rId8"/>
    <p:sldId id="259" r:id="rId9"/>
    <p:sldId id="269" r:id="rId10"/>
    <p:sldId id="265" r:id="rId11"/>
    <p:sldId id="263" r:id="rId12"/>
    <p:sldId id="277" r:id="rId13"/>
    <p:sldId id="266" r:id="rId14"/>
  </p:sldIdLst>
  <p:sldSz cx="18288000" cy="10287000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Consolas" panose="020B0609020204030204" pitchFamily="49" charset="0"/>
      <p:regular r:id="rId20"/>
      <p:bold r:id="rId21"/>
      <p:italic r:id="rId22"/>
      <p:boldItalic r:id="rId23"/>
    </p:embeddedFont>
    <p:embeddedFont>
      <p:font typeface="Anton" panose="020B0604020202020204" charset="0"/>
      <p:regular r:id="rId24"/>
    </p:embeddedFont>
    <p:embeddedFont>
      <p:font typeface="Arial Black" panose="020B0A04020102020204" pitchFamily="34" charset="0"/>
      <p:bold r:id="rId25"/>
    </p:embeddedFont>
    <p:embeddedFont>
      <p:font typeface="Open Sauce" panose="020B0604020202020204" charset="0"/>
      <p:regular r:id="rId26"/>
    </p:embeddedFont>
    <p:embeddedFont>
      <p:font typeface="Open Sauce Bold" panose="020B0604020202020204" charset="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3DA0"/>
    <a:srgbClr val="DED6E6"/>
    <a:srgbClr val="711662"/>
    <a:srgbClr val="E9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97" autoAdjust="0"/>
    <p:restoredTop sz="94622" autoAdjust="0"/>
  </p:normalViewPr>
  <p:slideViewPr>
    <p:cSldViewPr>
      <p:cViewPr>
        <p:scale>
          <a:sx n="48" d="100"/>
          <a:sy n="48" d="100"/>
        </p:scale>
        <p:origin x="600" y="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8E7A87-5DD7-4ABC-A377-17E6D9E8B9F5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93A66-63EF-474E-8876-1DAB7E955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512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93A66-63EF-474E-8876-1DAB7E95523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85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F93A66-63EF-474E-8876-1DAB7E95523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53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13" Type="http://schemas.openxmlformats.org/officeDocument/2006/relationships/image" Target="../media/image5.png"/><Relationship Id="rId7" Type="http://schemas.openxmlformats.org/officeDocument/2006/relationships/image" Target="../media/image6.svg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microsoft.com/office/2007/relationships/hdphoto" Target="../media/hdphoto1.wdp"/><Relationship Id="rId1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microsoft.com/office/2007/relationships/hdphoto" Target="../media/hdphoto5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8.wdp"/><Relationship Id="rId5" Type="http://schemas.openxmlformats.org/officeDocument/2006/relationships/image" Target="../media/image15.png"/><Relationship Id="rId4" Type="http://schemas.microsoft.com/office/2007/relationships/hdphoto" Target="../media/hdphoto7.wdp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hdphoto" Target="../media/hdphoto11.wdp"/><Relationship Id="rId3" Type="http://schemas.microsoft.com/office/2007/relationships/hdphoto" Target="../media/hdphoto9.wdp"/><Relationship Id="rId7" Type="http://schemas.openxmlformats.org/officeDocument/2006/relationships/image" Target="../media/image2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0.wdp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0.png"/><Relationship Id="rId3" Type="http://schemas.openxmlformats.org/officeDocument/2006/relationships/image" Target="../media/image23.png"/><Relationship Id="rId7" Type="http://schemas.microsoft.com/office/2007/relationships/hdphoto" Target="../media/hdphoto13.wdp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28.png"/><Relationship Id="rId5" Type="http://schemas.openxmlformats.org/officeDocument/2006/relationships/image" Target="../media/image24.png"/><Relationship Id="rId10" Type="http://schemas.microsoft.com/office/2007/relationships/hdphoto" Target="../media/hdphoto14.wdp"/><Relationship Id="rId4" Type="http://schemas.microsoft.com/office/2007/relationships/hdphoto" Target="../media/hdphoto12.wdp"/><Relationship Id="rId9" Type="http://schemas.openxmlformats.org/officeDocument/2006/relationships/image" Target="../media/image27.png"/><Relationship Id="rId14" Type="http://schemas.microsoft.com/office/2007/relationships/hdphoto" Target="../media/hdphoto15.wd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microsoft.com/office/2007/relationships/hdphoto" Target="../media/hdphoto11.wdp"/><Relationship Id="rId7" Type="http://schemas.openxmlformats.org/officeDocument/2006/relationships/image" Target="../media/image3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6.wdp"/><Relationship Id="rId5" Type="http://schemas.openxmlformats.org/officeDocument/2006/relationships/image" Target="../media/image31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8.wdp"/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7.wdp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microsoft.com/office/2007/relationships/hdphoto" Target="../media/hdphoto24.wdp"/><Relationship Id="rId18" Type="http://schemas.openxmlformats.org/officeDocument/2006/relationships/image" Target="../media/image51.png"/><Relationship Id="rId3" Type="http://schemas.microsoft.com/office/2007/relationships/hdphoto" Target="../media/hdphoto20.wdp"/><Relationship Id="rId21" Type="http://schemas.openxmlformats.org/officeDocument/2006/relationships/image" Target="../media/image54.png"/><Relationship Id="rId7" Type="http://schemas.openxmlformats.org/officeDocument/2006/relationships/image" Target="../media/image44.png"/><Relationship Id="rId12" Type="http://schemas.openxmlformats.org/officeDocument/2006/relationships/image" Target="../media/image47.png"/><Relationship Id="rId17" Type="http://schemas.openxmlformats.org/officeDocument/2006/relationships/image" Target="../media/image50.png"/><Relationship Id="rId2" Type="http://schemas.openxmlformats.org/officeDocument/2006/relationships/image" Target="../media/image41.png"/><Relationship Id="rId16" Type="http://schemas.microsoft.com/office/2007/relationships/hdphoto" Target="../media/hdphoto25.wdp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1.wdp"/><Relationship Id="rId11" Type="http://schemas.microsoft.com/office/2007/relationships/hdphoto" Target="../media/hdphoto23.wdp"/><Relationship Id="rId24" Type="http://schemas.microsoft.com/office/2007/relationships/hdphoto" Target="../media/hdphoto26.wdp"/><Relationship Id="rId5" Type="http://schemas.openxmlformats.org/officeDocument/2006/relationships/image" Target="../media/image43.png"/><Relationship Id="rId15" Type="http://schemas.openxmlformats.org/officeDocument/2006/relationships/image" Target="../media/image49.png"/><Relationship Id="rId23" Type="http://schemas.openxmlformats.org/officeDocument/2006/relationships/image" Target="../media/image56.png"/><Relationship Id="rId10" Type="http://schemas.openxmlformats.org/officeDocument/2006/relationships/image" Target="../media/image46.png"/><Relationship Id="rId19" Type="http://schemas.openxmlformats.org/officeDocument/2006/relationships/image" Target="../media/image52.png"/><Relationship Id="rId4" Type="http://schemas.openxmlformats.org/officeDocument/2006/relationships/image" Target="../media/image42.png"/><Relationship Id="rId9" Type="http://schemas.microsoft.com/office/2007/relationships/hdphoto" Target="../media/hdphoto22.wdp"/><Relationship Id="rId14" Type="http://schemas.openxmlformats.org/officeDocument/2006/relationships/image" Target="../media/image48.png"/><Relationship Id="rId22" Type="http://schemas.openxmlformats.org/officeDocument/2006/relationships/image" Target="../media/image5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ktok.com/@studytok" TargetMode="External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scholar.google.com/" TargetMode="External"/><Relationship Id="rId4" Type="http://schemas.openxmlformats.org/officeDocument/2006/relationships/hyperlink" Target="https://www.youtube.com/short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63DA0"/>
            </a:gs>
            <a:gs pos="33000">
              <a:schemeClr val="bg1">
                <a:lumMod val="95000"/>
              </a:schemeClr>
            </a:gs>
            <a:gs pos="62000">
              <a:schemeClr val="accent4">
                <a:lumMod val="45000"/>
                <a:lumOff val="55000"/>
              </a:schemeClr>
            </a:gs>
            <a:gs pos="93000">
              <a:schemeClr val="bg1">
                <a:lumMod val="85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2"/>
          <p:cNvGrpSpPr/>
          <p:nvPr/>
        </p:nvGrpSpPr>
        <p:grpSpPr>
          <a:xfrm>
            <a:off x="-1364990" y="800592"/>
            <a:ext cx="8915199" cy="1291482"/>
            <a:chOff x="0" y="0"/>
            <a:chExt cx="1393155" cy="20181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93155" cy="201816"/>
            </a:xfrm>
            <a:custGeom>
              <a:avLst/>
              <a:gdLst/>
              <a:ahLst/>
              <a:cxnLst/>
              <a:rect l="l" t="t" r="r" b="b"/>
              <a:pathLst>
                <a:path w="1393155" h="201816">
                  <a:moveTo>
                    <a:pt x="203200" y="0"/>
                  </a:moveTo>
                  <a:lnTo>
                    <a:pt x="1393155" y="0"/>
                  </a:lnTo>
                  <a:lnTo>
                    <a:pt x="1189955" y="201816"/>
                  </a:lnTo>
                  <a:lnTo>
                    <a:pt x="0" y="201816"/>
                  </a:lnTo>
                  <a:lnTo>
                    <a:pt x="20320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162E">
                    <a:alpha val="100000"/>
                  </a:srgbClr>
                </a:gs>
                <a:gs pos="100000">
                  <a:srgbClr val="D63DA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101600" y="-38100"/>
              <a:ext cx="1189955" cy="23991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009650" y="5697421"/>
            <a:ext cx="6336127" cy="352889"/>
            <a:chOff x="1009650" y="5790768"/>
            <a:chExt cx="6336127" cy="352889"/>
          </a:xfrm>
        </p:grpSpPr>
        <p:sp>
          <p:nvSpPr>
            <p:cNvPr id="25" name="AutoShape 25"/>
            <p:cNvSpPr/>
            <p:nvPr/>
          </p:nvSpPr>
          <p:spPr>
            <a:xfrm>
              <a:off x="1126121" y="5981700"/>
              <a:ext cx="6219656" cy="0"/>
            </a:xfrm>
            <a:prstGeom prst="line">
              <a:avLst/>
            </a:prstGeom>
            <a:ln w="76200" cap="flat">
              <a:gradFill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  <a:prstDash val="solid"/>
              <a:headEnd type="none" w="sm" len="sm"/>
              <a:tailEnd type="none" w="sm" len="sm"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1009650" y="5790768"/>
              <a:ext cx="352889" cy="352889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510246" y="5790768"/>
              <a:ext cx="352889" cy="352889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006042" y="5790768"/>
              <a:ext cx="352889" cy="352889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35" name="TextBox 35"/>
          <p:cNvSpPr txBox="1"/>
          <p:nvPr/>
        </p:nvSpPr>
        <p:spPr>
          <a:xfrm>
            <a:off x="983882" y="2973322"/>
            <a:ext cx="9382282" cy="1795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8800" dirty="0" smtClean="0">
                <a:solidFill>
                  <a:srgbClr val="711662"/>
                </a:solidFill>
                <a:latin typeface="Anton"/>
                <a:ea typeface="Anton"/>
                <a:cs typeface="Anton"/>
                <a:sym typeface="Anton"/>
              </a:rPr>
              <a:t>SHORT VIDEOS AND </a:t>
            </a:r>
            <a:endParaRPr lang="en-US" sz="8800" dirty="0">
              <a:solidFill>
                <a:srgbClr val="711662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09650" y="3797777"/>
            <a:ext cx="11163300" cy="1974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5400"/>
              </a:lnSpc>
            </a:pPr>
            <a:r>
              <a:rPr lang="en-US" sz="6600" dirty="0" smtClean="0">
                <a:solidFill>
                  <a:srgbClr val="00162E"/>
                </a:solidFill>
                <a:latin typeface="Anton"/>
                <a:ea typeface="Anton"/>
                <a:cs typeface="Anton"/>
                <a:sym typeface="Anton"/>
              </a:rPr>
              <a:t>ACADEMIC PERFORMANCE</a:t>
            </a:r>
            <a:endParaRPr lang="en-US" sz="6600" dirty="0">
              <a:solidFill>
                <a:srgbClr val="00162E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37" name="Freeform 37"/>
          <p:cNvSpPr/>
          <p:nvPr/>
        </p:nvSpPr>
        <p:spPr>
          <a:xfrm>
            <a:off x="1028700" y="1028700"/>
            <a:ext cx="1020173" cy="835267"/>
          </a:xfrm>
          <a:custGeom>
            <a:avLst/>
            <a:gdLst/>
            <a:ahLst/>
            <a:cxnLst/>
            <a:rect l="l" t="t" r="r" b="b"/>
            <a:pathLst>
              <a:path w="1020173" h="835267">
                <a:moveTo>
                  <a:pt x="0" y="0"/>
                </a:moveTo>
                <a:lnTo>
                  <a:pt x="1020173" y="0"/>
                </a:lnTo>
                <a:lnTo>
                  <a:pt x="1020173" y="835267"/>
                </a:lnTo>
                <a:lnTo>
                  <a:pt x="0" y="835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504236" y="6274843"/>
            <a:ext cx="6521509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8" lvl="1" indent="-388619" algn="l">
              <a:lnSpc>
                <a:spcPct val="200000"/>
              </a:lnSpc>
              <a:buFont typeface="Arial"/>
              <a:buChar char="•"/>
            </a:pPr>
            <a:r>
              <a:rPr lang="en-US" sz="2800" spc="-64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Wasif Ali (245187)</a:t>
            </a:r>
          </a:p>
          <a:p>
            <a:pPr marL="777238" lvl="1" indent="-388619" algn="l">
              <a:lnSpc>
                <a:spcPct val="200000"/>
              </a:lnSpc>
              <a:buFont typeface="Arial"/>
              <a:buChar char="•"/>
            </a:pPr>
            <a:r>
              <a:rPr lang="en-US" sz="2800" spc="-64" dirty="0" err="1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Anisa</a:t>
            </a:r>
            <a:r>
              <a:rPr lang="en-US" sz="2800" spc="-64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 Khan </a:t>
            </a:r>
            <a:r>
              <a:rPr lang="en-US" sz="2800" spc="-64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2800" spc="-64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245215)</a:t>
            </a:r>
            <a:endParaRPr lang="en-US" sz="2800" spc="-64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777238" lvl="1" indent="-388619" algn="l">
              <a:lnSpc>
                <a:spcPct val="200000"/>
              </a:lnSpc>
              <a:buFont typeface="Arial"/>
              <a:buChar char="•"/>
            </a:pPr>
            <a:r>
              <a:rPr lang="en-US" sz="2800" spc="-64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Faiqa </a:t>
            </a:r>
            <a:r>
              <a:rPr lang="en-US" sz="2800" spc="-64" dirty="0" err="1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Umer</a:t>
            </a:r>
            <a:r>
              <a:rPr lang="en-US" sz="2800" spc="-64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2800" spc="-64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(</a:t>
            </a:r>
            <a:r>
              <a:rPr lang="en-US" sz="2800" spc="-64" dirty="0" smtClean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rPr>
              <a:t>245161)</a:t>
            </a:r>
            <a:endParaRPr lang="en-US" sz="2800" spc="-64" dirty="0">
              <a:solidFill>
                <a:srgbClr val="00162E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2201537" y="1165400"/>
            <a:ext cx="4196618" cy="552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 b="1" spc="-71" dirty="0" smtClean="0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Survey </a:t>
            </a:r>
            <a:endParaRPr lang="en-US" sz="3599" b="1" spc="-71" dirty="0">
              <a:solidFill>
                <a:srgbClr val="FFFFFF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52400" y="2070793"/>
            <a:ext cx="7772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/>
                </a:solidFill>
                <a:latin typeface="Open Sauce" panose="020B0604020202020204" charset="0"/>
              </a:rPr>
              <a:t>Expository Writing | Air University </a:t>
            </a:r>
            <a:r>
              <a:rPr lang="en-US" sz="2400" dirty="0" smtClean="0">
                <a:solidFill>
                  <a:schemeClr val="accent4"/>
                </a:solidFill>
                <a:latin typeface="Open Sauce" panose="020B0604020202020204" charset="0"/>
              </a:rPr>
              <a:t>Kamra</a:t>
            </a:r>
            <a:r>
              <a:rPr lang="en-US" sz="2400" dirty="0">
                <a:solidFill>
                  <a:schemeClr val="accent4"/>
                </a:solidFill>
                <a:latin typeface="Open Sauce" panose="020B0604020202020204" charset="0"/>
              </a:rPr>
              <a:t/>
            </a:r>
            <a:br>
              <a:rPr lang="en-US" sz="2400" dirty="0">
                <a:solidFill>
                  <a:schemeClr val="accent4"/>
                </a:solidFill>
                <a:latin typeface="Open Sauce" panose="020B0604020202020204" charset="0"/>
              </a:rPr>
            </a:br>
            <a:endParaRPr lang="en-US" sz="2400" dirty="0">
              <a:solidFill>
                <a:schemeClr val="accent4"/>
              </a:solidFill>
              <a:latin typeface="Open Sauce" panose="020B0604020202020204" charset="0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042536" y="556779"/>
            <a:ext cx="1718515" cy="1718515"/>
          </a:xfrm>
          <a:prstGeom prst="rect">
            <a:avLst/>
          </a:prstGeom>
          <a:solidFill>
            <a:schemeClr val="lt1">
              <a:alpha val="0"/>
            </a:schemeClr>
          </a:solidFill>
        </p:spPr>
      </p:pic>
      <p:pic>
        <p:nvPicPr>
          <p:cNvPr id="51" name="Picture 5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190164" y="556779"/>
            <a:ext cx="1721775" cy="1721775"/>
          </a:xfrm>
          <a:prstGeom prst="rect">
            <a:avLst/>
          </a:prstGeom>
        </p:spPr>
      </p:pic>
      <p:pic>
        <p:nvPicPr>
          <p:cNvPr id="2054" name="Picture 6" descr="Tiktok symbol neon, tech companies, png | PNGEgg"/>
          <p:cNvPicPr>
            <a:picLocks noChangeAspect="1" noChangeArrowheads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0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41052" y="556779"/>
            <a:ext cx="1601823" cy="1871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0" b="100000" l="43750" r="100000"/>
                    </a14:imgEffect>
                  </a14:imgLayer>
                </a14:imgProps>
              </a:ext>
            </a:extLst>
          </a:blip>
          <a:srcRect l="47518" t="25584"/>
          <a:stretch/>
        </p:blipFill>
        <p:spPr>
          <a:xfrm>
            <a:off x="8938560" y="2092074"/>
            <a:ext cx="8665669" cy="8191500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0" y="0"/>
            <a:ext cx="18288000" cy="45719"/>
          </a:xfrm>
          <a:prstGeom prst="rect">
            <a:avLst/>
          </a:prstGeom>
          <a:solidFill>
            <a:srgbClr val="7116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030A0"/>
              </a:solidFill>
            </a:endParaRPr>
          </a:p>
        </p:txBody>
      </p:sp>
      <p:sp>
        <p:nvSpPr>
          <p:cNvPr id="58" name="Isosceles Triangle 57"/>
          <p:cNvSpPr/>
          <p:nvPr/>
        </p:nvSpPr>
        <p:spPr>
          <a:xfrm rot="16200000">
            <a:off x="17032737" y="-89865"/>
            <a:ext cx="1165401" cy="1345123"/>
          </a:xfrm>
          <a:prstGeom prst="triangle">
            <a:avLst>
              <a:gd name="adj" fmla="val 100000"/>
            </a:avLst>
          </a:prstGeom>
          <a:solidFill>
            <a:srgbClr val="71166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D63DA0"/>
            </a:gs>
            <a:gs pos="12000">
              <a:schemeClr val="bg1">
                <a:lumMod val="95000"/>
              </a:schemeClr>
            </a:gs>
            <a:gs pos="68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620094" y="1052512"/>
            <a:ext cx="10201457" cy="9815508"/>
            <a:chOff x="420391" y="368299"/>
            <a:chExt cx="13601942" cy="13087343"/>
          </a:xfrm>
        </p:grpSpPr>
        <p:grpSp>
          <p:nvGrpSpPr>
            <p:cNvPr id="4" name="Group 4"/>
            <p:cNvGrpSpPr/>
            <p:nvPr/>
          </p:nvGrpSpPr>
          <p:grpSpPr>
            <a:xfrm>
              <a:off x="420391" y="1945455"/>
              <a:ext cx="470519" cy="931095"/>
              <a:chOff x="0" y="38100"/>
              <a:chExt cx="812800" cy="1608424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833724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1087853" y="1945455"/>
              <a:ext cx="470519" cy="931095"/>
              <a:chOff x="0" y="38100"/>
              <a:chExt cx="812800" cy="1608424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833724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1748914" y="2406031"/>
              <a:ext cx="470519" cy="470519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162E">
                    <a:alpha val="100000"/>
                  </a:srgbClr>
                </a:gs>
                <a:gs pos="100000">
                  <a:srgbClr val="D63DA0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13"/>
            <p:cNvSpPr txBox="1"/>
            <p:nvPr/>
          </p:nvSpPr>
          <p:spPr>
            <a:xfrm>
              <a:off x="828326" y="3102552"/>
              <a:ext cx="13194007" cy="103530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ct val="250000"/>
                </a:lnSpc>
                <a:buFont typeface="Wingdings" panose="05000000000000000000" pitchFamily="2" charset="2"/>
                <a:buChar char="Ø"/>
              </a:pPr>
              <a:r>
                <a:rPr lang="en-US" sz="2800" dirty="0">
                  <a:solidFill>
                    <a:srgbClr val="711662"/>
                  </a:solidFill>
                  <a:latin typeface="Open Sauce" panose="020B0604020202020204" charset="0"/>
                </a:rPr>
                <a:t>Why This Topic</a:t>
              </a:r>
              <a:r>
                <a:rPr lang="en-US" sz="2800" dirty="0" smtClean="0">
                  <a:solidFill>
                    <a:srgbClr val="711662"/>
                  </a:solidFill>
                  <a:latin typeface="Open Sauce" panose="020B0604020202020204" charset="0"/>
                </a:rPr>
                <a:t>?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Rise of short videos (TikTok, Reels, Shorts) in student life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Balance between entertainment and study is a challenge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We aimed to explore this impact through a student </a:t>
              </a:r>
              <a:r>
                <a:rPr lang="en-US" altLang="en-US" sz="2400" dirty="0" smtClean="0">
                  <a:latin typeface="Open Sauce" panose="020B0604020202020204" charset="0"/>
                </a:rPr>
                <a:t>survey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altLang="en-US" sz="2400" dirty="0">
                <a:latin typeface="Open Sauce" panose="020B0604020202020204" charset="0"/>
              </a:endParaRPr>
            </a:p>
            <a:p>
              <a:pPr marL="457200" indent="-457200" algn="just">
                <a:lnSpc>
                  <a:spcPct val="200000"/>
                </a:lnSpc>
                <a:buFont typeface="Wingdings" panose="05000000000000000000" pitchFamily="2" charset="2"/>
                <a:buChar char="Ø"/>
              </a:pPr>
              <a:r>
                <a:rPr lang="en-US" sz="2800" dirty="0" smtClean="0">
                  <a:solidFill>
                    <a:srgbClr val="711662"/>
                  </a:solidFill>
                  <a:latin typeface="Open Sauce" panose="020B0604020202020204" charset="0"/>
                </a:rPr>
                <a:t>Short Videos </a:t>
              </a:r>
              <a:r>
                <a:rPr lang="en-US" sz="2800" dirty="0">
                  <a:solidFill>
                    <a:srgbClr val="711662"/>
                  </a:solidFill>
                  <a:latin typeface="Open Sauce" panose="020B0604020202020204" charset="0"/>
                </a:rPr>
                <a:t>🎬 </a:t>
              </a:r>
              <a:r>
                <a:rPr lang="en-US" sz="2800" dirty="0" smtClean="0">
                  <a:solidFill>
                    <a:srgbClr val="711662"/>
                  </a:solidFill>
                  <a:latin typeface="Open Sauce" panose="020B0604020202020204" charset="0"/>
                </a:rPr>
                <a:t>: </a:t>
              </a:r>
              <a:r>
                <a:rPr lang="en-US" sz="2800" dirty="0">
                  <a:solidFill>
                    <a:srgbClr val="711662"/>
                  </a:solidFill>
                  <a:latin typeface="Open Sauce" panose="020B0604020202020204" charset="0"/>
                </a:rPr>
                <a:t>A 60-Second Distraction or a Learning Tool?</a:t>
              </a:r>
              <a:endParaRPr lang="en-US" sz="2800" spc="-66" dirty="0">
                <a:solidFill>
                  <a:srgbClr val="711662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endParaRPr>
            </a:p>
            <a:p>
              <a:pPr algn="just">
                <a:lnSpc>
                  <a:spcPct val="250000"/>
                </a:lnSpc>
              </a:pPr>
              <a:endParaRPr lang="en-US" sz="3303" spc="-66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0391" y="368299"/>
              <a:ext cx="12646767" cy="20002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2599"/>
                </a:lnSpc>
              </a:pPr>
              <a:r>
                <a:rPr lang="en-US" sz="90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rPr>
                <a:t>INTRODUCTION</a:t>
              </a:r>
              <a:endParaRPr lang="en-US" sz="90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/>
                <a:ea typeface="Anton"/>
                <a:cs typeface="Anton"/>
                <a:sym typeface="Anton"/>
              </a:endParaRPr>
            </a:p>
          </p:txBody>
        </p:sp>
      </p:grpSp>
      <p:grpSp>
        <p:nvGrpSpPr>
          <p:cNvPr id="18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9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0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rgbClr val="D63DA0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7573801" y="-280387"/>
            <a:ext cx="7576188" cy="4756739"/>
            <a:chOff x="5797106" y="2970316"/>
            <a:chExt cx="9543005" cy="5524500"/>
          </a:xfrm>
        </p:grpSpPr>
        <p:pic>
          <p:nvPicPr>
            <p:cNvPr id="1031" name="Picture 7" descr="How TikTok, Reels &amp; Shorts Revolutionize Video Marketing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64355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137" t="4364" r="2613" b="9891"/>
            <a:stretch/>
          </p:blipFill>
          <p:spPr bwMode="auto">
            <a:xfrm>
              <a:off x="12292110" y="3199642"/>
              <a:ext cx="3048001" cy="47369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552" b="93966" l="1855" r="100000"/>
                      </a14:imgEffect>
                    </a14:imgLayer>
                  </a14:imgProps>
                </a:ext>
              </a:extLst>
            </a:blip>
            <a:srcRect l="35680" t="10254" r="38539" b="13884"/>
            <a:stretch/>
          </p:blipFill>
          <p:spPr>
            <a:xfrm>
              <a:off x="9296400" y="3543300"/>
              <a:ext cx="2514600" cy="4191001"/>
            </a:xfrm>
            <a:prstGeom prst="rect">
              <a:avLst/>
            </a:prstGeom>
          </p:spPr>
        </p:pic>
        <p:pic>
          <p:nvPicPr>
            <p:cNvPr id="1029" name="Picture 5" descr="How TikTok, Reels &amp; Shorts Revolutionize Video Marketing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195" r="3447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67910"/>
            <a:stretch/>
          </p:blipFill>
          <p:spPr bwMode="auto">
            <a:xfrm>
              <a:off x="5797106" y="2970316"/>
              <a:ext cx="3147944" cy="55245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09978" y="4752415"/>
            <a:ext cx="4466391" cy="446639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2" name="Isosceles Triangle 21"/>
          <p:cNvSpPr/>
          <p:nvPr/>
        </p:nvSpPr>
        <p:spPr>
          <a:xfrm rot="16200000">
            <a:off x="15487649" y="-171452"/>
            <a:ext cx="2628901" cy="2971800"/>
          </a:xfrm>
          <a:prstGeom prst="triangle">
            <a:avLst>
              <a:gd name="adj" fmla="val 100000"/>
            </a:avLst>
          </a:prstGeom>
          <a:solidFill>
            <a:srgbClr val="71166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1/11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bg1"/>
            </a:gs>
            <a:gs pos="0">
              <a:srgbClr val="DED6E6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411887" y="725332"/>
            <a:ext cx="11582400" cy="8803779"/>
            <a:chOff x="411887" y="725332"/>
            <a:chExt cx="11582400" cy="8803779"/>
          </a:xfrm>
        </p:grpSpPr>
        <p:grpSp>
          <p:nvGrpSpPr>
            <p:cNvPr id="5" name="Group 4"/>
            <p:cNvGrpSpPr/>
            <p:nvPr/>
          </p:nvGrpSpPr>
          <p:grpSpPr>
            <a:xfrm>
              <a:off x="411887" y="725332"/>
              <a:ext cx="9485075" cy="1827368"/>
              <a:chOff x="411887" y="499880"/>
              <a:chExt cx="9485075" cy="1827368"/>
            </a:xfrm>
          </p:grpSpPr>
          <p:sp>
            <p:nvSpPr>
              <p:cNvPr id="4" name="TextBox 16"/>
              <p:cNvSpPr txBox="1"/>
              <p:nvPr/>
            </p:nvSpPr>
            <p:spPr>
              <a:xfrm>
                <a:off x="411887" y="499880"/>
                <a:ext cx="9485075" cy="147905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12320"/>
                  </a:lnSpc>
                </a:pPr>
                <a:r>
                  <a:rPr lang="en-US" sz="8800" dirty="0" smtClean="0">
                    <a:solidFill>
                      <a:srgbClr val="71166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nton" panose="020B0604020202020204" charset="0"/>
                  </a:rPr>
                  <a:t>SURVEY OBJECTIVES</a:t>
                </a:r>
                <a:endParaRPr lang="en-US" sz="8800" dirty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  <a:ea typeface="Anton"/>
                  <a:cs typeface="Anton"/>
                  <a:sym typeface="Anton"/>
                </a:endParaRPr>
              </a:p>
            </p:txBody>
          </p:sp>
          <p:grpSp>
            <p:nvGrpSpPr>
              <p:cNvPr id="6" name="Group 3"/>
              <p:cNvGrpSpPr/>
              <p:nvPr/>
            </p:nvGrpSpPr>
            <p:grpSpPr>
              <a:xfrm>
                <a:off x="706582" y="1974359"/>
                <a:ext cx="1349281" cy="352889"/>
                <a:chOff x="0" y="0"/>
                <a:chExt cx="1799041" cy="470519"/>
              </a:xfrm>
            </p:grpSpPr>
            <p:grpSp>
              <p:nvGrpSpPr>
                <p:cNvPr id="7" name="Group 4"/>
                <p:cNvGrpSpPr/>
                <p:nvPr/>
              </p:nvGrpSpPr>
              <p:grpSpPr>
                <a:xfrm>
                  <a:off x="0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14" name="Freeform 5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162E">
                          <a:alpha val="100000"/>
                        </a:srgbClr>
                      </a:gs>
                      <a:gs pos="100000">
                        <a:srgbClr val="D63DA0">
                          <a:alpha val="100000"/>
                        </a:srgbClr>
                      </a:gs>
                    </a:gsLst>
                    <a:lin ang="0"/>
                  </a:gradFill>
                </p:spPr>
              </p:sp>
              <p:sp>
                <p:nvSpPr>
                  <p:cNvPr id="15" name="TextBox 6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8" name="Group 7"/>
                <p:cNvGrpSpPr/>
                <p:nvPr/>
              </p:nvGrpSpPr>
              <p:grpSpPr>
                <a:xfrm>
                  <a:off x="667461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12" name="Freeform 8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162E">
                          <a:alpha val="100000"/>
                        </a:srgbClr>
                      </a:gs>
                      <a:gs pos="100000">
                        <a:srgbClr val="D63DA0">
                          <a:alpha val="100000"/>
                        </a:srgbClr>
                      </a:gs>
                    </a:gsLst>
                    <a:lin ang="0"/>
                  </a:gradFill>
                </p:spPr>
              </p:sp>
              <p:sp>
                <p:nvSpPr>
                  <p:cNvPr id="13" name="TextBox 9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9" name="Group 10"/>
                <p:cNvGrpSpPr/>
                <p:nvPr/>
              </p:nvGrpSpPr>
              <p:grpSpPr>
                <a:xfrm>
                  <a:off x="1328523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10" name="Freeform 11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162E">
                          <a:alpha val="100000"/>
                        </a:srgbClr>
                      </a:gs>
                      <a:gs pos="100000">
                        <a:srgbClr val="D63DA0">
                          <a:alpha val="100000"/>
                        </a:srgbClr>
                      </a:gs>
                    </a:gsLst>
                    <a:lin ang="0"/>
                  </a:gradFill>
                </p:spPr>
              </p:sp>
              <p:sp>
                <p:nvSpPr>
                  <p:cNvPr id="11" name="TextBox 12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</p:grpSp>
        </p:grpSp>
        <p:sp>
          <p:nvSpPr>
            <p:cNvPr id="17" name="Rectangle 1"/>
            <p:cNvSpPr>
              <a:spLocks noChangeArrowheads="1"/>
            </p:cNvSpPr>
            <p:nvPr/>
          </p:nvSpPr>
          <p:spPr bwMode="auto">
            <a:xfrm>
              <a:off x="411887" y="2727249"/>
              <a:ext cx="11582400" cy="68018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457200" lvl="0" indent="-457200" eaLnBrk="0" fontAlgn="base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kumimoji="0" lang="en-US" altLang="en-US" sz="2800" b="1" i="0" u="none" strike="noStrike" cap="none" normalizeH="0" baseline="0" dirty="0" smtClean="0">
                  <a:ln>
                    <a:noFill/>
                  </a:ln>
                  <a:solidFill>
                    <a:srgbClr val="711662"/>
                  </a:solidFill>
                  <a:effectLst/>
                  <a:latin typeface="Open Sauce" panose="020B0604020202020204" charset="0"/>
                </a:rPr>
                <a:t>Main Objective:</a:t>
              </a:r>
              <a:endParaRPr lang="en-US" altLang="en-US" sz="2800" b="1" dirty="0">
                <a:solidFill>
                  <a:srgbClr val="711662"/>
                </a:solidFill>
                <a:latin typeface="Open Sauce" panose="020B0604020202020204" charset="0"/>
              </a:endParaRP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altLang="en-US" sz="2400" dirty="0" smtClean="0">
                  <a:latin typeface="Open Sauce" panose="020B0604020202020204" charset="0"/>
                </a:rPr>
                <a:t>Identify </a:t>
              </a:r>
              <a:r>
                <a:rPr lang="en-US" altLang="en-US" sz="2400" dirty="0">
                  <a:latin typeface="Open Sauce" panose="020B0604020202020204" charset="0"/>
                </a:rPr>
                <a:t>student usage patterns of short video platforms.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altLang="en-US" sz="2400" dirty="0">
                  <a:latin typeface="Open Sauce" panose="020B0604020202020204" charset="0"/>
                </a:rPr>
                <a:t>Understand how these videos affect study habits and focus.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altLang="en-US" sz="2400" dirty="0">
                  <a:latin typeface="Open Sauce" panose="020B0604020202020204" charset="0"/>
                </a:rPr>
                <a:t>Explore whether students find any educational value in such content.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altLang="en-US" sz="2400" dirty="0">
                  <a:latin typeface="Open Sauce" panose="020B0604020202020204" charset="0"/>
                </a:rPr>
                <a:t>Examine emotional impacts like guilt and fatigue.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ü"/>
              </a:pPr>
              <a:r>
                <a:rPr lang="en-US" altLang="en-US" sz="2400" dirty="0">
                  <a:latin typeface="Open Sauce" panose="020B0604020202020204" charset="0"/>
                </a:rPr>
                <a:t>Suggest strategies to balance video use with academics.</a:t>
              </a:r>
            </a:p>
            <a:p>
              <a:pPr marL="457200" marR="0" lvl="0" indent="-457200" defTabSz="914400" rtl="0" eaLnBrk="0" fontAlgn="base" latinLnBrk="0" hangingPunct="0">
                <a:lnSpc>
                  <a:spcPct val="2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Ø"/>
                <a:tabLst/>
              </a:pPr>
              <a:endParaRPr kumimoji="0" lang="en-US" altLang="en-US" sz="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uce" panose="020B0604020202020204" charset="0"/>
              </a:endParaRPr>
            </a:p>
            <a:p>
              <a:pPr marL="0" marR="0" lvl="0" indent="0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" name="Isosceles Triangle 1"/>
          <p:cNvSpPr/>
          <p:nvPr/>
        </p:nvSpPr>
        <p:spPr>
          <a:xfrm rot="16200000">
            <a:off x="15487649" y="-171452"/>
            <a:ext cx="2628901" cy="2971800"/>
          </a:xfrm>
          <a:prstGeom prst="triangle">
            <a:avLst>
              <a:gd name="adj" fmla="val 100000"/>
            </a:avLst>
          </a:prstGeom>
          <a:solidFill>
            <a:srgbClr val="71166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1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2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10907108" y="69947"/>
            <a:ext cx="4637692" cy="9474227"/>
            <a:chOff x="10726750" y="69947"/>
            <a:chExt cx="4637692" cy="9474227"/>
          </a:xfrm>
        </p:grpSpPr>
        <p:grpSp>
          <p:nvGrpSpPr>
            <p:cNvPr id="26" name="Group 25"/>
            <p:cNvGrpSpPr/>
            <p:nvPr/>
          </p:nvGrpSpPr>
          <p:grpSpPr>
            <a:xfrm>
              <a:off x="10726750" y="69947"/>
              <a:ext cx="3488661" cy="9474227"/>
              <a:chOff x="10726750" y="69947"/>
              <a:chExt cx="3488661" cy="9474227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7067" b="31467" l="0" r="28700"/>
                        </a14:imgEffect>
                      </a14:imgLayer>
                    </a14:imgProps>
                  </a:ext>
                </a:extLst>
              </a:blip>
              <a:srcRect r="75200" b="65867"/>
              <a:stretch/>
            </p:blipFill>
            <p:spPr>
              <a:xfrm>
                <a:off x="10726751" y="69947"/>
                <a:ext cx="3232954" cy="3337245"/>
              </a:xfrm>
              <a:prstGeom prst="rect">
                <a:avLst/>
              </a:prstGeom>
            </p:spPr>
          </p:pic>
          <p:pic>
            <p:nvPicPr>
              <p:cNvPr id="23" name="Picture 22"/>
              <p:cNvPicPr>
                <a:picLocks noChangeAspect="1"/>
              </p:cNvPicPr>
              <p:nvPr/>
            </p:nvPicPr>
            <p:blipFill rotWithShape="1"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78000" b="93467" l="4200" r="201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005" t="74140" r="79981" b="1486"/>
              <a:stretch/>
            </p:blipFill>
            <p:spPr>
              <a:xfrm>
                <a:off x="10726750" y="2742312"/>
                <a:ext cx="3173517" cy="3864051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72800" y="6301563"/>
                <a:ext cx="3242611" cy="3242611"/>
              </a:xfrm>
              <a:prstGeom prst="rect">
                <a:avLst/>
              </a:prstGeom>
            </p:spPr>
          </p:pic>
        </p:grpSp>
        <p:sp>
          <p:nvSpPr>
            <p:cNvPr id="27" name="TextBox 26"/>
            <p:cNvSpPr txBox="1"/>
            <p:nvPr/>
          </p:nvSpPr>
          <p:spPr>
            <a:xfrm>
              <a:off x="14263654" y="571500"/>
              <a:ext cx="1100788" cy="89562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S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H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O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R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T</a:t>
              </a:r>
            </a:p>
            <a:p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/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V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I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D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E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O</a:t>
              </a:r>
              <a:b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</a:br>
              <a:r>
                <a:rPr lang="en-US" sz="4800" b="1" dirty="0" smtClean="0">
                  <a:solidFill>
                    <a:srgbClr val="711662"/>
                  </a:solidFill>
                  <a:effectLst>
                    <a:outerShdw blurRad="50800" dist="38100" dir="8100000" algn="tr" rotWithShape="0">
                      <a:prstClr val="black">
                        <a:alpha val="40000"/>
                      </a:prstClr>
                    </a:outerShdw>
                  </a:effectLst>
                </a:rPr>
                <a:t>S</a:t>
              </a:r>
              <a:endParaRPr lang="en-US" sz="4800" b="1" dirty="0">
                <a:solidFill>
                  <a:srgbClr val="711662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2/11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907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20680" y="584297"/>
            <a:ext cx="12384474" cy="6589212"/>
            <a:chOff x="120680" y="584297"/>
            <a:chExt cx="12384474" cy="6589212"/>
          </a:xfrm>
        </p:grpSpPr>
        <p:sp>
          <p:nvSpPr>
            <p:cNvPr id="14" name="TextBox 14"/>
            <p:cNvSpPr txBox="1"/>
            <p:nvPr/>
          </p:nvSpPr>
          <p:spPr>
            <a:xfrm>
              <a:off x="120680" y="2649194"/>
              <a:ext cx="12384474" cy="45243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99509" lvl="1" indent="-342900" algn="just">
                <a:lnSpc>
                  <a:spcPct val="150000"/>
                </a:lnSpc>
                <a:buFont typeface="Wingdings" panose="05000000000000000000" pitchFamily="2" charset="2"/>
                <a:buChar char="Ø"/>
              </a:pPr>
              <a:r>
                <a:rPr lang="en-US" sz="2800" dirty="0">
                  <a:solidFill>
                    <a:srgbClr val="711662"/>
                  </a:solidFill>
                  <a:latin typeface="Open Sauce" panose="020B0604020202020204" charset="0"/>
                </a:rPr>
                <a:t>How We Conducted the </a:t>
              </a:r>
              <a:r>
                <a:rPr lang="en-US" sz="2800" dirty="0" smtClean="0">
                  <a:solidFill>
                    <a:srgbClr val="711662"/>
                  </a:solidFill>
                  <a:latin typeface="Open Sauce" panose="020B0604020202020204" charset="0"/>
                </a:rPr>
                <a:t>Survey</a:t>
              </a:r>
              <a:endParaRPr lang="en-US" sz="2400" spc="-66" dirty="0" smtClean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endParaRPr>
            </a:p>
            <a:p>
              <a:pPr marL="1170418" lvl="2" indent="-356609" algn="just">
                <a:lnSpc>
                  <a:spcPct val="300000"/>
                </a:lnSpc>
                <a:buFont typeface="Arial"/>
                <a:buChar char="•"/>
              </a:pPr>
              <a:r>
                <a:rPr lang="en-US" sz="2400" dirty="0">
                  <a:latin typeface="Open Sauce" panose="020B0604020202020204" charset="0"/>
                </a:rPr>
                <a:t>Shared Google Form with university </a:t>
              </a:r>
              <a:r>
                <a:rPr lang="en-US" sz="2400" dirty="0" smtClean="0">
                  <a:latin typeface="Open Sauce" panose="020B0604020202020204" charset="0"/>
                </a:rPr>
                <a:t>students.</a:t>
              </a:r>
              <a:endPara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endParaRPr>
            </a:p>
            <a:p>
              <a:pPr marL="1170418" lvl="2" indent="-356609" algn="just">
                <a:lnSpc>
                  <a:spcPct val="300000"/>
                </a:lnSpc>
                <a:buFont typeface="Arial"/>
                <a:buChar char="•"/>
              </a:pPr>
              <a:r>
                <a:rPr lang="en-US" sz="2400" dirty="0">
                  <a:latin typeface="Open Sauce" panose="020B0604020202020204" charset="0"/>
                </a:rPr>
                <a:t>Total responses</a:t>
              </a:r>
              <a:r>
                <a:rPr lang="en-US" sz="2400">
                  <a:latin typeface="Open Sauce" panose="020B0604020202020204" charset="0"/>
                </a:rPr>
                <a:t>: </a:t>
              </a:r>
              <a:r>
                <a:rPr lang="en-US" sz="2400" b="1" smtClean="0">
                  <a:latin typeface="Open Sauce" panose="020B0604020202020204" charset="0"/>
                </a:rPr>
                <a:t>37 </a:t>
              </a:r>
              <a:r>
                <a:rPr lang="en-US" sz="2400" b="1" dirty="0" smtClean="0">
                  <a:latin typeface="Open Sauce" panose="020B0604020202020204" charset="0"/>
                </a:rPr>
                <a:t>students.</a:t>
              </a:r>
              <a:endPara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endParaRPr>
            </a:p>
            <a:p>
              <a:pPr marL="1170418" lvl="2" indent="-356609" algn="just">
                <a:lnSpc>
                  <a:spcPct val="300000"/>
                </a:lnSpc>
                <a:buFont typeface="Arial"/>
                <a:buChar char="•"/>
              </a:pPr>
              <a:r>
                <a:rPr lang="en-US" sz="2400" dirty="0">
                  <a:latin typeface="Open Sauce" panose="020B0604020202020204" charset="0"/>
                </a:rPr>
                <a:t>Questions focused on screen time, purpose, impact, and </a:t>
              </a:r>
              <a:r>
                <a:rPr lang="en-US" sz="2400" dirty="0" smtClean="0">
                  <a:latin typeface="Open Sauce" panose="020B0604020202020204" charset="0"/>
                </a:rPr>
                <a:t>guilt.</a:t>
              </a:r>
              <a:endPara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endParaRPr>
            </a:p>
            <a:p>
              <a:pPr algn="just">
                <a:lnSpc>
                  <a:spcPct val="150000"/>
                </a:lnSpc>
              </a:pPr>
              <a:endParaRPr lang="en-US" sz="2400" spc="-66" dirty="0">
                <a:solidFill>
                  <a:srgbClr val="00162E"/>
                </a:solidFill>
                <a:latin typeface="Open Sauce" panose="020B0604020202020204" charset="0"/>
                <a:ea typeface="Open Sauce"/>
                <a:cs typeface="Open Sauce"/>
                <a:sym typeface="Open Sauce"/>
              </a:endParaRPr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457200" y="584297"/>
              <a:ext cx="9485075" cy="1966888"/>
              <a:chOff x="1028700" y="857250"/>
              <a:chExt cx="9485075" cy="1966888"/>
            </a:xfrm>
          </p:grpSpPr>
          <p:grpSp>
            <p:nvGrpSpPr>
              <p:cNvPr id="3" name="Group 3"/>
              <p:cNvGrpSpPr/>
              <p:nvPr/>
            </p:nvGrpSpPr>
            <p:grpSpPr>
              <a:xfrm>
                <a:off x="1028700" y="2471249"/>
                <a:ext cx="1349281" cy="352889"/>
                <a:chOff x="0" y="0"/>
                <a:chExt cx="1799041" cy="470519"/>
              </a:xfrm>
            </p:grpSpPr>
            <p:grpSp>
              <p:nvGrpSpPr>
                <p:cNvPr id="4" name="Group 4"/>
                <p:cNvGrpSpPr/>
                <p:nvPr/>
              </p:nvGrpSpPr>
              <p:grpSpPr>
                <a:xfrm>
                  <a:off x="0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5" name="Freeform 5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162E">
                          <a:alpha val="100000"/>
                        </a:srgbClr>
                      </a:gs>
                      <a:gs pos="100000">
                        <a:srgbClr val="D63DA0">
                          <a:alpha val="100000"/>
                        </a:srgbClr>
                      </a:gs>
                    </a:gsLst>
                    <a:lin ang="0"/>
                  </a:gradFill>
                </p:spPr>
              </p:sp>
              <p:sp>
                <p:nvSpPr>
                  <p:cNvPr id="6" name="TextBox 6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/>
                  </a:p>
                </p:txBody>
              </p:sp>
            </p:grpSp>
            <p:grpSp>
              <p:nvGrpSpPr>
                <p:cNvPr id="7" name="Group 7"/>
                <p:cNvGrpSpPr/>
                <p:nvPr/>
              </p:nvGrpSpPr>
              <p:grpSpPr>
                <a:xfrm>
                  <a:off x="667461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8" name="Freeform 8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162E">
                          <a:alpha val="100000"/>
                        </a:srgbClr>
                      </a:gs>
                      <a:gs pos="100000">
                        <a:srgbClr val="D63DA0">
                          <a:alpha val="100000"/>
                        </a:srgbClr>
                      </a:gs>
                    </a:gsLst>
                    <a:lin ang="0"/>
                  </a:gradFill>
                </p:spPr>
              </p:sp>
              <p:sp>
                <p:nvSpPr>
                  <p:cNvPr id="9" name="TextBox 9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endParaRPr>
                  </a:p>
                </p:txBody>
              </p:sp>
            </p:grpSp>
            <p:grpSp>
              <p:nvGrpSpPr>
                <p:cNvPr id="10" name="Group 10"/>
                <p:cNvGrpSpPr/>
                <p:nvPr/>
              </p:nvGrpSpPr>
              <p:grpSpPr>
                <a:xfrm>
                  <a:off x="1328523" y="0"/>
                  <a:ext cx="470519" cy="470519"/>
                  <a:chOff x="0" y="0"/>
                  <a:chExt cx="812800" cy="812800"/>
                </a:xfrm>
              </p:grpSpPr>
              <p:sp>
                <p:nvSpPr>
                  <p:cNvPr id="11" name="Freeform 11"/>
                  <p:cNvSpPr/>
                  <p:nvPr/>
                </p:nvSpPr>
                <p:spPr>
                  <a:xfrm>
                    <a:off x="0" y="0"/>
                    <a:ext cx="812800" cy="81280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12800" h="812800">
                        <a:moveTo>
                          <a:pt x="406400" y="0"/>
                        </a:moveTo>
                        <a:cubicBezTo>
                          <a:pt x="181951" y="0"/>
                          <a:pt x="0" y="181951"/>
                          <a:pt x="0" y="406400"/>
                        </a:cubicBezTo>
                        <a:cubicBezTo>
                          <a:pt x="0" y="630849"/>
                          <a:pt x="181951" y="812800"/>
                          <a:pt x="406400" y="812800"/>
                        </a:cubicBezTo>
                        <a:cubicBezTo>
                          <a:pt x="630849" y="812800"/>
                          <a:pt x="812800" y="630849"/>
                          <a:pt x="812800" y="406400"/>
                        </a:cubicBezTo>
                        <a:cubicBezTo>
                          <a:pt x="812800" y="181951"/>
                          <a:pt x="630849" y="0"/>
                          <a:pt x="40640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162E">
                          <a:alpha val="100000"/>
                        </a:srgbClr>
                      </a:gs>
                      <a:gs pos="100000">
                        <a:srgbClr val="D63DA0">
                          <a:alpha val="100000"/>
                        </a:srgbClr>
                      </a:gs>
                    </a:gsLst>
                    <a:lin ang="0"/>
                  </a:gradFill>
                </p:spPr>
              </p:sp>
              <p:sp>
                <p:nvSpPr>
                  <p:cNvPr id="12" name="TextBox 12"/>
                  <p:cNvSpPr txBox="1"/>
                  <p:nvPr/>
                </p:nvSpPr>
                <p:spPr>
                  <a:xfrm>
                    <a:off x="76200" y="38100"/>
                    <a:ext cx="660400" cy="698500"/>
                  </a:xfrm>
                  <a:prstGeom prst="rect">
                    <a:avLst/>
                  </a:prstGeom>
                </p:spPr>
                <p:txBody>
                  <a:bodyPr lIns="50800" tIns="50800" rIns="50800" bIns="50800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 dirty="0"/>
                  </a:p>
                </p:txBody>
              </p:sp>
            </p:grpSp>
          </p:grpSp>
          <p:sp>
            <p:nvSpPr>
              <p:cNvPr id="16" name="TextBox 16"/>
              <p:cNvSpPr txBox="1"/>
              <p:nvPr/>
            </p:nvSpPr>
            <p:spPr>
              <a:xfrm>
                <a:off x="1028700" y="857250"/>
                <a:ext cx="9485075" cy="147905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2320"/>
                  </a:lnSpc>
                </a:pPr>
                <a:r>
                  <a:rPr lang="en-US" sz="8800" dirty="0" smtClean="0">
                    <a:solidFill>
                      <a:srgbClr val="71166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nton"/>
                    <a:ea typeface="Anton"/>
                    <a:cs typeface="Anton"/>
                    <a:sym typeface="Anton"/>
                  </a:rPr>
                  <a:t>METHODOLOGY</a:t>
                </a:r>
                <a:endParaRPr lang="en-US" sz="8800" dirty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</p:grpSp>
      <p:grpSp>
        <p:nvGrpSpPr>
          <p:cNvPr id="21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2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3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10224978" y="613102"/>
            <a:ext cx="6964530" cy="7087590"/>
            <a:chOff x="10224978" y="613102"/>
            <a:chExt cx="6964530" cy="7087590"/>
          </a:xfrm>
        </p:grpSpPr>
        <p:pic>
          <p:nvPicPr>
            <p:cNvPr id="2050" name="Picture 2" descr="Survey - Free files and folders icons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224978" y="613102"/>
              <a:ext cx="3809999" cy="381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30" name="Group 29"/>
            <p:cNvGrpSpPr/>
            <p:nvPr/>
          </p:nvGrpSpPr>
          <p:grpSpPr>
            <a:xfrm>
              <a:off x="14056242" y="4368199"/>
              <a:ext cx="3133266" cy="3332493"/>
              <a:chOff x="11353800" y="4838700"/>
              <a:chExt cx="4114800" cy="4876800"/>
            </a:xfrm>
          </p:grpSpPr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0" b="100000" l="21829" r="79146"/>
                        </a14:imgEffect>
                      </a14:imgLayer>
                    </a14:imgProps>
                  </a:ext>
                </a:extLst>
              </a:blip>
              <a:srcRect l="23415" r="23902"/>
              <a:stretch/>
            </p:blipFill>
            <p:spPr>
              <a:xfrm>
                <a:off x="11353800" y="4838700"/>
                <a:ext cx="4114800" cy="4876800"/>
              </a:xfrm>
              <a:prstGeom prst="rect">
                <a:avLst/>
              </a:prstGeom>
            </p:spPr>
          </p:pic>
          <p:grpSp>
            <p:nvGrpSpPr>
              <p:cNvPr id="26" name="Group 25"/>
              <p:cNvGrpSpPr/>
              <p:nvPr/>
            </p:nvGrpSpPr>
            <p:grpSpPr>
              <a:xfrm>
                <a:off x="12573000" y="6895505"/>
                <a:ext cx="2209800" cy="2022031"/>
                <a:chOff x="7637418" y="2563812"/>
                <a:chExt cx="2209800" cy="2022031"/>
              </a:xfrm>
            </p:grpSpPr>
            <p:pic>
              <p:nvPicPr>
                <p:cNvPr id="2052" name="Picture 4" descr="Google Form Logo Surveys, PNG, 512x512px, Logo, Electric Blue, Mobile Phone  Case, Parallel, Purple Download Free"/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36133" b="85547" l="30122" r="69024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9390" t="42649" r="32317" b="43288"/>
                <a:stretch/>
              </p:blipFill>
              <p:spPr bwMode="auto">
                <a:xfrm>
                  <a:off x="7637418" y="3238500"/>
                  <a:ext cx="2209800" cy="685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8" name="Picture 4" descr="Google Form Logo Surveys, PNG, 512x512px, Logo, Electric Blue, Mobile Phone  Case, Parallel, Purple Download Free"/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36133" b="85547" l="30122" r="69024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9390" t="42649" r="32317" b="43288"/>
                <a:stretch/>
              </p:blipFill>
              <p:spPr bwMode="auto">
                <a:xfrm>
                  <a:off x="7637418" y="2563812"/>
                  <a:ext cx="2209800" cy="685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9" name="Picture 4" descr="Google Form Logo Surveys, PNG, 512x512px, Logo, Electric Blue, Mobile Phone  Case, Parallel, Purple Download Free"/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36133" b="85547" l="30122" r="69024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9390" t="42649" r="32317" b="43288"/>
                <a:stretch/>
              </p:blipFill>
              <p:spPr bwMode="auto">
                <a:xfrm>
                  <a:off x="7637418" y="3900043"/>
                  <a:ext cx="2209800" cy="685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27" name="Group 26"/>
              <p:cNvGrpSpPr/>
              <p:nvPr/>
            </p:nvGrpSpPr>
            <p:grpSpPr>
              <a:xfrm>
                <a:off x="12039600" y="6745287"/>
                <a:ext cx="685800" cy="2208213"/>
                <a:chOff x="9144000" y="1181100"/>
                <a:chExt cx="685800" cy="2208213"/>
              </a:xfrm>
            </p:grpSpPr>
            <p:pic>
              <p:nvPicPr>
                <p:cNvPr id="2054" name="Picture 6" descr="Google Form Logo Surveys, PNG, 512x512px, Logo, Electric Blue, Mobile Phone  Case, Parallel, Purple Download Free"/>
                <p:cNvPicPr>
                  <a:picLocks noChangeAspect="1" noChangeArrowheads="1"/>
                </p:cNvPicPr>
                <p:nvPr/>
              </p:nvPicPr>
              <p:blipFill rotWithShape="1"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39844" b="89844" l="33049" r="42073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3769" t="53072" r="57451" b="29740"/>
                <a:stretch/>
              </p:blipFill>
              <p:spPr bwMode="auto">
                <a:xfrm>
                  <a:off x="9144000" y="1876743"/>
                  <a:ext cx="685800" cy="8382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2" name="Picture 6" descr="Google Form Logo Surveys, PNG, 512x512px, Logo, Electric Blue, Mobile Phone  Case, Parallel, Purple Download Free"/>
                <p:cNvPicPr>
                  <a:picLocks noChangeAspect="1" noChangeArrowheads="1"/>
                </p:cNvPicPr>
                <p:nvPr/>
              </p:nvPicPr>
              <p:blipFill rotWithShape="1"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39844" b="89844" l="33049" r="42073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3769" t="53072" r="57451" b="29740"/>
                <a:stretch/>
              </p:blipFill>
              <p:spPr bwMode="auto">
                <a:xfrm>
                  <a:off x="9144000" y="1181100"/>
                  <a:ext cx="685800" cy="8382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3" name="Picture 6" descr="Google Form Logo Surveys, PNG, 512x512px, Logo, Electric Blue, Mobile Phone  Case, Parallel, Purple Download Free"/>
                <p:cNvPicPr>
                  <a:picLocks noChangeAspect="1" noChangeArrowheads="1"/>
                </p:cNvPicPr>
                <p:nvPr/>
              </p:nvPicPr>
              <p:blipFill rotWithShape="1"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39844" b="89844" l="33049" r="42073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3769" t="53072" r="57451" b="29740"/>
                <a:stretch/>
              </p:blipFill>
              <p:spPr bwMode="auto">
                <a:xfrm>
                  <a:off x="9144000" y="2551113"/>
                  <a:ext cx="685800" cy="8382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</p:grpSp>
      </p:grpSp>
      <p:pic>
        <p:nvPicPr>
          <p:cNvPr id="31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8493" y="6989958"/>
            <a:ext cx="10908847" cy="27668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0" name="Isosceles Triangle 39"/>
          <p:cNvSpPr/>
          <p:nvPr/>
        </p:nvSpPr>
        <p:spPr>
          <a:xfrm rot="16200000">
            <a:off x="15487649" y="-171452"/>
            <a:ext cx="2628901" cy="2971800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5400000" scaled="1"/>
          </a:gra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3/11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457200" y="647700"/>
            <a:ext cx="13868400" cy="8399085"/>
            <a:chOff x="457200" y="647700"/>
            <a:chExt cx="13868400" cy="8399085"/>
          </a:xfrm>
        </p:grpSpPr>
        <p:grpSp>
          <p:nvGrpSpPr>
            <p:cNvPr id="2" name="Group 1"/>
            <p:cNvGrpSpPr/>
            <p:nvPr/>
          </p:nvGrpSpPr>
          <p:grpSpPr>
            <a:xfrm>
              <a:off x="457200" y="647700"/>
              <a:ext cx="13868400" cy="8399085"/>
              <a:chOff x="457200" y="647700"/>
              <a:chExt cx="13868400" cy="8399085"/>
            </a:xfrm>
          </p:grpSpPr>
          <p:grpSp>
            <p:nvGrpSpPr>
              <p:cNvPr id="8" name="Group 7"/>
              <p:cNvGrpSpPr/>
              <p:nvPr/>
            </p:nvGrpSpPr>
            <p:grpSpPr>
              <a:xfrm>
                <a:off x="457200" y="647700"/>
                <a:ext cx="13868400" cy="1905000"/>
                <a:chOff x="457200" y="647700"/>
                <a:chExt cx="13868400" cy="1905000"/>
              </a:xfrm>
            </p:grpSpPr>
            <p:sp>
              <p:nvSpPr>
                <p:cNvPr id="3" name="TextBox 2"/>
                <p:cNvSpPr txBox="1"/>
                <p:nvPr/>
              </p:nvSpPr>
              <p:spPr>
                <a:xfrm>
                  <a:off x="457200" y="647700"/>
                  <a:ext cx="13868400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800" dirty="0" smtClean="0">
                      <a:solidFill>
                        <a:srgbClr val="711662"/>
                      </a:solidFill>
                      <a:latin typeface="Anton" panose="020B0604020202020204" charset="0"/>
                    </a:rPr>
                    <a:t>KEY FINDINGS</a:t>
                  </a:r>
                  <a:endParaRPr lang="en-US" sz="8800" dirty="0">
                    <a:solidFill>
                      <a:srgbClr val="71166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nton" panose="020B0604020202020204" charset="0"/>
                  </a:endParaRPr>
                </a:p>
              </p:txBody>
            </p:sp>
            <p:sp>
              <p:nvSpPr>
                <p:cNvPr id="4" name="Freeform 5"/>
                <p:cNvSpPr/>
                <p:nvPr/>
              </p:nvSpPr>
              <p:spPr>
                <a:xfrm>
                  <a:off x="533400" y="2199811"/>
                  <a:ext cx="352889" cy="352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5" name="Freeform 8"/>
                <p:cNvSpPr/>
                <p:nvPr/>
              </p:nvSpPr>
              <p:spPr>
                <a:xfrm>
                  <a:off x="1033996" y="2199811"/>
                  <a:ext cx="352889" cy="352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6" name="Freeform 11"/>
                <p:cNvSpPr/>
                <p:nvPr/>
              </p:nvSpPr>
              <p:spPr>
                <a:xfrm>
                  <a:off x="1529792" y="2199811"/>
                  <a:ext cx="352889" cy="3528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</p:grpSp>
          <p:grpSp>
            <p:nvGrpSpPr>
              <p:cNvPr id="19" name="Group 18"/>
              <p:cNvGrpSpPr/>
              <p:nvPr/>
            </p:nvGrpSpPr>
            <p:grpSpPr>
              <a:xfrm>
                <a:off x="531628" y="2552700"/>
                <a:ext cx="7977962" cy="6494085"/>
                <a:chOff x="531628" y="2552700"/>
                <a:chExt cx="7977962" cy="6494085"/>
              </a:xfrm>
            </p:grpSpPr>
            <p:sp>
              <p:nvSpPr>
                <p:cNvPr id="7" name="TextBox 6"/>
                <p:cNvSpPr txBox="1"/>
                <p:nvPr/>
              </p:nvSpPr>
              <p:spPr>
                <a:xfrm>
                  <a:off x="531628" y="2552700"/>
                  <a:ext cx="7977962" cy="649408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457200" indent="-457200">
                    <a:lnSpc>
                      <a:spcPct val="200000"/>
                    </a:lnSpc>
                    <a:buFont typeface="Wingdings" panose="05000000000000000000" pitchFamily="2" charset="2"/>
                    <a:buChar char="Ø"/>
                  </a:pPr>
                  <a:r>
                    <a:rPr lang="en-US" sz="2800" b="1" dirty="0">
                      <a:solidFill>
                        <a:srgbClr val="711662"/>
                      </a:solidFill>
                      <a:latin typeface="Open Sauce" panose="020B0604020202020204" charset="0"/>
                    </a:rPr>
                    <a:t>Usage Patterns </a:t>
                  </a:r>
                  <a:r>
                    <a:rPr lang="en-US" sz="2800" b="1" dirty="0" smtClean="0">
                      <a:solidFill>
                        <a:srgbClr val="711662"/>
                      </a:solidFill>
                      <a:latin typeface="Open Sauce" panose="020B0604020202020204" charset="0"/>
                    </a:rPr>
                    <a:t>:</a:t>
                  </a:r>
                  <a:endParaRPr lang="en-US" sz="2800" b="1" dirty="0">
                    <a:solidFill>
                      <a:srgbClr val="711662"/>
                    </a:solidFill>
                    <a:latin typeface="Open Sauce" panose="020B0604020202020204" charset="0"/>
                  </a:endParaRPr>
                </a:p>
                <a:p>
                  <a:pPr marL="285750" lvl="0" indent="-285750" eaLnBrk="0" fontAlgn="base" hangingPunct="0">
                    <a:lnSpc>
                      <a:spcPct val="3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en-US" sz="2400" dirty="0">
                      <a:latin typeface="Open Sauce" panose="020B0604020202020204" charset="0"/>
                    </a:rPr>
                    <a:t>70.3% of students watch short videos daily.</a:t>
                  </a:r>
                </a:p>
                <a:p>
                  <a:pPr marL="285750" lvl="0" indent="-285750" eaLnBrk="0" fontAlgn="base" hangingPunct="0">
                    <a:lnSpc>
                      <a:spcPct val="3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en-US" sz="2400" dirty="0">
                      <a:latin typeface="Open Sauce" panose="020B0604020202020204" charset="0"/>
                    </a:rPr>
                    <a:t>Most spend 1–2 hours per day, some more than 3.</a:t>
                  </a:r>
                </a:p>
                <a:p>
                  <a:pPr marL="285750" lvl="0" indent="-285750" eaLnBrk="0" fontAlgn="base" hangingPunct="0">
                    <a:lnSpc>
                      <a:spcPct val="3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en-US" sz="2400" b="1" dirty="0">
                      <a:latin typeface="Open Sauce" panose="020B0604020202020204" charset="0"/>
                    </a:rPr>
                    <a:t>Main purpose: </a:t>
                  </a:r>
                  <a:r>
                    <a:rPr lang="en-US" altLang="en-US" sz="2400" dirty="0" smtClean="0">
                      <a:latin typeface="Open Sauce" panose="020B0604020202020204" charset="0"/>
                    </a:rPr>
                    <a:t>Entertainment </a:t>
                  </a:r>
                  <a:r>
                    <a:rPr lang="en-US" altLang="en-US" sz="2400" dirty="0">
                      <a:latin typeface="Open Sauce" panose="020B0604020202020204" charset="0"/>
                    </a:rPr>
                    <a:t>(54.1%), followed by </a:t>
                  </a:r>
                </a:p>
                <a:p>
                  <a:pPr marL="285750" lvl="0" indent="-285750" eaLnBrk="0" fontAlgn="base" hangingPunct="0">
                    <a:lnSpc>
                      <a:spcPct val="3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en-US" sz="2400" dirty="0">
                      <a:latin typeface="Open Sauce" panose="020B0604020202020204" charset="0"/>
                    </a:rPr>
                    <a:t>Few watch videos to learn new things.</a:t>
                  </a:r>
                </a:p>
                <a:p>
                  <a:pPr marL="285750" lvl="0" indent="-285750" eaLnBrk="0" fontAlgn="base" hangingPunct="0">
                    <a:lnSpc>
                      <a:spcPct val="300000"/>
                    </a:lnSpc>
                    <a:spcBef>
                      <a:spcPct val="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•"/>
                  </a:pPr>
                  <a:r>
                    <a:rPr lang="en-US" altLang="en-US" sz="2400" dirty="0">
                      <a:latin typeface="Open Sauce" panose="020B0604020202020204" charset="0"/>
                    </a:rPr>
                    <a:t>Usage is frequent even during study breaks.</a:t>
                  </a:r>
                </a:p>
              </p:txBody>
            </p:sp>
            <p:sp>
              <p:nvSpPr>
                <p:cNvPr id="18" name="TextBox 17"/>
                <p:cNvSpPr txBox="1"/>
                <p:nvPr/>
              </p:nvSpPr>
              <p:spPr>
                <a:xfrm>
                  <a:off x="3124200" y="6485373"/>
                  <a:ext cx="2362200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 smtClean="0">
                      <a:latin typeface="Open Sauce" panose="020B0604020202020204" charset="0"/>
                    </a:rPr>
                    <a:t>Relaxation.</a:t>
                  </a:r>
                  <a:endParaRPr lang="en-US" sz="2400" dirty="0">
                    <a:latin typeface="Open Sauce" panose="020B0604020202020204" charset="0"/>
                  </a:endParaRPr>
                </a:p>
              </p:txBody>
            </p:sp>
          </p:grpSp>
        </p:grpSp>
        <p:pic>
          <p:nvPicPr>
            <p:cNvPr id="7171" name="Picture 3" descr="Finding Findings - 600 Commerce600 Commerce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0" b="100000" l="13911" r="8278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2000" y="1621318"/>
              <a:ext cx="3721282" cy="18627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Group 9"/>
          <p:cNvGrpSpPr/>
          <p:nvPr/>
        </p:nvGrpSpPr>
        <p:grpSpPr>
          <a:xfrm>
            <a:off x="9280451" y="1370975"/>
            <a:ext cx="7962012" cy="7690420"/>
            <a:chOff x="9280451" y="1370975"/>
            <a:chExt cx="7962012" cy="7690420"/>
          </a:xfrm>
        </p:grpSpPr>
        <p:grpSp>
          <p:nvGrpSpPr>
            <p:cNvPr id="20" name="Group 19"/>
            <p:cNvGrpSpPr/>
            <p:nvPr/>
          </p:nvGrpSpPr>
          <p:grpSpPr>
            <a:xfrm>
              <a:off x="9280451" y="1370975"/>
              <a:ext cx="7962012" cy="3454013"/>
              <a:chOff x="10097387" y="622005"/>
              <a:chExt cx="7962012" cy="3454013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 rotWithShape="1">
              <a:blip r:embed="rId4"/>
              <a:srcRect l="56098" b="50927"/>
              <a:stretch/>
            </p:blipFill>
            <p:spPr>
              <a:xfrm>
                <a:off x="13868400" y="705293"/>
                <a:ext cx="4190999" cy="1695008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22" name="Picture 21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0" b="100000" l="0" r="41636"/>
                        </a14:imgEffect>
                      </a14:imgLayer>
                    </a14:imgProps>
                  </a:ext>
                </a:extLst>
              </a:blip>
              <a:srcRect r="63857"/>
              <a:stretch/>
            </p:blipFill>
            <p:spPr>
              <a:xfrm>
                <a:off x="10097387" y="622005"/>
                <a:ext cx="3450266" cy="3454013"/>
              </a:xfrm>
              <a:prstGeom prst="rect">
                <a:avLst/>
              </a:prstGeom>
            </p:spPr>
          </p:pic>
        </p:grpSp>
        <p:grpSp>
          <p:nvGrpSpPr>
            <p:cNvPr id="23" name="Group 22"/>
            <p:cNvGrpSpPr/>
            <p:nvPr/>
          </p:nvGrpSpPr>
          <p:grpSpPr>
            <a:xfrm>
              <a:off x="9280451" y="5203413"/>
              <a:ext cx="7729868" cy="3857982"/>
              <a:chOff x="9280451" y="5188803"/>
              <a:chExt cx="7729868" cy="3857982"/>
            </a:xfrm>
          </p:grpSpPr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BEBA8EAE-BF5A-486C-A8C5-ECC9F3942E4B}">
                    <a14:imgProps xmlns:a14="http://schemas.microsoft.com/office/drawing/2010/main">
                      <a14:imgLayer r:embed="rId8">
                        <a14:imgEffect>
                          <a14:backgroundRemoval t="0" b="100000" l="0" r="52552"/>
                        </a14:imgEffect>
                      </a14:imgLayer>
                    </a14:imgProps>
                  </a:ext>
                </a:extLst>
              </a:blip>
              <a:srcRect t="1917" r="62317"/>
              <a:stretch/>
            </p:blipFill>
            <p:spPr>
              <a:xfrm>
                <a:off x="9280451" y="5524500"/>
                <a:ext cx="3597349" cy="3522285"/>
              </a:xfrm>
              <a:prstGeom prst="rect">
                <a:avLst/>
              </a:prstGeom>
            </p:spPr>
          </p:pic>
          <p:pic>
            <p:nvPicPr>
              <p:cNvPr id="25" name="Picture 24"/>
              <p:cNvPicPr>
                <a:picLocks noChangeAspect="1"/>
              </p:cNvPicPr>
              <p:nvPr/>
            </p:nvPicPr>
            <p:blipFill rotWithShape="1">
              <a:blip r:embed="rId9"/>
              <a:srcRect l="58530" b="51196"/>
              <a:stretch/>
            </p:blipFill>
            <p:spPr>
              <a:xfrm>
                <a:off x="13051464" y="5188803"/>
                <a:ext cx="3958855" cy="175260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</p:grpSp>
      </p:grpSp>
      <p:sp>
        <p:nvSpPr>
          <p:cNvPr id="27" name="Isosceles Triangle 26"/>
          <p:cNvSpPr/>
          <p:nvPr/>
        </p:nvSpPr>
        <p:spPr>
          <a:xfrm rot="16200000">
            <a:off x="16006994" y="-81196"/>
            <a:ext cx="2199813" cy="2362198"/>
          </a:xfrm>
          <a:prstGeom prst="triangle">
            <a:avLst>
              <a:gd name="adj" fmla="val 100000"/>
            </a:avLst>
          </a:prstGeom>
          <a:solidFill>
            <a:srgbClr val="711662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4/11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46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8288000" cy="190500"/>
          </a:xfrm>
          <a:prstGeom prst="rect">
            <a:avLst/>
          </a:prstGeom>
          <a:solidFill>
            <a:srgbClr val="71166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9144000" y="1688676"/>
            <a:ext cx="8819228" cy="8745510"/>
            <a:chOff x="9144000" y="1688676"/>
            <a:chExt cx="8819228" cy="8745510"/>
          </a:xfrm>
        </p:grpSpPr>
        <p:grpSp>
          <p:nvGrpSpPr>
            <p:cNvPr id="21" name="Group 20"/>
            <p:cNvGrpSpPr/>
            <p:nvPr/>
          </p:nvGrpSpPr>
          <p:grpSpPr>
            <a:xfrm>
              <a:off x="9144000" y="1688676"/>
              <a:ext cx="8610600" cy="3110199"/>
              <a:chOff x="9144000" y="1688676"/>
              <a:chExt cx="8991600" cy="3416242"/>
            </a:xfrm>
          </p:grpSpPr>
          <p:pic>
            <p:nvPicPr>
              <p:cNvPr id="15" name="Picture 14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backgroundRemoval t="0" b="100000" l="0" r="42620"/>
                        </a14:imgEffect>
                      </a14:imgLayer>
                    </a14:imgProps>
                  </a:ext>
                </a:extLst>
              </a:blip>
              <a:srcRect r="63690"/>
              <a:stretch/>
            </p:blipFill>
            <p:spPr>
              <a:xfrm>
                <a:off x="9144000" y="1688676"/>
                <a:ext cx="3429000" cy="3416242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 rotWithShape="1">
              <a:blip r:embed="rId5"/>
              <a:srcRect l="56357" b="46713"/>
              <a:stretch/>
            </p:blipFill>
            <p:spPr>
              <a:xfrm>
                <a:off x="13182600" y="2095784"/>
                <a:ext cx="4953000" cy="2187623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</p:grpSp>
        <p:grpSp>
          <p:nvGrpSpPr>
            <p:cNvPr id="22" name="Group 21"/>
            <p:cNvGrpSpPr/>
            <p:nvPr/>
          </p:nvGrpSpPr>
          <p:grpSpPr>
            <a:xfrm>
              <a:off x="11582400" y="3884847"/>
              <a:ext cx="6380828" cy="3581400"/>
              <a:chOff x="10178452" y="4554651"/>
              <a:chExt cx="6380828" cy="3581400"/>
            </a:xfrm>
          </p:grpSpPr>
          <p:pic>
            <p:nvPicPr>
              <p:cNvPr id="18" name="Picture 17"/>
              <p:cNvPicPr>
                <a:picLocks noChangeAspect="1"/>
              </p:cNvPicPr>
              <p:nvPr/>
            </p:nvPicPr>
            <p:blipFill>
              <a:blip r:embed="rId6"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backgroundRemoval t="9945" b="100000" l="0" r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0178452" y="4554651"/>
                <a:ext cx="3403320" cy="3581400"/>
              </a:xfrm>
              <a:prstGeom prst="rect">
                <a:avLst/>
              </a:prstGeom>
            </p:spPr>
          </p:pic>
          <p:pic>
            <p:nvPicPr>
              <p:cNvPr id="19" name="Picture 18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944600" y="4907575"/>
                <a:ext cx="2614680" cy="1863932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</p:grpSp>
        <p:grpSp>
          <p:nvGrpSpPr>
            <p:cNvPr id="25" name="Group 24"/>
            <p:cNvGrpSpPr/>
            <p:nvPr/>
          </p:nvGrpSpPr>
          <p:grpSpPr>
            <a:xfrm>
              <a:off x="9593063" y="6667688"/>
              <a:ext cx="7951078" cy="3766498"/>
              <a:chOff x="9593063" y="6667688"/>
              <a:chExt cx="7951078" cy="3766498"/>
            </a:xfrm>
          </p:grpSpPr>
          <p:pic>
            <p:nvPicPr>
              <p:cNvPr id="23" name="Picture 22"/>
              <p:cNvPicPr>
                <a:picLocks noChangeAspect="1"/>
              </p:cNvPicPr>
              <p:nvPr/>
            </p:nvPicPr>
            <p:blipFill>
              <a:blip r:embed="rId9"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backgroundRemoval t="2451" b="97549" l="0" r="10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9593063" y="6667688"/>
                <a:ext cx="3618792" cy="3766498"/>
              </a:xfrm>
              <a:prstGeom prst="rect">
                <a:avLst/>
              </a:prstGeom>
            </p:spPr>
          </p:pic>
          <p:pic>
            <p:nvPicPr>
              <p:cNvPr id="24" name="Picture 23"/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639800" y="7653060"/>
                <a:ext cx="3904341" cy="1995076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</p:grpSp>
      </p:grpSp>
      <p:grpSp>
        <p:nvGrpSpPr>
          <p:cNvPr id="5" name="Group 4"/>
          <p:cNvGrpSpPr/>
          <p:nvPr/>
        </p:nvGrpSpPr>
        <p:grpSpPr>
          <a:xfrm>
            <a:off x="457200" y="647700"/>
            <a:ext cx="13868400" cy="8685105"/>
            <a:chOff x="457200" y="647700"/>
            <a:chExt cx="13868400" cy="8685105"/>
          </a:xfrm>
        </p:grpSpPr>
        <p:sp>
          <p:nvSpPr>
            <p:cNvPr id="9" name="TextBox 8"/>
            <p:cNvSpPr txBox="1"/>
            <p:nvPr/>
          </p:nvSpPr>
          <p:spPr>
            <a:xfrm>
              <a:off x="457200" y="2346277"/>
              <a:ext cx="11125200" cy="69865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250000"/>
                </a:lnSpc>
                <a:buFont typeface="Wingdings" panose="05000000000000000000" pitchFamily="2" charset="2"/>
                <a:buChar char="Ø"/>
              </a:pPr>
              <a:r>
                <a:rPr lang="en-US" sz="2800" b="1" dirty="0">
                  <a:solidFill>
                    <a:srgbClr val="711662"/>
                  </a:solidFill>
                  <a:latin typeface="Open Sauce" panose="020B0604020202020204" charset="0"/>
                </a:rPr>
                <a:t>How It Affects Studies </a:t>
              </a:r>
              <a:r>
                <a:rPr lang="en-US" sz="2800" b="1" dirty="0" smtClean="0">
                  <a:solidFill>
                    <a:srgbClr val="711662"/>
                  </a:solidFill>
                  <a:latin typeface="Open Sauce" panose="020B0604020202020204" charset="0"/>
                </a:rPr>
                <a:t>: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64.9% said videos delay their study progress.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57% said videos sometimes replace study time.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56.8% felt their academic performance is negatively affected.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Majority felt mentally drained after long scrolling sessions.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Guilt reported by many students after wasting study time.</a:t>
              </a:r>
            </a:p>
            <a:p>
              <a:endParaRPr lang="en-US" dirty="0"/>
            </a:p>
          </p:txBody>
        </p:sp>
        <p:grpSp>
          <p:nvGrpSpPr>
            <p:cNvPr id="4" name="Group 3"/>
            <p:cNvGrpSpPr/>
            <p:nvPr/>
          </p:nvGrpSpPr>
          <p:grpSpPr>
            <a:xfrm>
              <a:off x="457200" y="647700"/>
              <a:ext cx="13868400" cy="3403258"/>
              <a:chOff x="457200" y="647700"/>
              <a:chExt cx="13868400" cy="3403258"/>
            </a:xfrm>
          </p:grpSpPr>
          <p:grpSp>
            <p:nvGrpSpPr>
              <p:cNvPr id="3" name="Group 2"/>
              <p:cNvGrpSpPr/>
              <p:nvPr/>
            </p:nvGrpSpPr>
            <p:grpSpPr>
              <a:xfrm>
                <a:off x="457200" y="647700"/>
                <a:ext cx="13868400" cy="1725199"/>
                <a:chOff x="457200" y="647700"/>
                <a:chExt cx="13868400" cy="1725199"/>
              </a:xfrm>
            </p:grpSpPr>
            <p:sp>
              <p:nvSpPr>
                <p:cNvPr id="2" name="TextBox 1"/>
                <p:cNvSpPr txBox="1"/>
                <p:nvPr/>
              </p:nvSpPr>
              <p:spPr>
                <a:xfrm>
                  <a:off x="457200" y="647700"/>
                  <a:ext cx="13868400" cy="14465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8800" dirty="0" smtClean="0">
                      <a:solidFill>
                        <a:srgbClr val="711662"/>
                      </a:solidFill>
                      <a:latin typeface="Anton" panose="020B0604020202020204" charset="0"/>
                    </a:rPr>
                    <a:t>Findings </a:t>
                  </a:r>
                  <a:r>
                    <a:rPr lang="en-US" sz="8800" dirty="0">
                      <a:solidFill>
                        <a:srgbClr val="711662"/>
                      </a:solidFill>
                      <a:latin typeface="Anton" panose="020B0604020202020204" charset="0"/>
                    </a:rPr>
                    <a:t>– Academic Impact</a:t>
                  </a:r>
                  <a:endParaRPr lang="en-US" sz="8800" dirty="0">
                    <a:solidFill>
                      <a:srgbClr val="71166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nton" panose="020B0604020202020204" charset="0"/>
                  </a:endParaRPr>
                </a:p>
              </p:txBody>
            </p:sp>
            <p:pic>
              <p:nvPicPr>
                <p:cNvPr id="7" name="Picture 6"/>
                <p:cNvPicPr>
                  <a:picLocks noChangeAspect="1"/>
                </p:cNvPicPr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33400" y="2019300"/>
                  <a:ext cx="1347333" cy="353599"/>
                </a:xfrm>
                <a:prstGeom prst="rect">
                  <a:avLst/>
                </a:prstGeom>
              </p:spPr>
            </p:pic>
          </p:grpSp>
          <p:pic>
            <p:nvPicPr>
              <p:cNvPr id="27" name="Picture 26"/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10000" b="90000" l="10000" r="9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791200" y="1828929"/>
                <a:ext cx="2222029" cy="2222029"/>
              </a:xfrm>
              <a:prstGeom prst="rect">
                <a:avLst/>
              </a:prstGeom>
            </p:spPr>
          </p:pic>
        </p:grpSp>
      </p:grpSp>
      <p:sp>
        <p:nvSpPr>
          <p:cNvPr id="20" name="TextBox 19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5/11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4467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381000" y="876300"/>
            <a:ext cx="12425398" cy="8226597"/>
            <a:chOff x="381000" y="876300"/>
            <a:chExt cx="12425398" cy="822659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89C3688-2374-49C1-A0A8-3D80BA7A7499}"/>
                </a:ext>
              </a:extLst>
            </p:cNvPr>
            <p:cNvGrpSpPr/>
            <p:nvPr/>
          </p:nvGrpSpPr>
          <p:grpSpPr>
            <a:xfrm>
              <a:off x="685800" y="876300"/>
              <a:ext cx="10444401" cy="1533609"/>
              <a:chOff x="681001" y="1290529"/>
              <a:chExt cx="10444401" cy="1533609"/>
            </a:xfrm>
          </p:grpSpPr>
          <p:grpSp>
            <p:nvGrpSpPr>
              <p:cNvPr id="3" name="Group 3"/>
              <p:cNvGrpSpPr/>
              <p:nvPr/>
            </p:nvGrpSpPr>
            <p:grpSpPr>
              <a:xfrm>
                <a:off x="681001" y="2471249"/>
                <a:ext cx="388580" cy="352889"/>
                <a:chOff x="0" y="0"/>
                <a:chExt cx="895007" cy="812800"/>
              </a:xfrm>
            </p:grpSpPr>
            <p:sp>
              <p:nvSpPr>
                <p:cNvPr id="4" name="Freeform 4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5" name="TextBox 5"/>
                <p:cNvSpPr txBox="1"/>
                <p:nvPr/>
              </p:nvSpPr>
              <p:spPr>
                <a:xfrm>
                  <a:off x="83907" y="38100"/>
                  <a:ext cx="727193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6" name="Group 6"/>
              <p:cNvGrpSpPr/>
              <p:nvPr/>
            </p:nvGrpSpPr>
            <p:grpSpPr>
              <a:xfrm>
                <a:off x="1232227" y="2471249"/>
                <a:ext cx="388580" cy="352889"/>
                <a:chOff x="0" y="0"/>
                <a:chExt cx="895007" cy="81280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83907" y="38100"/>
                  <a:ext cx="727193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>
                <a:off x="1778168" y="2471249"/>
                <a:ext cx="388580" cy="352889"/>
                <a:chOff x="0" y="0"/>
                <a:chExt cx="895007" cy="8128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83907" y="38100"/>
                  <a:ext cx="727193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681001" y="1290529"/>
                <a:ext cx="10444401" cy="11285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8775"/>
                  </a:lnSpc>
                </a:pPr>
                <a:r>
                  <a:rPr lang="en-US" sz="8000" dirty="0" smtClean="0">
                    <a:solidFill>
                      <a:srgbClr val="711662"/>
                    </a:solidFill>
                    <a:latin typeface="Anton" panose="020B0604020202020204" charset="0"/>
                  </a:rPr>
                  <a:t>DISCUSSION – POSITIVE SIDE</a:t>
                </a:r>
                <a:endParaRPr lang="en-US" sz="7500" dirty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15" name="Rectangle 14"/>
            <p:cNvSpPr/>
            <p:nvPr/>
          </p:nvSpPr>
          <p:spPr>
            <a:xfrm>
              <a:off x="381000" y="2393368"/>
              <a:ext cx="12425398" cy="67095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lvl="0" indent="-457200" eaLnBrk="0" fontAlgn="base" hangingPunct="0">
                <a:lnSpc>
                  <a:spcPct val="25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sz="2800" b="1" dirty="0">
                  <a:solidFill>
                    <a:srgbClr val="711662"/>
                  </a:solidFill>
                  <a:latin typeface="Open Sauce" panose="020B0604020202020204" charset="0"/>
                </a:rPr>
                <a:t>Are There Any Benefits</a:t>
              </a:r>
              <a:r>
                <a:rPr lang="en-US" sz="2800" b="1" dirty="0" smtClean="0">
                  <a:solidFill>
                    <a:srgbClr val="711662"/>
                  </a:solidFill>
                  <a:latin typeface="Open Sauce" panose="020B0604020202020204" charset="0"/>
                </a:rPr>
                <a:t>?</a:t>
              </a:r>
              <a:endParaRPr lang="en-US" altLang="en-US" sz="2400" dirty="0">
                <a:latin typeface="Open Sauce" panose="020B0604020202020204" charset="0"/>
              </a:endParaRP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30% reported educational or stress-relieving benefits.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Some use videos for revision or learning tips.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Motivational and educational content exists—when used intentionally.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Helps students discover quick tricks, summaries, and concept breakdowns.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Can improve mental state with inspiring content.</a:t>
              </a:r>
            </a:p>
          </p:txBody>
        </p:sp>
      </p:grpSp>
      <p:grpSp>
        <p:nvGrpSpPr>
          <p:cNvPr id="24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7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8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9103075" y="1973691"/>
            <a:ext cx="9052000" cy="8751403"/>
            <a:chOff x="9103075" y="1973691"/>
            <a:chExt cx="9052000" cy="8751403"/>
          </a:xfrm>
        </p:grpSpPr>
        <p:grpSp>
          <p:nvGrpSpPr>
            <p:cNvPr id="29" name="Group 28"/>
            <p:cNvGrpSpPr/>
            <p:nvPr/>
          </p:nvGrpSpPr>
          <p:grpSpPr>
            <a:xfrm>
              <a:off x="9103075" y="1973691"/>
              <a:ext cx="8956325" cy="4160409"/>
              <a:chOff x="9280451" y="5524500"/>
              <a:chExt cx="8006647" cy="3522285"/>
            </a:xfrm>
          </p:grpSpPr>
          <p:pic>
            <p:nvPicPr>
              <p:cNvPr id="30" name="Picture 29"/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0" b="100000" l="0" r="52552"/>
                        </a14:imgEffect>
                      </a14:imgLayer>
                    </a14:imgProps>
                  </a:ext>
                </a:extLst>
              </a:blip>
              <a:srcRect t="1917" r="62317"/>
              <a:stretch/>
            </p:blipFill>
            <p:spPr>
              <a:xfrm>
                <a:off x="9280451" y="5524500"/>
                <a:ext cx="3597349" cy="3522285"/>
              </a:xfrm>
              <a:prstGeom prst="rect">
                <a:avLst/>
              </a:prstGeom>
            </p:spPr>
          </p:pic>
          <p:pic>
            <p:nvPicPr>
              <p:cNvPr id="31" name="Picture 30"/>
              <p:cNvPicPr>
                <a:picLocks noChangeAspect="1"/>
              </p:cNvPicPr>
              <p:nvPr/>
            </p:nvPicPr>
            <p:blipFill rotWithShape="1">
              <a:blip r:embed="rId4"/>
              <a:srcRect l="58530" b="51196"/>
              <a:stretch/>
            </p:blipFill>
            <p:spPr>
              <a:xfrm>
                <a:off x="13328243" y="6409342"/>
                <a:ext cx="3958855" cy="175260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</p:grpSp>
        <p:pic>
          <p:nvPicPr>
            <p:cNvPr id="35" name="Picture 34"/>
            <p:cNvPicPr>
              <a:picLocks noChangeAspect="1"/>
            </p:cNvPicPr>
            <p:nvPr/>
          </p:nvPicPr>
          <p:blipFill rotWithShape="1"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0" b="90000" l="0" r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000"/>
            <a:stretch/>
          </p:blipFill>
          <p:spPr>
            <a:xfrm>
              <a:off x="13378397" y="5295900"/>
              <a:ext cx="3352801" cy="3429000"/>
            </a:xfrm>
            <a:prstGeom prst="rect">
              <a:avLst/>
            </a:prstGeom>
          </p:spPr>
        </p:pic>
        <p:pic>
          <p:nvPicPr>
            <p:cNvPr id="36" name="Picture 35"/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27" r="33637"/>
            <a:stretch/>
          </p:blipFill>
          <p:spPr>
            <a:xfrm>
              <a:off x="15335675" y="7266854"/>
              <a:ext cx="2819400" cy="3429000"/>
            </a:xfrm>
            <a:prstGeom prst="rect">
              <a:avLst/>
            </a:prstGeom>
          </p:spPr>
        </p:pic>
        <p:pic>
          <p:nvPicPr>
            <p:cNvPr id="37" name="Picture 36"/>
            <p:cNvPicPr>
              <a:picLocks noChangeAspect="1"/>
            </p:cNvPicPr>
            <p:nvPr/>
          </p:nvPicPr>
          <p:blipFill rotWithShape="1">
            <a:blip r:embed="rId8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64205" r="97386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727"/>
            <a:stretch/>
          </p:blipFill>
          <p:spPr>
            <a:xfrm>
              <a:off x="11689094" y="7296094"/>
              <a:ext cx="3124200" cy="3429000"/>
            </a:xfrm>
            <a:prstGeom prst="rect">
              <a:avLst/>
            </a:prstGeom>
          </p:spPr>
        </p:pic>
      </p:grpSp>
      <p:sp>
        <p:nvSpPr>
          <p:cNvPr id="23" name="TextBox 22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6/11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2563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1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2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790034" y="818855"/>
            <a:ext cx="12257759" cy="8903760"/>
            <a:chOff x="790034" y="818855"/>
            <a:chExt cx="12257759" cy="8903760"/>
          </a:xfrm>
        </p:grpSpPr>
        <p:sp>
          <p:nvSpPr>
            <p:cNvPr id="16" name="TextBox 16"/>
            <p:cNvSpPr txBox="1"/>
            <p:nvPr/>
          </p:nvSpPr>
          <p:spPr>
            <a:xfrm>
              <a:off x="790034" y="2828420"/>
              <a:ext cx="12257759" cy="689419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 smtClean="0">
                  <a:latin typeface="Open Sauce" panose="020B0604020202020204" charset="0"/>
                </a:rPr>
                <a:t>Most students mainly watch videos just for fun.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 smtClean="0">
                  <a:latin typeface="Open Sauce" panose="020B0604020202020204" charset="0"/>
                </a:rPr>
                <a:t>Watching </a:t>
              </a:r>
              <a:r>
                <a:rPr lang="en-US" altLang="en-US" sz="2400" dirty="0">
                  <a:latin typeface="Open Sauce" panose="020B0604020202020204" charset="0"/>
                </a:rPr>
                <a:t>too much leads to </a:t>
              </a:r>
              <a:r>
                <a:rPr lang="en-US" altLang="en-US" sz="2400" b="1" dirty="0">
                  <a:latin typeface="Open Sauce" panose="020B0604020202020204" charset="0"/>
                </a:rPr>
                <a:t>wasting time</a:t>
              </a:r>
              <a:r>
                <a:rPr lang="en-US" altLang="en-US" sz="2400" dirty="0">
                  <a:latin typeface="Open Sauce" panose="020B0604020202020204" charset="0"/>
                </a:rPr>
                <a:t> and </a:t>
              </a:r>
              <a:r>
                <a:rPr lang="en-US" altLang="en-US" sz="2400" b="1" dirty="0">
                  <a:latin typeface="Open Sauce" panose="020B0604020202020204" charset="0"/>
                </a:rPr>
                <a:t>delaying studies</a:t>
              </a:r>
              <a:r>
                <a:rPr lang="en-US" altLang="en-US" sz="2400" dirty="0">
                  <a:latin typeface="Open Sauce" panose="020B0604020202020204" charset="0"/>
                </a:rPr>
                <a:t>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The </a:t>
              </a:r>
              <a:r>
                <a:rPr lang="en-US" altLang="en-US" sz="2400" b="1" dirty="0">
                  <a:latin typeface="Open Sauce" panose="020B0604020202020204" charset="0"/>
                </a:rPr>
                <a:t>bad effects happen more often</a:t>
              </a:r>
              <a:r>
                <a:rPr lang="en-US" altLang="en-US" sz="2400" dirty="0">
                  <a:latin typeface="Open Sauce" panose="020B0604020202020204" charset="0"/>
                </a:rPr>
                <a:t> than any good ones.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Many students lose focus while studying because of </a:t>
              </a:r>
              <a:r>
                <a:rPr lang="en-US" altLang="en-US" sz="2400" b="1" dirty="0">
                  <a:latin typeface="Open Sauce" panose="020B0604020202020204" charset="0"/>
                </a:rPr>
                <a:t>constant scrolling</a:t>
              </a:r>
              <a:r>
                <a:rPr lang="en-US" altLang="en-US" sz="2400" dirty="0">
                  <a:latin typeface="Open Sauce" panose="020B0604020202020204" charset="0"/>
                </a:rPr>
                <a:t>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It's easy to </a:t>
              </a:r>
              <a:r>
                <a:rPr lang="en-US" altLang="en-US" sz="2400" b="1" dirty="0">
                  <a:latin typeface="Open Sauce" panose="020B0604020202020204" charset="0"/>
                </a:rPr>
                <a:t>forget study plans</a:t>
              </a:r>
              <a:r>
                <a:rPr lang="en-US" altLang="en-US" sz="2400" dirty="0">
                  <a:latin typeface="Open Sauce" panose="020B0604020202020204" charset="0"/>
                </a:rPr>
                <a:t> when you keep watching videos.</a:t>
              </a:r>
            </a:p>
            <a:p>
              <a:pPr lvl="0" eaLnBrk="0" fontAlgn="base" hangingPunct="0"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endParaRPr lang="en-US" altLang="en-US" sz="2800" dirty="0">
                <a:latin typeface="Arial" panose="020B0604020202020204" pitchFamily="34" charset="0"/>
              </a:endParaRPr>
            </a:p>
            <a:p>
              <a:pPr algn="just">
                <a:lnSpc>
                  <a:spcPct val="250000"/>
                </a:lnSpc>
              </a:pPr>
              <a:endParaRPr lang="en-US" sz="2400" spc="-68" dirty="0">
                <a:solidFill>
                  <a:srgbClr val="00162E"/>
                </a:solidFill>
                <a:latin typeface="Open Sauce"/>
                <a:ea typeface="Open Sauce"/>
                <a:cs typeface="Open Sauce"/>
                <a:sym typeface="Open Sauce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89C3688-2374-49C1-A0A8-3D80BA7A7499}"/>
                </a:ext>
              </a:extLst>
            </p:cNvPr>
            <p:cNvGrpSpPr/>
            <p:nvPr/>
          </p:nvGrpSpPr>
          <p:grpSpPr>
            <a:xfrm>
              <a:off x="790034" y="818855"/>
              <a:ext cx="10444401" cy="1533609"/>
              <a:chOff x="681001" y="1290529"/>
              <a:chExt cx="10444401" cy="1533609"/>
            </a:xfrm>
          </p:grpSpPr>
          <p:grpSp>
            <p:nvGrpSpPr>
              <p:cNvPr id="25" name="Group 3"/>
              <p:cNvGrpSpPr/>
              <p:nvPr/>
            </p:nvGrpSpPr>
            <p:grpSpPr>
              <a:xfrm>
                <a:off x="681001" y="2471249"/>
                <a:ext cx="388580" cy="352889"/>
                <a:chOff x="0" y="0"/>
                <a:chExt cx="895007" cy="812800"/>
              </a:xfrm>
            </p:grpSpPr>
            <p:sp>
              <p:nvSpPr>
                <p:cNvPr id="33" name="Freeform 4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34" name="TextBox 5"/>
                <p:cNvSpPr txBox="1"/>
                <p:nvPr/>
              </p:nvSpPr>
              <p:spPr>
                <a:xfrm>
                  <a:off x="83907" y="38100"/>
                  <a:ext cx="727193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26" name="Group 6"/>
              <p:cNvGrpSpPr/>
              <p:nvPr/>
            </p:nvGrpSpPr>
            <p:grpSpPr>
              <a:xfrm>
                <a:off x="1232227" y="2471249"/>
                <a:ext cx="388580" cy="352889"/>
                <a:chOff x="0" y="0"/>
                <a:chExt cx="895007" cy="812800"/>
              </a:xfrm>
            </p:grpSpPr>
            <p:sp>
              <p:nvSpPr>
                <p:cNvPr id="31" name="Freeform 7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32" name="TextBox 8"/>
                <p:cNvSpPr txBox="1"/>
                <p:nvPr/>
              </p:nvSpPr>
              <p:spPr>
                <a:xfrm>
                  <a:off x="83907" y="38100"/>
                  <a:ext cx="727193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grpSp>
            <p:nvGrpSpPr>
              <p:cNvPr id="27" name="Group 9"/>
              <p:cNvGrpSpPr/>
              <p:nvPr/>
            </p:nvGrpSpPr>
            <p:grpSpPr>
              <a:xfrm>
                <a:off x="1778168" y="2471249"/>
                <a:ext cx="388580" cy="352889"/>
                <a:chOff x="0" y="0"/>
                <a:chExt cx="895007" cy="812800"/>
              </a:xfrm>
            </p:grpSpPr>
            <p:sp>
              <p:nvSpPr>
                <p:cNvPr id="29" name="Freeform 10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30" name="TextBox 11"/>
                <p:cNvSpPr txBox="1"/>
                <p:nvPr/>
              </p:nvSpPr>
              <p:spPr>
                <a:xfrm>
                  <a:off x="83907" y="38100"/>
                  <a:ext cx="727193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8" name="TextBox 17"/>
              <p:cNvSpPr txBox="1"/>
              <p:nvPr/>
            </p:nvSpPr>
            <p:spPr>
              <a:xfrm>
                <a:off x="681001" y="1290529"/>
                <a:ext cx="10444401" cy="11285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>
                  <a:lnSpc>
                    <a:spcPts val="8775"/>
                  </a:lnSpc>
                </a:pPr>
                <a:r>
                  <a:rPr lang="en-US" sz="8000" dirty="0" smtClean="0">
                    <a:solidFill>
                      <a:srgbClr val="711662"/>
                    </a:solidFill>
                    <a:latin typeface="Anton" panose="020B0604020202020204" charset="0"/>
                  </a:rPr>
                  <a:t>DISCUSSION – NEGATIVE SIDE</a:t>
                </a:r>
                <a:endParaRPr lang="en-US" sz="7500" dirty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  <a:ea typeface="Anton"/>
                  <a:cs typeface="Anton"/>
                  <a:sym typeface="Anton"/>
                </a:endParaRPr>
              </a:p>
            </p:txBody>
          </p:sp>
        </p:grpSp>
      </p:grpSp>
      <p:grpSp>
        <p:nvGrpSpPr>
          <p:cNvPr id="3" name="Group 2"/>
          <p:cNvGrpSpPr/>
          <p:nvPr/>
        </p:nvGrpSpPr>
        <p:grpSpPr>
          <a:xfrm>
            <a:off x="7247843" y="1725905"/>
            <a:ext cx="10731600" cy="7033628"/>
            <a:chOff x="7247843" y="1725905"/>
            <a:chExt cx="10731600" cy="7033628"/>
          </a:xfrm>
        </p:grpSpPr>
        <p:pic>
          <p:nvPicPr>
            <p:cNvPr id="37" name="Picture 3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78145" y="1725905"/>
              <a:ext cx="2667000" cy="2667000"/>
            </a:xfrm>
            <a:prstGeom prst="rect">
              <a:avLst/>
            </a:prstGeom>
          </p:spPr>
        </p:pic>
        <p:cxnSp>
          <p:nvCxnSpPr>
            <p:cNvPr id="47" name="Straight Connector 46"/>
            <p:cNvCxnSpPr>
              <a:endCxn id="37" idx="1"/>
            </p:cNvCxnSpPr>
            <p:nvPr/>
          </p:nvCxnSpPr>
          <p:spPr>
            <a:xfrm flipV="1">
              <a:off x="7247843" y="3059405"/>
              <a:ext cx="1730302" cy="1429666"/>
            </a:xfrm>
            <a:prstGeom prst="line">
              <a:avLst/>
            </a:prstGeom>
            <a:ln>
              <a:solidFill>
                <a:srgbClr val="7116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 flipV="1">
              <a:off x="10947239" y="3508703"/>
              <a:ext cx="2038537" cy="1155119"/>
            </a:xfrm>
            <a:prstGeom prst="line">
              <a:avLst/>
            </a:prstGeom>
            <a:ln>
              <a:solidFill>
                <a:srgbClr val="7116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131" name="Picture 11" descr="How To Use Scrolling Effects: Examples &amp; Best Practices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81665" y="5810643"/>
              <a:ext cx="5897778" cy="294889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  <a:extLst/>
          </p:spPr>
        </p:pic>
        <p:grpSp>
          <p:nvGrpSpPr>
            <p:cNvPr id="62" name="Group 61"/>
            <p:cNvGrpSpPr/>
            <p:nvPr/>
          </p:nvGrpSpPr>
          <p:grpSpPr>
            <a:xfrm>
              <a:off x="12779571" y="1938189"/>
              <a:ext cx="3831192" cy="3120569"/>
              <a:chOff x="11811000" y="6298413"/>
              <a:chExt cx="5462717" cy="4005581"/>
            </a:xfrm>
          </p:grpSpPr>
          <p:pic>
            <p:nvPicPr>
              <p:cNvPr id="55" name="Picture 9" descr="Book Icon PNG Images, Vectors Free Download - Pngtree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backgroundRemoval t="35250" b="41750" l="28667" r="48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8879" t="31866" r="49213" b="54192"/>
              <a:stretch/>
            </p:blipFill>
            <p:spPr bwMode="auto">
              <a:xfrm>
                <a:off x="12750348" y="7247535"/>
                <a:ext cx="1676400" cy="1066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3" name="Group 52"/>
              <p:cNvGrpSpPr/>
              <p:nvPr/>
            </p:nvGrpSpPr>
            <p:grpSpPr>
              <a:xfrm>
                <a:off x="11811000" y="6298413"/>
                <a:ext cx="5462717" cy="4005581"/>
                <a:chOff x="12591382" y="4795519"/>
                <a:chExt cx="4953000" cy="3657600"/>
              </a:xfrm>
            </p:grpSpPr>
            <p:pic>
              <p:nvPicPr>
                <p:cNvPr id="50" name="Picture 49"/>
                <p:cNvPicPr>
                  <a:picLocks noChangeAspect="1"/>
                </p:cNvPicPr>
                <p:nvPr/>
              </p:nvPicPr>
              <p:blipFill rotWithShape="1"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</a:extLst>
                </a:blip>
                <a:srcRect l="15657" t="25998" r="13429" b="21634"/>
                <a:stretch/>
              </p:blipFill>
              <p:spPr>
                <a:xfrm>
                  <a:off x="12591382" y="4795519"/>
                  <a:ext cx="4953000" cy="3657600"/>
                </a:xfrm>
                <a:prstGeom prst="rect">
                  <a:avLst/>
                </a:prstGeom>
              </p:spPr>
            </p:pic>
            <p:grpSp>
              <p:nvGrpSpPr>
                <p:cNvPr id="52" name="Group 51"/>
                <p:cNvGrpSpPr/>
                <p:nvPr/>
              </p:nvGrpSpPr>
              <p:grpSpPr>
                <a:xfrm>
                  <a:off x="13404831" y="5060668"/>
                  <a:ext cx="3340783" cy="2597432"/>
                  <a:chOff x="13404831" y="5060668"/>
                  <a:chExt cx="3340783" cy="2597432"/>
                </a:xfrm>
              </p:grpSpPr>
              <p:pic>
                <p:nvPicPr>
                  <p:cNvPr id="54" name="Picture 9" descr="Book Icon PNG Images, Vectors Free Download - Pngtre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35250" b="41750" l="28667" r="48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8879" t="31866" r="49213" b="54192"/>
                  <a:stretch/>
                </p:blipFill>
                <p:spPr bwMode="auto">
                  <a:xfrm>
                    <a:off x="13404831" y="6591300"/>
                    <a:ext cx="1676400" cy="1066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grpSp>
                <p:nvGrpSpPr>
                  <p:cNvPr id="51" name="Group 50"/>
                  <p:cNvGrpSpPr/>
                  <p:nvPr/>
                </p:nvGrpSpPr>
                <p:grpSpPr>
                  <a:xfrm>
                    <a:off x="13404831" y="5095106"/>
                    <a:ext cx="1676400" cy="2105794"/>
                    <a:chOff x="13404831" y="5095106"/>
                    <a:chExt cx="1676400" cy="2105794"/>
                  </a:xfrm>
                </p:grpSpPr>
                <p:pic>
                  <p:nvPicPr>
                    <p:cNvPr id="5129" name="Picture 9" descr="Book Icon PNG Images, Vectors Free Download - Pngtree"/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5">
                      <a:extLst>
                        <a:ext uri="{BEBA8EAE-BF5A-486C-A8C5-ECC9F3942E4B}">
                          <a14:imgProps xmlns:a14="http://schemas.microsoft.com/office/drawing/2010/main">
                            <a14:imgLayer r:embed="rId6">
                              <a14:imgEffect>
                                <a14:backgroundRemoval t="35250" b="41750" l="28667" r="48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8879" t="31866" r="49213" b="54192"/>
                    <a:stretch/>
                  </p:blipFill>
                  <p:spPr bwMode="auto">
                    <a:xfrm>
                      <a:off x="13404831" y="5095106"/>
                      <a:ext cx="1676400" cy="1066801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56" name="Picture 9" descr="Book Icon PNG Images, Vectors Free Download - Pngtree"/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5">
                      <a:extLst>
                        <a:ext uri="{BEBA8EAE-BF5A-486C-A8C5-ECC9F3942E4B}">
                          <a14:imgProps xmlns:a14="http://schemas.microsoft.com/office/drawing/2010/main">
                            <a14:imgLayer r:embed="rId6">
                              <a14:imgEffect>
                                <a14:backgroundRemoval t="35250" b="41750" l="28667" r="48000"/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28879" t="31866" r="49213" b="54192"/>
                    <a:stretch/>
                  </p:blipFill>
                  <p:spPr bwMode="auto">
                    <a:xfrm>
                      <a:off x="13404831" y="6134100"/>
                      <a:ext cx="1676400" cy="106680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pic>
                <p:nvPicPr>
                  <p:cNvPr id="58" name="Picture 9" descr="Book Icon PNG Images, Vectors Free Download - Pngtre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35250" b="41750" l="28667" r="48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8879" t="31866" r="49213" b="54192"/>
                  <a:stretch/>
                </p:blipFill>
                <p:spPr bwMode="auto">
                  <a:xfrm rot="20138882">
                    <a:off x="15001837" y="5060668"/>
                    <a:ext cx="1676400" cy="1066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9" name="Picture 9" descr="Book Icon PNG Images, Vectors Free Download - Pngtre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35250" b="41750" l="28667" r="48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8879" t="31866" r="49213" b="54192"/>
                  <a:stretch/>
                </p:blipFill>
                <p:spPr bwMode="auto">
                  <a:xfrm rot="20138882">
                    <a:off x="15052315" y="5517868"/>
                    <a:ext cx="1676400" cy="1066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0" name="Picture 9" descr="Book Icon PNG Images, Vectors Free Download - Pngtre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35250" b="41750" l="28667" r="48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8879" t="31866" r="49213" b="54192"/>
                  <a:stretch/>
                </p:blipFill>
                <p:spPr bwMode="auto">
                  <a:xfrm rot="20138882">
                    <a:off x="15069214" y="6051268"/>
                    <a:ext cx="1676400" cy="1066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61" name="Picture 9" descr="Book Icon PNG Images, Vectors Free Download - Pngtre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5">
                    <a:extLst>
                      <a:ext uri="{BEBA8EAE-BF5A-486C-A8C5-ECC9F3942E4B}">
                        <a14:imgProps xmlns:a14="http://schemas.microsoft.com/office/drawing/2010/main">
                          <a14:imgLayer r:embed="rId6">
                            <a14:imgEffect>
                              <a14:backgroundRemoval t="35250" b="41750" l="28667" r="48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8879" t="31866" r="49213" b="54192"/>
                  <a:stretch/>
                </p:blipFill>
                <p:spPr bwMode="auto">
                  <a:xfrm rot="20138882">
                    <a:off x="15047949" y="6584668"/>
                    <a:ext cx="1676400" cy="1066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</p:grpSp>
      </p:grpSp>
      <p:sp>
        <p:nvSpPr>
          <p:cNvPr id="35" name="TextBox 34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7/11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25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7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29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468515" y="1081210"/>
            <a:ext cx="12947483" cy="8370977"/>
            <a:chOff x="468515" y="1081210"/>
            <a:chExt cx="12947483" cy="8370977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C89C3688-2374-49C1-A0A8-3D80BA7A7499}"/>
                </a:ext>
              </a:extLst>
            </p:cNvPr>
            <p:cNvGrpSpPr/>
            <p:nvPr/>
          </p:nvGrpSpPr>
          <p:grpSpPr>
            <a:xfrm>
              <a:off x="685800" y="1081210"/>
              <a:ext cx="12730198" cy="1533609"/>
              <a:chOff x="681001" y="1290529"/>
              <a:chExt cx="12730198" cy="1533609"/>
            </a:xfrm>
          </p:grpSpPr>
          <p:grpSp>
            <p:nvGrpSpPr>
              <p:cNvPr id="3" name="Group 3"/>
              <p:cNvGrpSpPr/>
              <p:nvPr/>
            </p:nvGrpSpPr>
            <p:grpSpPr>
              <a:xfrm>
                <a:off x="681001" y="2471249"/>
                <a:ext cx="388580" cy="352889"/>
                <a:chOff x="0" y="0"/>
                <a:chExt cx="895007" cy="812800"/>
              </a:xfrm>
            </p:grpSpPr>
            <p:sp>
              <p:nvSpPr>
                <p:cNvPr id="4" name="Freeform 4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5" name="TextBox 5"/>
                <p:cNvSpPr txBox="1"/>
                <p:nvPr/>
              </p:nvSpPr>
              <p:spPr>
                <a:xfrm>
                  <a:off x="83906" y="38101"/>
                  <a:ext cx="811101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 sz="8800"/>
                </a:p>
              </p:txBody>
            </p:sp>
          </p:grpSp>
          <p:grpSp>
            <p:nvGrpSpPr>
              <p:cNvPr id="6" name="Group 6"/>
              <p:cNvGrpSpPr/>
              <p:nvPr/>
            </p:nvGrpSpPr>
            <p:grpSpPr>
              <a:xfrm>
                <a:off x="1232227" y="2471249"/>
                <a:ext cx="388580" cy="352889"/>
                <a:chOff x="0" y="0"/>
                <a:chExt cx="895007" cy="812800"/>
              </a:xfrm>
            </p:grpSpPr>
            <p:sp>
              <p:nvSpPr>
                <p:cNvPr id="7" name="Freeform 7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8" name="TextBox 8"/>
                <p:cNvSpPr txBox="1"/>
                <p:nvPr/>
              </p:nvSpPr>
              <p:spPr>
                <a:xfrm>
                  <a:off x="83907" y="38100"/>
                  <a:ext cx="727193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 sz="8800"/>
                </a:p>
              </p:txBody>
            </p:sp>
          </p:grpSp>
          <p:grpSp>
            <p:nvGrpSpPr>
              <p:cNvPr id="9" name="Group 9"/>
              <p:cNvGrpSpPr/>
              <p:nvPr/>
            </p:nvGrpSpPr>
            <p:grpSpPr>
              <a:xfrm>
                <a:off x="1778168" y="2471249"/>
                <a:ext cx="388580" cy="352889"/>
                <a:chOff x="0" y="0"/>
                <a:chExt cx="895007" cy="812800"/>
              </a:xfrm>
            </p:grpSpPr>
            <p:sp>
              <p:nvSpPr>
                <p:cNvPr id="10" name="Freeform 10"/>
                <p:cNvSpPr/>
                <p:nvPr/>
              </p:nvSpPr>
              <p:spPr>
                <a:xfrm>
                  <a:off x="0" y="0"/>
                  <a:ext cx="895007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5007" h="812800">
                      <a:moveTo>
                        <a:pt x="447503" y="0"/>
                      </a:moveTo>
                      <a:cubicBezTo>
                        <a:pt x="200354" y="0"/>
                        <a:pt x="0" y="181951"/>
                        <a:pt x="0" y="406400"/>
                      </a:cubicBezTo>
                      <a:cubicBezTo>
                        <a:pt x="0" y="630849"/>
                        <a:pt x="200354" y="812800"/>
                        <a:pt x="447503" y="812800"/>
                      </a:cubicBezTo>
                      <a:cubicBezTo>
                        <a:pt x="694653" y="812800"/>
                        <a:pt x="895007" y="630849"/>
                        <a:pt x="895007" y="406400"/>
                      </a:cubicBezTo>
                      <a:cubicBezTo>
                        <a:pt x="895007" y="181951"/>
                        <a:pt x="694653" y="0"/>
                        <a:pt x="447503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83907" y="38100"/>
                  <a:ext cx="727193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 sz="8800"/>
                </a:p>
              </p:txBody>
            </p:sp>
          </p:grpSp>
          <p:sp>
            <p:nvSpPr>
              <p:cNvPr id="17" name="TextBox 17"/>
              <p:cNvSpPr txBox="1"/>
              <p:nvPr/>
            </p:nvSpPr>
            <p:spPr>
              <a:xfrm>
                <a:off x="681001" y="1290529"/>
                <a:ext cx="12730198" cy="1169359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>
                  <a:lnSpc>
                    <a:spcPts val="8775"/>
                  </a:lnSpc>
                </a:pPr>
                <a:r>
                  <a:rPr lang="en-US" sz="8800" dirty="0" smtClean="0">
                    <a:solidFill>
                      <a:srgbClr val="711662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Anton"/>
                    <a:ea typeface="Anton"/>
                    <a:cs typeface="Anton"/>
                    <a:sym typeface="Anton"/>
                  </a:rPr>
                  <a:t>ROLE OF PERSONAL DISIPLINE</a:t>
                </a:r>
                <a:endParaRPr lang="en-US" sz="8800" dirty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  <p:sp>
          <p:nvSpPr>
            <p:cNvPr id="32" name="TextBox 31"/>
            <p:cNvSpPr txBox="1"/>
            <p:nvPr/>
          </p:nvSpPr>
          <p:spPr>
            <a:xfrm>
              <a:off x="468515" y="2988879"/>
              <a:ext cx="11393571" cy="646330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Students who </a:t>
              </a:r>
              <a:r>
                <a:rPr lang="en-US" altLang="en-US" sz="2400" b="1" dirty="0">
                  <a:latin typeface="Open Sauce" panose="020B0604020202020204" charset="0"/>
                </a:rPr>
                <a:t>manage their time well</a:t>
              </a:r>
              <a:r>
                <a:rPr lang="en-US" altLang="en-US" sz="2400" dirty="0">
                  <a:latin typeface="Open Sauce" panose="020B0604020202020204" charset="0"/>
                </a:rPr>
                <a:t> do better in studies.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Being </a:t>
              </a:r>
              <a:r>
                <a:rPr lang="en-US" altLang="en-US" sz="2400" b="1" dirty="0">
                  <a:latin typeface="Open Sauce" panose="020B0604020202020204" charset="0"/>
                </a:rPr>
                <a:t>self-controlled</a:t>
              </a:r>
              <a:r>
                <a:rPr lang="en-US" altLang="en-US" sz="2400" dirty="0">
                  <a:latin typeface="Open Sauce" panose="020B0604020202020204" charset="0"/>
                </a:rPr>
                <a:t> helps you avoid wasting time on videos.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If you watch short videos </a:t>
              </a:r>
              <a:r>
                <a:rPr lang="en-US" altLang="en-US" sz="2400" b="1" dirty="0">
                  <a:latin typeface="Open Sauce" panose="020B0604020202020204" charset="0"/>
                </a:rPr>
                <a:t>with a purpose</a:t>
              </a:r>
              <a:r>
                <a:rPr lang="en-US" altLang="en-US" sz="2400" dirty="0">
                  <a:latin typeface="Open Sauce" panose="020B0604020202020204" charset="0"/>
                </a:rPr>
                <a:t> (like learning), they can help.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But watching too much just for fun can make you </a:t>
              </a:r>
              <a:r>
                <a:rPr lang="en-US" altLang="en-US" sz="2400" b="1" dirty="0">
                  <a:latin typeface="Open Sauce" panose="020B0604020202020204" charset="0"/>
                </a:rPr>
                <a:t>lose time and focus</a:t>
              </a:r>
              <a:r>
                <a:rPr lang="en-US" altLang="en-US" sz="2400" dirty="0">
                  <a:latin typeface="Open Sauce" panose="020B0604020202020204" charset="0"/>
                </a:rPr>
                <a:t>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Open Sauce" panose="020B0604020202020204" charset="0"/>
                </a:rPr>
                <a:t>Everyone is different—</a:t>
              </a:r>
              <a:r>
                <a:rPr lang="en-US" altLang="en-US" sz="2400" b="1" dirty="0">
                  <a:latin typeface="Open Sauce" panose="020B0604020202020204" charset="0"/>
                </a:rPr>
                <a:t>your habits</a:t>
              </a:r>
              <a:r>
                <a:rPr lang="en-US" altLang="en-US" sz="2400" dirty="0">
                  <a:latin typeface="Open Sauce" panose="020B0604020202020204" charset="0"/>
                </a:rPr>
                <a:t> decide how videos affect you.</a:t>
              </a:r>
            </a:p>
            <a:p>
              <a:pPr marL="285750" indent="-285750">
                <a:lnSpc>
                  <a:spcPct val="300000"/>
                </a:lnSpc>
                <a:buFont typeface="Arial" panose="020B0604020202020204" pitchFamily="34" charset="0"/>
                <a:buChar char="•"/>
              </a:pPr>
              <a:endParaRPr lang="en-US" dirty="0">
                <a:latin typeface="Open Sauce" panose="020B0604020202020204" charset="0"/>
              </a:endParaRP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10614836" y="2933700"/>
            <a:ext cx="7673163" cy="6460973"/>
            <a:chOff x="9824449" y="5866692"/>
            <a:chExt cx="8754442" cy="4924373"/>
          </a:xfrm>
        </p:grpSpPr>
        <p:pic>
          <p:nvPicPr>
            <p:cNvPr id="33" name="Picture 32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10000" b="90000" l="2875" r="9825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9824449" y="5866692"/>
              <a:ext cx="8754442" cy="4924373"/>
            </a:xfrm>
            <a:prstGeom prst="rect">
              <a:avLst/>
            </a:prstGeom>
          </p:spPr>
        </p:pic>
        <p:grpSp>
          <p:nvGrpSpPr>
            <p:cNvPr id="36" name="Group 35"/>
            <p:cNvGrpSpPr/>
            <p:nvPr/>
          </p:nvGrpSpPr>
          <p:grpSpPr>
            <a:xfrm>
              <a:off x="10129285" y="6447466"/>
              <a:ext cx="2609427" cy="669792"/>
              <a:chOff x="12387298" y="3463334"/>
              <a:chExt cx="2318809" cy="613366"/>
            </a:xfrm>
          </p:grpSpPr>
          <p:sp>
            <p:nvSpPr>
              <p:cNvPr id="34" name="Oval 33"/>
              <p:cNvSpPr/>
              <p:nvPr/>
            </p:nvSpPr>
            <p:spPr>
              <a:xfrm>
                <a:off x="12387298" y="3463334"/>
                <a:ext cx="2243102" cy="613366"/>
              </a:xfrm>
              <a:prstGeom prst="ellipse">
                <a:avLst/>
              </a:prstGeom>
              <a:noFill/>
              <a:ln>
                <a:solidFill>
                  <a:srgbClr val="71166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/>
              <p:cNvSpPr txBox="1"/>
              <p:nvPr/>
            </p:nvSpPr>
            <p:spPr>
              <a:xfrm>
                <a:off x="12420107" y="3565975"/>
                <a:ext cx="2286000" cy="4791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>
                    <a:solidFill>
                      <a:srgbClr val="711662"/>
                    </a:solidFill>
                    <a:latin typeface="Consolas" panose="020B0609020204030204" pitchFamily="49" charset="0"/>
                  </a:rPr>
                  <a:t>Discipline</a:t>
                </a:r>
                <a:endParaRPr lang="en-US" sz="2400" dirty="0">
                  <a:solidFill>
                    <a:srgbClr val="711662"/>
                  </a:solidFill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37" name="Group 36"/>
            <p:cNvGrpSpPr/>
            <p:nvPr/>
          </p:nvGrpSpPr>
          <p:grpSpPr>
            <a:xfrm>
              <a:off x="15570387" y="6387355"/>
              <a:ext cx="2838113" cy="701270"/>
              <a:chOff x="12387298" y="3396296"/>
              <a:chExt cx="2286000" cy="680404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12387298" y="3396296"/>
                <a:ext cx="2243102" cy="680404"/>
              </a:xfrm>
              <a:prstGeom prst="ellipse">
                <a:avLst/>
              </a:prstGeom>
              <a:noFill/>
              <a:ln>
                <a:solidFill>
                  <a:srgbClr val="71166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12387298" y="3525724"/>
                <a:ext cx="2286000" cy="507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 smtClean="0">
                    <a:solidFill>
                      <a:srgbClr val="711662"/>
                    </a:solidFill>
                    <a:latin typeface="Consolas" panose="020B0609020204030204" pitchFamily="49" charset="0"/>
                  </a:rPr>
                  <a:t>Distraction</a:t>
                </a:r>
                <a:endParaRPr lang="en-US" sz="2400" dirty="0">
                  <a:solidFill>
                    <a:srgbClr val="711662"/>
                  </a:solidFill>
                  <a:latin typeface="Consolas" panose="020B0609020204030204" pitchFamily="49" charset="0"/>
                </a:endParaRPr>
              </a:p>
            </p:txBody>
          </p:sp>
        </p:grpSp>
      </p:grpSp>
      <p:sp>
        <p:nvSpPr>
          <p:cNvPr id="26" name="TextBox 25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8/11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507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674076" y="419100"/>
            <a:ext cx="11453648" cy="8135243"/>
            <a:chOff x="674076" y="419100"/>
            <a:chExt cx="11453648" cy="8135243"/>
          </a:xfrm>
        </p:grpSpPr>
        <p:sp>
          <p:nvSpPr>
            <p:cNvPr id="26" name="Rectangle 25"/>
            <p:cNvSpPr/>
            <p:nvPr/>
          </p:nvSpPr>
          <p:spPr>
            <a:xfrm>
              <a:off x="674076" y="2552700"/>
              <a:ext cx="11453648" cy="60016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Open Sauce" panose="020B0604020202020204" charset="0"/>
                </a:rPr>
                <a:t>Short videos are not entirely bad.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Open Sauce" panose="020B0604020202020204" charset="0"/>
                </a:rPr>
                <a:t>Their impact depends on how they’re used.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Open Sauce" panose="020B0604020202020204" charset="0"/>
                </a:rPr>
                <a:t>Majority use them for fun, which causes distractions.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Open Sauce" panose="020B0604020202020204" charset="0"/>
                </a:rPr>
                <a:t>Without limits, these platforms can harm academic focus.</a:t>
              </a:r>
            </a:p>
            <a:p>
              <a:pPr marL="342900" lvl="0" indent="-3429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Wingdings" panose="05000000000000000000" pitchFamily="2" charset="2"/>
                <a:buChar char="Ø"/>
              </a:pPr>
              <a:r>
                <a:rPr lang="en-US" altLang="en-US" sz="2400" dirty="0">
                  <a:latin typeface="Open Sauce" panose="020B0604020202020204" charset="0"/>
                </a:rPr>
                <a:t>With balance, they can be useful in small amounts.</a:t>
              </a:r>
            </a:p>
            <a:p>
              <a:endParaRPr lang="en-US" sz="2400" dirty="0">
                <a:latin typeface="Open Sauce" panose="020B0604020202020204" charset="0"/>
              </a:endParaRPr>
            </a:p>
          </p:txBody>
        </p:sp>
        <p:grpSp>
          <p:nvGrpSpPr>
            <p:cNvPr id="3" name="Group 3"/>
            <p:cNvGrpSpPr/>
            <p:nvPr/>
          </p:nvGrpSpPr>
          <p:grpSpPr>
            <a:xfrm>
              <a:off x="674076" y="419100"/>
              <a:ext cx="8115300" cy="1814664"/>
              <a:chOff x="-236447" y="-171449"/>
              <a:chExt cx="10820400" cy="2419552"/>
            </a:xfrm>
          </p:grpSpPr>
          <p:grpSp>
            <p:nvGrpSpPr>
              <p:cNvPr id="4" name="Group 4"/>
              <p:cNvGrpSpPr/>
              <p:nvPr/>
            </p:nvGrpSpPr>
            <p:grpSpPr>
              <a:xfrm>
                <a:off x="0" y="1777584"/>
                <a:ext cx="470519" cy="470519"/>
                <a:chOff x="0" y="0"/>
                <a:chExt cx="812800" cy="81280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 lang="en-US" dirty="0"/>
                </a:p>
              </p:txBody>
            </p:sp>
          </p:grpSp>
          <p:grpSp>
            <p:nvGrpSpPr>
              <p:cNvPr id="7" name="Group 7"/>
              <p:cNvGrpSpPr/>
              <p:nvPr/>
            </p:nvGrpSpPr>
            <p:grpSpPr>
              <a:xfrm>
                <a:off x="667461" y="1777584"/>
                <a:ext cx="470519" cy="470519"/>
                <a:chOff x="0" y="0"/>
                <a:chExt cx="812800" cy="8128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 lang="en-US" dirty="0"/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>
                <a:off x="1328523" y="1777584"/>
                <a:ext cx="470519" cy="470519"/>
                <a:chOff x="0" y="0"/>
                <a:chExt cx="812800" cy="8128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 lang="en-US" dirty="0"/>
                </a:p>
              </p:txBody>
            </p:sp>
          </p:grpSp>
          <p:sp>
            <p:nvSpPr>
              <p:cNvPr id="13" name="TextBox 13"/>
              <p:cNvSpPr txBox="1"/>
              <p:nvPr/>
            </p:nvSpPr>
            <p:spPr>
              <a:xfrm>
                <a:off x="-236447" y="-171449"/>
                <a:ext cx="10820400" cy="1972079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12320"/>
                  </a:lnSpc>
                </a:pPr>
                <a:r>
                  <a:rPr lang="en-US" sz="8800" dirty="0" smtClean="0">
                    <a:solidFill>
                      <a:srgbClr val="711662"/>
                    </a:solidFill>
                    <a:latin typeface="Anton"/>
                    <a:ea typeface="Anton"/>
                    <a:cs typeface="Anton"/>
                    <a:sym typeface="Anton"/>
                  </a:rPr>
                  <a:t>CONCLUSION</a:t>
                </a:r>
                <a:endParaRPr lang="en-US" sz="8800" dirty="0">
                  <a:solidFill>
                    <a:srgbClr val="711662"/>
                  </a:solidFill>
                  <a:latin typeface="Anton"/>
                  <a:ea typeface="Anton"/>
                  <a:cs typeface="Anton"/>
                  <a:sym typeface="Anton"/>
                </a:endParaRPr>
              </a:p>
            </p:txBody>
          </p:sp>
        </p:grpSp>
      </p:grpSp>
      <p:grpSp>
        <p:nvGrpSpPr>
          <p:cNvPr id="28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29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30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9753600" y="2864996"/>
            <a:ext cx="7915584" cy="5749898"/>
            <a:chOff x="7430260" y="2262843"/>
            <a:chExt cx="7915584" cy="5536625"/>
          </a:xfrm>
        </p:grpSpPr>
        <p:sp>
          <p:nvSpPr>
            <p:cNvPr id="21" name="Rectangle 20"/>
            <p:cNvSpPr/>
            <p:nvPr/>
          </p:nvSpPr>
          <p:spPr>
            <a:xfrm>
              <a:off x="7430260" y="2262843"/>
              <a:ext cx="7915584" cy="5536625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7495930" y="2295396"/>
              <a:ext cx="7849914" cy="5476265"/>
              <a:chOff x="9156147" y="2876766"/>
              <a:chExt cx="7849914" cy="5476265"/>
            </a:xfrm>
          </p:grpSpPr>
          <p:pic>
            <p:nvPicPr>
              <p:cNvPr id="20" name="Picture 19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2647954" y="2981207"/>
                <a:ext cx="4358107" cy="5295658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56147" y="2933700"/>
                <a:ext cx="4046434" cy="5419331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cxnSp>
            <p:nvCxnSpPr>
              <p:cNvPr id="23" name="Straight Connector 22"/>
              <p:cNvCxnSpPr/>
              <p:nvPr/>
            </p:nvCxnSpPr>
            <p:spPr>
              <a:xfrm flipH="1">
                <a:off x="13113958" y="2876766"/>
                <a:ext cx="15119" cy="5445767"/>
              </a:xfrm>
              <a:prstGeom prst="line">
                <a:avLst/>
              </a:prstGeom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27" name="TextBox 26"/>
          <p:cNvSpPr txBox="1"/>
          <p:nvPr/>
        </p:nvSpPr>
        <p:spPr>
          <a:xfrm>
            <a:off x="-32802" y="9702225"/>
            <a:ext cx="11206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9/11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" y="647700"/>
            <a:ext cx="13168032" cy="1538372"/>
            <a:chOff x="0" y="19051"/>
            <a:chExt cx="17557376" cy="205116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99694"/>
              <a:ext cx="518107" cy="470519"/>
              <a:chOff x="0" y="0"/>
              <a:chExt cx="895007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734969" y="1599694"/>
              <a:ext cx="518107" cy="470519"/>
              <a:chOff x="0" y="0"/>
              <a:chExt cx="895007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462890" y="1599694"/>
              <a:ext cx="518107" cy="470519"/>
              <a:chOff x="0" y="0"/>
              <a:chExt cx="895007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0" y="19051"/>
              <a:ext cx="17557376" cy="15046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775"/>
                </a:lnSpc>
              </a:pPr>
              <a:r>
                <a:rPr lang="en-US" sz="80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  <a:sym typeface="Anton"/>
                </a:rPr>
                <a:t>RECOMMENDATIONS</a:t>
              </a:r>
              <a:r>
                <a:rPr lang="en-US" sz="80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  <a:ea typeface="Anton"/>
                  <a:cs typeface="Anton"/>
                  <a:sym typeface="Anton"/>
                </a:rPr>
                <a:t> </a:t>
              </a:r>
              <a:endParaRPr lang="en-US" sz="80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  <a:ea typeface="Anton"/>
                <a:cs typeface="Anton"/>
                <a:sym typeface="Anton"/>
              </a:endParaRPr>
            </a:p>
          </p:txBody>
        </p:sp>
      </p:grpSp>
      <p:grpSp>
        <p:nvGrpSpPr>
          <p:cNvPr id="14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5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7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AutoShape 22" descr="Family Father Icon, PNG, 3284x3284px, Family, Art, Child, Communication,  Family Tree Download Fre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AutoShape 28" descr="Family Father Icon, PNG, 3284x3284px, Family, Art, Child, Communication,  Family Tree Download Free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AutoShape 32" descr="Family Father Icon, PNG, 3284x3284px, Family, Art, Child, Communication,  Family Tree Download Free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9" name="Group 18"/>
          <p:cNvGrpSpPr/>
          <p:nvPr/>
        </p:nvGrpSpPr>
        <p:grpSpPr>
          <a:xfrm>
            <a:off x="609982" y="315005"/>
            <a:ext cx="17178710" cy="9880257"/>
            <a:chOff x="538716" y="229852"/>
            <a:chExt cx="17178710" cy="9880257"/>
          </a:xfrm>
        </p:grpSpPr>
        <p:sp>
          <p:nvSpPr>
            <p:cNvPr id="16" name="Rectangle 15"/>
            <p:cNvSpPr/>
            <p:nvPr/>
          </p:nvSpPr>
          <p:spPr>
            <a:xfrm>
              <a:off x="538716" y="2152989"/>
              <a:ext cx="14212971" cy="78483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800" dirty="0">
                  <a:latin typeface="Open Sauce" panose="020B0604020202020204" charset="0"/>
                </a:rPr>
                <a:t>Set daily screen time limits using app </a:t>
              </a:r>
              <a:r>
                <a:rPr lang="en-US" altLang="en-US" sz="2800" dirty="0" smtClean="0">
                  <a:latin typeface="Open Sauce" panose="020B0604020202020204" charset="0"/>
                </a:rPr>
                <a:t>timers.</a:t>
              </a:r>
              <a:endParaRPr lang="en-US" altLang="en-US" sz="2800" dirty="0">
                <a:latin typeface="Open Sauce" panose="020B0604020202020204" charset="0"/>
              </a:endParaRP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800" dirty="0">
                  <a:latin typeface="Open Sauce" panose="020B0604020202020204" charset="0"/>
                </a:rPr>
                <a:t>Follow educational content creators, not just entertainment.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800" dirty="0">
                  <a:latin typeface="Open Sauce" panose="020B0604020202020204" charset="0"/>
                </a:rPr>
                <a:t>Use digital well-being tools and productivity techniques.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800" dirty="0">
                  <a:latin typeface="Open Sauce" panose="020B0604020202020204" charset="0"/>
                </a:rPr>
                <a:t>Universities should hold awareness sessions on digital health.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800" dirty="0">
                  <a:latin typeface="Open Sauce" panose="020B0604020202020204" charset="0"/>
                </a:rPr>
                <a:t>Parents and peers should encourage balance and responsibility.</a:t>
              </a:r>
            </a:p>
            <a:p>
              <a:pPr marL="457200" lvl="0" indent="-457200" eaLnBrk="0" fontAlgn="base" hangingPunct="0">
                <a:lnSpc>
                  <a:spcPct val="300000"/>
                </a:lnSpc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altLang="en-US" sz="2800" dirty="0">
                  <a:latin typeface="Open Sauce" panose="020B0604020202020204" charset="0"/>
                </a:rPr>
                <a:t>Future research should include larger and diverse samples.</a:t>
              </a: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9388807" y="229852"/>
              <a:ext cx="8328619" cy="9880257"/>
              <a:chOff x="9388807" y="229852"/>
              <a:chExt cx="8328619" cy="9880257"/>
            </a:xfrm>
          </p:grpSpPr>
          <p:grpSp>
            <p:nvGrpSpPr>
              <p:cNvPr id="12" name="Group 11"/>
              <p:cNvGrpSpPr/>
              <p:nvPr/>
            </p:nvGrpSpPr>
            <p:grpSpPr>
              <a:xfrm>
                <a:off x="15520947" y="229852"/>
                <a:ext cx="2196479" cy="3770648"/>
                <a:chOff x="11922956" y="997185"/>
                <a:chExt cx="4038600" cy="5517915"/>
              </a:xfrm>
            </p:grpSpPr>
            <p:pic>
              <p:nvPicPr>
                <p:cNvPr id="1028" name="Picture 4" descr="timer icon PNG &amp; clipart images | Citypng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000" t="13883" r="24000" b="14116"/>
                <a:stretch/>
              </p:blipFill>
              <p:spPr bwMode="auto">
                <a:xfrm>
                  <a:off x="11922956" y="997185"/>
                  <a:ext cx="4038600" cy="5486401"/>
                </a:xfrm>
                <a:prstGeom prst="roundRect">
                  <a:avLst>
                    <a:gd name="adj" fmla="val 16667"/>
                  </a:avLst>
                </a:prstGeom>
                <a:ln>
                  <a:noFill/>
                </a:ln>
                <a:effectLst>
                  <a:outerShdw blurRad="76200" dist="38100" dir="7800000" algn="tl" rotWithShape="0">
                    <a:srgbClr val="000000">
                      <a:alpha val="40000"/>
                    </a:srgbClr>
                  </a:outerShdw>
                </a:effectLst>
                <a:scene3d>
                  <a:camera prst="orthographicFront"/>
                  <a:lightRig rig="contrasting" dir="t">
                    <a:rot lat="0" lon="0" rev="4200000"/>
                  </a:lightRig>
                </a:scene3d>
                <a:sp3d prstMaterial="plastic">
                  <a:bevelT w="381000" h="114300" prst="relaxedInset"/>
                  <a:contourClr>
                    <a:srgbClr val="969696"/>
                  </a:contourClr>
                </a:sp3d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30" name="Picture 6" descr="timer icon PNG &amp; clipart images | Citypng"/>
                <p:cNvPicPr>
                  <a:picLocks noChangeAspect="1" noChangeArrowheads="1"/>
                </p:cNvPicPr>
                <p:nvPr/>
              </p:nvPicPr>
              <p:blipFill rotWithShape="1"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31000" r="68625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7250" t="32000" r="28751" b="14000"/>
                <a:stretch/>
              </p:blipFill>
              <p:spPr bwMode="auto">
                <a:xfrm>
                  <a:off x="12265857" y="2400301"/>
                  <a:ext cx="3352802" cy="4114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18" name="Group 17"/>
              <p:cNvGrpSpPr/>
              <p:nvPr/>
            </p:nvGrpSpPr>
            <p:grpSpPr>
              <a:xfrm>
                <a:off x="9388807" y="1711654"/>
                <a:ext cx="2072243" cy="2002561"/>
                <a:chOff x="12897962" y="3390900"/>
                <a:chExt cx="2143125" cy="2143125"/>
              </a:xfrm>
            </p:grpSpPr>
            <p:pic>
              <p:nvPicPr>
                <p:cNvPr id="1026" name="Picture 2" descr="Timer - Free time and date icons"/>
                <p:cNvPicPr>
                  <a:picLocks noChangeAspect="1" noChangeArrowheads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9778" b="93333" l="12889" r="86667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4932" t="20885" r="13957" b="8004"/>
                <a:stretch/>
              </p:blipFill>
              <p:spPr bwMode="auto">
                <a:xfrm>
                  <a:off x="13227687" y="3848100"/>
                  <a:ext cx="1524000" cy="1524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2" descr="Timer - Free time and date icons"/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0" b="100000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2897962" y="3390900"/>
                  <a:ext cx="2143125" cy="21431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036" name="Picture 12" descr="Graduation cap png images | PNGWing"/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backgroundRemoval t="0" b="100000" l="0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2267688" y="2745149"/>
                <a:ext cx="2834254" cy="19381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0" name="Picture 16" descr="298,700+ Mobile Phone Screen With Apps Stock Photos, Pictures &amp;  Royalty-Free Images - iStock"/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BEBA8EAE-BF5A-486C-A8C5-ECC9F3942E4B}">
                    <a14:imgProps xmlns:a14="http://schemas.microsoft.com/office/drawing/2010/main">
                      <a14:imgLayer r:embed="rId11">
                        <a14:imgEffect>
                          <a14:backgroundRemoval t="0" b="100000" l="9804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043439" y="4489669"/>
                <a:ext cx="2244007" cy="22440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2" name="Group 21"/>
              <p:cNvGrpSpPr/>
              <p:nvPr/>
            </p:nvGrpSpPr>
            <p:grpSpPr>
              <a:xfrm>
                <a:off x="14401800" y="5342630"/>
                <a:ext cx="1621672" cy="2163070"/>
                <a:chOff x="13966072" y="5342630"/>
                <a:chExt cx="1828800" cy="2495551"/>
              </a:xfrm>
            </p:grpSpPr>
            <p:pic>
              <p:nvPicPr>
                <p:cNvPr id="1042" name="Picture 18" descr="Head with lightbulb icon. Simple icon representing a head with a lightbulb  inside. Great for concepts of new ideas, inspiration, and problem solving  Stock Vector Image &amp; Art - Alamy"/>
                <p:cNvPicPr>
                  <a:picLocks noChangeAspect="1" noChangeArrowheads="1"/>
                </p:cNvPicPr>
                <p:nvPr/>
              </p:nvPicPr>
              <p:blipFill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0" b="88931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966072" y="5342630"/>
                  <a:ext cx="1828800" cy="249555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044" name="Picture 20" descr="Head with lightbulb icon. Simple icon representing a head with a lightbulb  inside. Great for concepts of new ideas, inspiration, and problem solving  Stock Vector Image &amp; Art - Alamy"/>
                <p:cNvPicPr>
                  <a:picLocks noChangeAspect="1" noChangeArrowheads="1"/>
                </p:cNvPicPr>
                <p:nvPr/>
              </p:nvPicPr>
              <p:blipFill rotWithShape="1">
                <a:blip r:embed="rId14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backgroundRemoval t="0" b="63359" l="9896" r="89063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945" t="6722" r="4722" b="32209"/>
                <a:stretch/>
              </p:blipFill>
              <p:spPr bwMode="auto">
                <a:xfrm>
                  <a:off x="14173200" y="5524501"/>
                  <a:ext cx="1524000" cy="15240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grpSp>
            <p:nvGrpSpPr>
              <p:cNvPr id="33" name="Group 32"/>
              <p:cNvGrpSpPr/>
              <p:nvPr/>
            </p:nvGrpSpPr>
            <p:grpSpPr>
              <a:xfrm>
                <a:off x="12345127" y="6821228"/>
                <a:ext cx="1742996" cy="1838722"/>
                <a:chOff x="10929916" y="6247818"/>
                <a:chExt cx="2562226" cy="2616232"/>
              </a:xfrm>
            </p:grpSpPr>
            <p:pic>
              <p:nvPicPr>
                <p:cNvPr id="1058" name="Picture 34" descr="First/Birth Family Circle"/>
                <p:cNvPicPr>
                  <a:picLocks noChangeAspect="1" noChangeArrowheads="1"/>
                </p:cNvPicPr>
                <p:nvPr/>
              </p:nvPicPr>
              <p:blipFill>
                <a:blip r:embed="rId15">
                  <a:extLst>
                    <a:ext uri="{BEBA8EAE-BF5A-486C-A8C5-ECC9F3942E4B}">
                      <a14:imgProps xmlns:a14="http://schemas.microsoft.com/office/drawing/2010/main">
                        <a14:imgLayer r:embed="rId16">
                          <a14:imgEffect>
                            <a14:backgroundRemoval t="0" b="100000" l="0" r="10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192659" y="6474594"/>
                  <a:ext cx="2143125" cy="214312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32" name="Group 31"/>
                <p:cNvGrpSpPr/>
                <p:nvPr/>
              </p:nvGrpSpPr>
              <p:grpSpPr>
                <a:xfrm>
                  <a:off x="10929916" y="6247818"/>
                  <a:ext cx="2562226" cy="2616232"/>
                  <a:chOff x="11715750" y="6137625"/>
                  <a:chExt cx="2562226" cy="2616232"/>
                </a:xfrm>
              </p:grpSpPr>
              <p:pic>
                <p:nvPicPr>
                  <p:cNvPr id="1064" name="Picture 40" descr="First/Birth Family Circl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17">
                    <a:extLst>
                      <a:ext uri="{BEBA8EAE-BF5A-486C-A8C5-ECC9F3942E4B}">
                        <a14:imgProps xmlns:a14="http://schemas.microsoft.com/office/drawing/2010/main">
                          <a14:imgLayer r:embed="rId16">
                            <a14:imgEffect>
                              <a14:backgroundRemoval t="16889" b="41333" l="0" r="28889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8160" r="69496" b="56951"/>
                  <a:stretch/>
                </p:blipFill>
                <p:spPr bwMode="auto">
                  <a:xfrm>
                    <a:off x="11715750" y="6661638"/>
                    <a:ext cx="971550" cy="69752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66" name="Picture 42" descr="First/Birth Family Circl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18">
                    <a:extLst>
                      <a:ext uri="{BEBA8EAE-BF5A-486C-A8C5-ECC9F3942E4B}">
                        <a14:imgProps xmlns:a14="http://schemas.microsoft.com/office/drawing/2010/main">
                          <a14:imgLayer r:embed="rId16">
                            <a14:imgEffect>
                              <a14:backgroundRemoval t="9778" b="44000" l="73778" r="98222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77343" b="57002"/>
                  <a:stretch/>
                </p:blipFill>
                <p:spPr bwMode="auto">
                  <a:xfrm>
                    <a:off x="13641296" y="6137625"/>
                    <a:ext cx="634986" cy="120504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68" name="Picture 44" descr="First/Birth Family Circl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19">
                    <a:extLst>
                      <a:ext uri="{BEBA8EAE-BF5A-486C-A8C5-ECC9F3942E4B}">
                        <a14:imgProps xmlns:a14="http://schemas.microsoft.com/office/drawing/2010/main">
                          <a14:imgLayer r:embed="rId16">
                            <a14:imgEffect>
                              <a14:backgroundRemoval t="0" b="24000" l="15111" r="66667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2000" r="32444" b="83022"/>
                  <a:stretch/>
                </p:blipFill>
                <p:spPr bwMode="auto">
                  <a:xfrm>
                    <a:off x="12551824" y="6216552"/>
                    <a:ext cx="996464" cy="47583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70" name="Picture 46" descr="First/Birth Family Circl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0">
                    <a:extLst>
                      <a:ext uri="{BEBA8EAE-BF5A-486C-A8C5-ECC9F3942E4B}">
                        <a14:imgProps xmlns:a14="http://schemas.microsoft.com/office/drawing/2010/main">
                          <a14:imgLayer r:embed="rId16">
                            <a14:imgEffect>
                              <a14:backgroundRemoval t="84889" b="100000" l="9778" r="89778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5111" t="80844" r="28666"/>
                  <a:stretch/>
                </p:blipFill>
                <p:spPr bwMode="auto">
                  <a:xfrm>
                    <a:off x="12355167" y="8128338"/>
                    <a:ext cx="1295400" cy="536874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72" name="Picture 48" descr="First/Birth Family Circl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1">
                    <a:extLst>
                      <a:ext uri="{BEBA8EAE-BF5A-486C-A8C5-ECC9F3942E4B}">
                        <a14:imgProps xmlns:a14="http://schemas.microsoft.com/office/drawing/2010/main">
                          <a14:imgLayer r:embed="rId16">
                            <a14:imgEffect>
                              <a14:backgroundRemoval t="39111" b="86667" l="0" r="26667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2587" t="55920" r="76079"/>
                  <a:stretch/>
                </p:blipFill>
                <p:spPr bwMode="auto">
                  <a:xfrm>
                    <a:off x="11893062" y="7512763"/>
                    <a:ext cx="597876" cy="123537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1074" name="Picture 50" descr="First/Birth Family Circle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2">
                    <a:extLst>
                      <a:ext uri="{BEBA8EAE-BF5A-486C-A8C5-ECC9F3942E4B}">
                        <a14:imgProps xmlns:a14="http://schemas.microsoft.com/office/drawing/2010/main">
                          <a14:imgLayer r:embed="rId16">
                            <a14:imgEffect>
                              <a14:backgroundRemoval t="34667" b="100000" l="76444" r="100000"/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71111" t="52607"/>
                  <a:stretch/>
                </p:blipFill>
                <p:spPr bwMode="auto">
                  <a:xfrm>
                    <a:off x="13468350" y="7425639"/>
                    <a:ext cx="809626" cy="1328218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pic>
            <p:nvPicPr>
              <p:cNvPr id="1076" name="Picture 52" descr="Icon Icon With The Concept Of Searching Analyzing For Business Finance And  Marketing Illustrated With Magnifying Glass Bar Chart And Arrow Graph  Increases Stock Illustration - Download Image Now - iStock"/>
              <p:cNvPicPr>
                <a:picLocks noChangeAspect="1" noChangeArrowheads="1"/>
              </p:cNvPicPr>
              <p:nvPr/>
            </p:nvPicPr>
            <p:blipFill rotWithShape="1">
              <a:blip r:embed="rId23">
                <a:extLst>
                  <a:ext uri="{BEBA8EAE-BF5A-486C-A8C5-ECC9F3942E4B}">
                    <a14:imgProps xmlns:a14="http://schemas.microsoft.com/office/drawing/2010/main">
                      <a14:imgLayer r:embed="rId24">
                        <a14:imgEffect>
                          <a14:backgroundRemoval t="0" b="100000" l="817" r="10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2757" t="25093" r="-453" b="22876"/>
              <a:stretch/>
            </p:blipFill>
            <p:spPr bwMode="auto">
              <a:xfrm>
                <a:off x="15452196" y="8468002"/>
                <a:ext cx="2136476" cy="16421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42" name="TextBox 41"/>
          <p:cNvSpPr txBox="1"/>
          <p:nvPr/>
        </p:nvSpPr>
        <p:spPr>
          <a:xfrm>
            <a:off x="-32803" y="9702225"/>
            <a:ext cx="1506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711662"/>
                </a:solidFill>
                <a:latin typeface="Arial Black" panose="020B0A04020102020204" pitchFamily="34" charset="0"/>
              </a:rPr>
              <a:t>10/11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3400" y="647700"/>
            <a:ext cx="13168032" cy="1538372"/>
            <a:chOff x="0" y="19051"/>
            <a:chExt cx="17557376" cy="205116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1599694"/>
              <a:ext cx="518107" cy="470519"/>
              <a:chOff x="0" y="0"/>
              <a:chExt cx="895007" cy="812800"/>
            </a:xfrm>
          </p:grpSpPr>
          <p:sp>
            <p:nvSpPr>
              <p:cNvPr id="11" name="Freeform 4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2" name="TextBox 5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" name="Group 6"/>
            <p:cNvGrpSpPr/>
            <p:nvPr/>
          </p:nvGrpSpPr>
          <p:grpSpPr>
            <a:xfrm>
              <a:off x="734969" y="1599694"/>
              <a:ext cx="518107" cy="470519"/>
              <a:chOff x="0" y="0"/>
              <a:chExt cx="895007" cy="812800"/>
            </a:xfrm>
          </p:grpSpPr>
          <p:sp>
            <p:nvSpPr>
              <p:cNvPr id="9" name="Freeform 7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10" name="TextBox 8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" name="Group 9"/>
            <p:cNvGrpSpPr/>
            <p:nvPr/>
          </p:nvGrpSpPr>
          <p:grpSpPr>
            <a:xfrm>
              <a:off x="1462890" y="1599694"/>
              <a:ext cx="518107" cy="470519"/>
              <a:chOff x="0" y="0"/>
              <a:chExt cx="895007" cy="812800"/>
            </a:xfrm>
          </p:grpSpPr>
          <p:sp>
            <p:nvSpPr>
              <p:cNvPr id="7" name="Freeform 10"/>
              <p:cNvSpPr/>
              <p:nvPr/>
            </p:nvSpPr>
            <p:spPr>
              <a:xfrm>
                <a:off x="0" y="0"/>
                <a:ext cx="895007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95007" h="812800">
                    <a:moveTo>
                      <a:pt x="447503" y="0"/>
                    </a:moveTo>
                    <a:cubicBezTo>
                      <a:pt x="200354" y="0"/>
                      <a:pt x="0" y="181951"/>
                      <a:pt x="0" y="406400"/>
                    </a:cubicBezTo>
                    <a:cubicBezTo>
                      <a:pt x="0" y="630849"/>
                      <a:pt x="200354" y="812800"/>
                      <a:pt x="447503" y="812800"/>
                    </a:cubicBezTo>
                    <a:cubicBezTo>
                      <a:pt x="694653" y="812800"/>
                      <a:pt x="895007" y="630849"/>
                      <a:pt x="895007" y="406400"/>
                    </a:cubicBezTo>
                    <a:cubicBezTo>
                      <a:pt x="895007" y="181951"/>
                      <a:pt x="694653" y="0"/>
                      <a:pt x="4475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00162E">
                      <a:alpha val="100000"/>
                    </a:srgbClr>
                  </a:gs>
                  <a:gs pos="100000">
                    <a:srgbClr val="D63DA0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id="8" name="TextBox 11"/>
              <p:cNvSpPr txBox="1"/>
              <p:nvPr/>
            </p:nvSpPr>
            <p:spPr>
              <a:xfrm>
                <a:off x="83907" y="38100"/>
                <a:ext cx="727193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6" name="TextBox 13"/>
            <p:cNvSpPr txBox="1"/>
            <p:nvPr/>
          </p:nvSpPr>
          <p:spPr>
            <a:xfrm>
              <a:off x="0" y="19051"/>
              <a:ext cx="17557376" cy="150468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775"/>
                </a:lnSpc>
              </a:pPr>
              <a:r>
                <a:rPr lang="en-US" sz="80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  <a:sym typeface="Anton"/>
                </a:rPr>
                <a:t>REFERENCES</a:t>
              </a:r>
              <a:r>
                <a:rPr lang="en-US" sz="8000" dirty="0" smtClean="0">
                  <a:solidFill>
                    <a:srgbClr val="7116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nton" panose="020B0604020202020204" charset="0"/>
                  <a:ea typeface="Anton"/>
                  <a:cs typeface="Anton"/>
                  <a:sym typeface="Anton"/>
                </a:rPr>
                <a:t> </a:t>
              </a:r>
              <a:endParaRPr lang="en-US" sz="8000" dirty="0">
                <a:solidFill>
                  <a:srgbClr val="71166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ton" panose="020B0604020202020204" charset="0"/>
                <a:ea typeface="Anton"/>
                <a:cs typeface="Anton"/>
                <a:sym typeface="Anton"/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 rot="16200000">
            <a:off x="4895849" y="-4895852"/>
            <a:ext cx="342904" cy="10134599"/>
            <a:chOff x="0" y="0"/>
            <a:chExt cx="192082" cy="2051188"/>
          </a:xfrm>
        </p:grpSpPr>
        <p:sp>
          <p:nvSpPr>
            <p:cNvPr id="14" name="Freeform 13"/>
            <p:cNvSpPr/>
            <p:nvPr/>
          </p:nvSpPr>
          <p:spPr>
            <a:xfrm>
              <a:off x="0" y="0"/>
              <a:ext cx="192082" cy="2051188"/>
            </a:xfrm>
            <a:custGeom>
              <a:avLst/>
              <a:gdLst/>
              <a:ahLst/>
              <a:cxnLst/>
              <a:rect l="l" t="t" r="r" b="b"/>
              <a:pathLst>
                <a:path w="192082" h="2051188">
                  <a:moveTo>
                    <a:pt x="0" y="0"/>
                  </a:moveTo>
                  <a:lnTo>
                    <a:pt x="192082" y="0"/>
                  </a:lnTo>
                  <a:lnTo>
                    <a:pt x="192082" y="2051188"/>
                  </a:lnTo>
                  <a:lnTo>
                    <a:pt x="0" y="2051188"/>
                  </a:lnTo>
                  <a:close/>
                </a:path>
              </a:pathLst>
            </a:custGeom>
            <a:gradFill rotWithShape="1">
              <a:gsLst>
                <a:gs pos="0">
                  <a:srgbClr val="D63DA0">
                    <a:alpha val="100000"/>
                  </a:srgbClr>
                </a:gs>
                <a:gs pos="20000">
                  <a:srgbClr val="D63DA0">
                    <a:alpha val="83500"/>
                  </a:srgbClr>
                </a:gs>
                <a:gs pos="40000">
                  <a:srgbClr val="D63DA0">
                    <a:alpha val="61500"/>
                  </a:srgbClr>
                </a:gs>
                <a:gs pos="60000">
                  <a:srgbClr val="D63DA0">
                    <a:alpha val="36000"/>
                  </a:srgbClr>
                </a:gs>
                <a:gs pos="80000">
                  <a:srgbClr val="D63DA0">
                    <a:alpha val="15000"/>
                  </a:srgbClr>
                </a:gs>
                <a:gs pos="100000">
                  <a:srgbClr val="D63DA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15" name="TextBox 14"/>
            <p:cNvSpPr txBox="1"/>
            <p:nvPr/>
          </p:nvSpPr>
          <p:spPr>
            <a:xfrm>
              <a:off x="0" y="-38100"/>
              <a:ext cx="192082" cy="20892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>
                <a:solidFill>
                  <a:srgbClr val="D63DA0"/>
                </a:solidFill>
              </a:endParaRPr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533400" y="2256639"/>
            <a:ext cx="1774702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i="1" dirty="0" smtClean="0">
                <a:latin typeface="Open Sauce" panose="020B0604020202020204" charset="0"/>
              </a:rPr>
              <a:t>Survey </a:t>
            </a:r>
            <a:r>
              <a:rPr lang="en-US" altLang="en-US" sz="2800" i="1" dirty="0">
                <a:latin typeface="Open Sauce" panose="020B0604020202020204" charset="0"/>
              </a:rPr>
              <a:t>on the Impact of Short Videos on Academic Performance</a:t>
            </a:r>
            <a:r>
              <a:rPr lang="en-US" altLang="en-US" sz="2800" dirty="0">
                <a:latin typeface="Open Sauce" panose="020B0604020202020204" charset="0"/>
              </a:rPr>
              <a:t>. Conducted via Google Forms.</a:t>
            </a: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Open Sauce" panose="020B0604020202020204" charset="0"/>
              </a:rPr>
              <a:t>Icons and visuals from </a:t>
            </a:r>
            <a:r>
              <a:rPr lang="en-US" altLang="en-US" sz="2800" dirty="0" err="1">
                <a:latin typeface="Open Sauce" panose="020B0604020202020204" charset="0"/>
              </a:rPr>
              <a:t>Freepik</a:t>
            </a:r>
            <a:r>
              <a:rPr lang="en-US" altLang="en-US" sz="2800" dirty="0">
                <a:latin typeface="Open Sauce" panose="020B0604020202020204" charset="0"/>
              </a:rPr>
              <a:t>. </a:t>
            </a:r>
            <a:r>
              <a:rPr lang="en-US" altLang="en-US" sz="2800" dirty="0" smtClean="0">
                <a:latin typeface="Open Sauce" panose="020B0604020202020204" charset="0"/>
                <a:hlinkClick r:id="rId2"/>
              </a:rPr>
              <a:t>https://www.freepik.com</a:t>
            </a:r>
            <a:endParaRPr lang="en-US" altLang="en-US" sz="2800" dirty="0" smtClean="0">
              <a:latin typeface="Open Sauce" panose="020B0604020202020204" charset="0"/>
            </a:endParaRP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err="1" smtClean="0">
                <a:latin typeface="Open Sauce" panose="020B0604020202020204" charset="0"/>
              </a:rPr>
              <a:t>TikTok</a:t>
            </a:r>
            <a:r>
              <a:rPr lang="en-US" altLang="en-US" sz="2800" dirty="0" smtClean="0">
                <a:latin typeface="Open Sauce" panose="020B0604020202020204" charset="0"/>
              </a:rPr>
              <a:t> </a:t>
            </a:r>
            <a:r>
              <a:rPr lang="en-US" altLang="en-US" sz="2800" dirty="0">
                <a:latin typeface="Open Sauce" panose="020B0604020202020204" charset="0"/>
              </a:rPr>
              <a:t>Edu example page: </a:t>
            </a:r>
            <a:r>
              <a:rPr lang="en-US" altLang="en-US" sz="2800" dirty="0">
                <a:latin typeface="Open Sauce" panose="020B0604020202020204" charset="0"/>
                <a:hlinkClick r:id="rId3"/>
              </a:rPr>
              <a:t>https://www.tiktok.com/@</a:t>
            </a:r>
            <a:r>
              <a:rPr lang="en-US" altLang="en-US" sz="2800" dirty="0" smtClean="0">
                <a:latin typeface="Open Sauce" panose="020B0604020202020204" charset="0"/>
                <a:hlinkClick r:id="rId3"/>
              </a:rPr>
              <a:t>studytok</a:t>
            </a:r>
            <a:endParaRPr lang="en-US" altLang="en-US" sz="2800" dirty="0" smtClean="0">
              <a:latin typeface="Open Sauce" panose="020B0604020202020204" charset="0"/>
            </a:endParaRP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latin typeface="Open Sauce" panose="020B0604020202020204" charset="0"/>
              </a:rPr>
              <a:t>YouTube </a:t>
            </a:r>
            <a:r>
              <a:rPr lang="en-US" altLang="en-US" sz="2800" dirty="0">
                <a:latin typeface="Open Sauce" panose="020B0604020202020204" charset="0"/>
              </a:rPr>
              <a:t>Shorts educational videos: </a:t>
            </a:r>
            <a:r>
              <a:rPr lang="en-US" altLang="en-US" sz="2800" dirty="0">
                <a:latin typeface="Open Sauce" panose="020B0604020202020204" charset="0"/>
                <a:hlinkClick r:id="rId4"/>
              </a:rPr>
              <a:t>https://</a:t>
            </a:r>
            <a:r>
              <a:rPr lang="en-US" altLang="en-US" sz="2800" dirty="0" smtClean="0">
                <a:latin typeface="Open Sauce" panose="020B0604020202020204" charset="0"/>
                <a:hlinkClick r:id="rId4"/>
              </a:rPr>
              <a:t>www.youtube.com/shorts</a:t>
            </a:r>
            <a:endParaRPr lang="en-US" altLang="en-US" sz="2800" dirty="0" smtClean="0">
              <a:latin typeface="Open Sauce" panose="020B0604020202020204" charset="0"/>
            </a:endParaRPr>
          </a:p>
          <a:p>
            <a:pPr marL="342900" lvl="0" indent="-342900" eaLnBrk="0" fontAlgn="base" hangingPunct="0">
              <a:lnSpc>
                <a:spcPct val="3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800" dirty="0" smtClean="0">
                <a:latin typeface="Open Sauce" panose="020B0604020202020204" charset="0"/>
              </a:rPr>
              <a:t>Sample </a:t>
            </a:r>
            <a:r>
              <a:rPr lang="en-US" altLang="en-US" sz="2800" dirty="0">
                <a:latin typeface="Open Sauce" panose="020B0604020202020204" charset="0"/>
              </a:rPr>
              <a:t>research article: </a:t>
            </a:r>
            <a:r>
              <a:rPr lang="en-US" altLang="en-US" sz="2800" dirty="0">
                <a:latin typeface="Open Sauce" panose="020B0604020202020204" charset="0"/>
                <a:hlinkClick r:id="rId5"/>
              </a:rPr>
              <a:t>https://scholar.google.com</a:t>
            </a:r>
            <a:endParaRPr lang="en-US" altLang="en-US" sz="2800" dirty="0">
              <a:latin typeface="Open Sauce" panose="020B06040202020202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-32803" y="9702225"/>
            <a:ext cx="150600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smtClean="0">
                <a:solidFill>
                  <a:srgbClr val="711662"/>
                </a:solidFill>
                <a:latin typeface="Arial Black" panose="020B0A04020102020204" pitchFamily="34" charset="0"/>
              </a:rPr>
              <a:t>11/11</a:t>
            </a:r>
            <a:endParaRPr lang="en-US" sz="3200" dirty="0">
              <a:solidFill>
                <a:srgbClr val="711662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45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2"/>
          <p:cNvSpPr/>
          <p:nvPr/>
        </p:nvSpPr>
        <p:spPr>
          <a:xfrm rot="-5400000">
            <a:off x="12521989" y="5005105"/>
            <a:ext cx="4064413" cy="5410200"/>
          </a:xfrm>
          <a:custGeom>
            <a:avLst/>
            <a:gdLst/>
            <a:ahLst/>
            <a:cxnLst/>
            <a:rect l="l" t="t" r="r" b="b"/>
            <a:pathLst>
              <a:path w="4064413" h="5410200">
                <a:moveTo>
                  <a:pt x="0" y="0"/>
                </a:moveTo>
                <a:lnTo>
                  <a:pt x="4064412" y="0"/>
                </a:lnTo>
                <a:lnTo>
                  <a:pt x="4064412" y="5410200"/>
                </a:lnTo>
                <a:lnTo>
                  <a:pt x="0" y="541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 rot="-5400000">
            <a:off x="7111797" y="5005105"/>
            <a:ext cx="4064413" cy="5410200"/>
          </a:xfrm>
          <a:custGeom>
            <a:avLst/>
            <a:gdLst/>
            <a:ahLst/>
            <a:cxnLst/>
            <a:rect l="l" t="t" r="r" b="b"/>
            <a:pathLst>
              <a:path w="4064413" h="5410200">
                <a:moveTo>
                  <a:pt x="0" y="0"/>
                </a:moveTo>
                <a:lnTo>
                  <a:pt x="4064412" y="0"/>
                </a:lnTo>
                <a:lnTo>
                  <a:pt x="4064412" y="5410200"/>
                </a:lnTo>
                <a:lnTo>
                  <a:pt x="0" y="541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-5400000">
            <a:off x="1701607" y="5005105"/>
            <a:ext cx="4064413" cy="5410200"/>
          </a:xfrm>
          <a:custGeom>
            <a:avLst/>
            <a:gdLst/>
            <a:ahLst/>
            <a:cxnLst/>
            <a:rect l="l" t="t" r="r" b="b"/>
            <a:pathLst>
              <a:path w="4064413" h="5410200">
                <a:moveTo>
                  <a:pt x="0" y="0"/>
                </a:moveTo>
                <a:lnTo>
                  <a:pt x="4064412" y="0"/>
                </a:lnTo>
                <a:lnTo>
                  <a:pt x="4064412" y="5410200"/>
                </a:lnTo>
                <a:lnTo>
                  <a:pt x="0" y="5410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9" name="Group 38"/>
          <p:cNvGrpSpPr/>
          <p:nvPr/>
        </p:nvGrpSpPr>
        <p:grpSpPr>
          <a:xfrm>
            <a:off x="5086360" y="2833246"/>
            <a:ext cx="8115300" cy="2310254"/>
            <a:chOff x="5086360" y="2833246"/>
            <a:chExt cx="8115300" cy="2310254"/>
          </a:xfrm>
        </p:grpSpPr>
        <p:grpSp>
          <p:nvGrpSpPr>
            <p:cNvPr id="2" name="Group 2"/>
            <p:cNvGrpSpPr/>
            <p:nvPr/>
          </p:nvGrpSpPr>
          <p:grpSpPr>
            <a:xfrm>
              <a:off x="5975947" y="4790611"/>
              <a:ext cx="6336127" cy="352889"/>
              <a:chOff x="0" y="0"/>
              <a:chExt cx="8448169" cy="470519"/>
            </a:xfrm>
          </p:grpSpPr>
          <p:sp>
            <p:nvSpPr>
              <p:cNvPr id="3" name="AutoShape 3"/>
              <p:cNvSpPr/>
              <p:nvPr/>
            </p:nvSpPr>
            <p:spPr>
              <a:xfrm>
                <a:off x="155294" y="235259"/>
                <a:ext cx="8292875" cy="0"/>
              </a:xfrm>
              <a:prstGeom prst="line">
                <a:avLst/>
              </a:prstGeom>
              <a:ln w="101600" cap="flat">
                <a:gradFill>
                  <a:gsLst>
                    <a:gs pos="0">
                      <a:srgbClr val="D63DA0">
                        <a:alpha val="100000"/>
                      </a:srgbClr>
                    </a:gs>
                    <a:gs pos="5000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4" name="Group 4"/>
              <p:cNvGrpSpPr/>
              <p:nvPr/>
            </p:nvGrpSpPr>
            <p:grpSpPr>
              <a:xfrm>
                <a:off x="0" y="0"/>
                <a:ext cx="470519" cy="470519"/>
                <a:chOff x="0" y="0"/>
                <a:chExt cx="812800" cy="812800"/>
              </a:xfrm>
            </p:grpSpPr>
            <p:sp>
              <p:nvSpPr>
                <p:cNvPr id="5" name="Freeform 5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6" name="TextBox 6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7" name="Group 7"/>
              <p:cNvGrpSpPr/>
              <p:nvPr/>
            </p:nvGrpSpPr>
            <p:grpSpPr>
              <a:xfrm>
                <a:off x="6649128" y="0"/>
                <a:ext cx="470519" cy="470519"/>
                <a:chOff x="0" y="0"/>
                <a:chExt cx="812800" cy="812800"/>
              </a:xfrm>
            </p:grpSpPr>
            <p:sp>
              <p:nvSpPr>
                <p:cNvPr id="8" name="Freeform 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D63DA0">
                        <a:alpha val="100000"/>
                      </a:srgbClr>
                    </a:gs>
                    <a:gs pos="100000">
                      <a:srgbClr val="00162E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9" name="TextBox 9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10" name="Group 10"/>
              <p:cNvGrpSpPr/>
              <p:nvPr/>
            </p:nvGrpSpPr>
            <p:grpSpPr>
              <a:xfrm>
                <a:off x="667461" y="0"/>
                <a:ext cx="470519" cy="470519"/>
                <a:chOff x="0" y="0"/>
                <a:chExt cx="812800" cy="812800"/>
              </a:xfrm>
            </p:grpSpPr>
            <p:sp>
              <p:nvSpPr>
                <p:cNvPr id="11" name="Freeform 11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13" name="Group 13"/>
              <p:cNvGrpSpPr/>
              <p:nvPr/>
            </p:nvGrpSpPr>
            <p:grpSpPr>
              <a:xfrm>
                <a:off x="7316589" y="0"/>
                <a:ext cx="470519" cy="470519"/>
                <a:chOff x="0" y="0"/>
                <a:chExt cx="812800" cy="812800"/>
              </a:xfrm>
            </p:grpSpPr>
            <p:sp>
              <p:nvSpPr>
                <p:cNvPr id="14" name="Freeform 14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D63DA0">
                        <a:alpha val="100000"/>
                      </a:srgbClr>
                    </a:gs>
                    <a:gs pos="100000">
                      <a:srgbClr val="00162E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16" name="Group 16"/>
              <p:cNvGrpSpPr/>
              <p:nvPr/>
            </p:nvGrpSpPr>
            <p:grpSpPr>
              <a:xfrm>
                <a:off x="1328523" y="0"/>
                <a:ext cx="470519" cy="470519"/>
                <a:chOff x="0" y="0"/>
                <a:chExt cx="812800" cy="812800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00162E">
                        <a:alpha val="100000"/>
                      </a:srgbClr>
                    </a:gs>
                    <a:gs pos="100000">
                      <a:srgbClr val="D63DA0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19" name="Group 19"/>
              <p:cNvGrpSpPr/>
              <p:nvPr/>
            </p:nvGrpSpPr>
            <p:grpSpPr>
              <a:xfrm>
                <a:off x="7977650" y="0"/>
                <a:ext cx="470519" cy="470519"/>
                <a:chOff x="0" y="0"/>
                <a:chExt cx="812800" cy="8128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D63DA0">
                        <a:alpha val="100000"/>
                      </a:srgbClr>
                    </a:gs>
                    <a:gs pos="100000">
                      <a:srgbClr val="00162E">
                        <a:alpha val="100000"/>
                      </a:srgbClr>
                    </a:gs>
                  </a:gsLst>
                  <a:lin ang="0"/>
                </a:gradFill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</p:grpSp>
        <p:sp>
          <p:nvSpPr>
            <p:cNvPr id="40" name="TextBox 40"/>
            <p:cNvSpPr txBox="1"/>
            <p:nvPr/>
          </p:nvSpPr>
          <p:spPr>
            <a:xfrm>
              <a:off x="5086360" y="2833246"/>
              <a:ext cx="8115300" cy="19247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5713"/>
                </a:lnSpc>
              </a:pPr>
              <a:r>
                <a:rPr lang="en-US" sz="11223" dirty="0">
                  <a:solidFill>
                    <a:srgbClr val="711662"/>
                  </a:solidFill>
                  <a:latin typeface="Anton"/>
                  <a:ea typeface="Anton"/>
                  <a:cs typeface="Anton"/>
                  <a:sym typeface="Anton"/>
                </a:rPr>
                <a:t>THANK YOU</a:t>
              </a: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247714" y="6012414"/>
            <a:ext cx="15682240" cy="3395582"/>
            <a:chOff x="1247714" y="6012414"/>
            <a:chExt cx="15682240" cy="3395582"/>
          </a:xfrm>
        </p:grpSpPr>
        <p:grpSp>
          <p:nvGrpSpPr>
            <p:cNvPr id="43" name="Group 42"/>
            <p:cNvGrpSpPr/>
            <p:nvPr/>
          </p:nvGrpSpPr>
          <p:grpSpPr>
            <a:xfrm>
              <a:off x="1247714" y="6012414"/>
              <a:ext cx="15682240" cy="3395582"/>
              <a:chOff x="1247714" y="6012414"/>
              <a:chExt cx="15682240" cy="3395582"/>
            </a:xfrm>
          </p:grpSpPr>
          <p:grpSp>
            <p:nvGrpSpPr>
              <p:cNvPr id="32" name="Group 31"/>
              <p:cNvGrpSpPr/>
              <p:nvPr/>
            </p:nvGrpSpPr>
            <p:grpSpPr>
              <a:xfrm>
                <a:off x="1247714" y="6012414"/>
                <a:ext cx="15682240" cy="3395582"/>
                <a:chOff x="1247714" y="6012414"/>
                <a:chExt cx="15682240" cy="3395582"/>
              </a:xfrm>
            </p:grpSpPr>
            <p:grpSp>
              <p:nvGrpSpPr>
                <p:cNvPr id="23" name="Group 23"/>
                <p:cNvGrpSpPr/>
                <p:nvPr/>
              </p:nvGrpSpPr>
              <p:grpSpPr>
                <a:xfrm rot="-5400000">
                  <a:off x="12856413" y="5334455"/>
                  <a:ext cx="3395582" cy="4751500"/>
                  <a:chOff x="0" y="0"/>
                  <a:chExt cx="1172399" cy="1640560"/>
                </a:xfrm>
              </p:grpSpPr>
              <p:sp>
                <p:nvSpPr>
                  <p:cNvPr id="24" name="Freeform 24"/>
                  <p:cNvSpPr/>
                  <p:nvPr/>
                </p:nvSpPr>
                <p:spPr>
                  <a:xfrm>
                    <a:off x="0" y="0"/>
                    <a:ext cx="1172399" cy="1640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2399" h="1640560">
                        <a:moveTo>
                          <a:pt x="84360" y="0"/>
                        </a:moveTo>
                        <a:lnTo>
                          <a:pt x="1088040" y="0"/>
                        </a:lnTo>
                        <a:cubicBezTo>
                          <a:pt x="1134630" y="0"/>
                          <a:pt x="1172399" y="37769"/>
                          <a:pt x="1172399" y="84360"/>
                        </a:cubicBezTo>
                        <a:lnTo>
                          <a:pt x="1172399" y="1556200"/>
                        </a:lnTo>
                        <a:cubicBezTo>
                          <a:pt x="1172399" y="1602791"/>
                          <a:pt x="1134630" y="1640560"/>
                          <a:pt x="1088040" y="1640560"/>
                        </a:cubicBezTo>
                        <a:lnTo>
                          <a:pt x="84360" y="1640560"/>
                        </a:lnTo>
                        <a:cubicBezTo>
                          <a:pt x="37769" y="1640560"/>
                          <a:pt x="0" y="1602791"/>
                          <a:pt x="0" y="1556200"/>
                        </a:cubicBezTo>
                        <a:lnTo>
                          <a:pt x="0" y="84360"/>
                        </a:lnTo>
                        <a:cubicBezTo>
                          <a:pt x="0" y="37769"/>
                          <a:pt x="37769" y="0"/>
                          <a:pt x="84360" y="0"/>
                        </a:cubicBezTo>
                        <a:close/>
                      </a:path>
                    </a:pathLst>
                  </a:custGeom>
                  <a:solidFill>
                    <a:schemeClr val="tx1"/>
                  </a:solidFill>
                </p:spPr>
              </p:sp>
              <p:sp>
                <p:nvSpPr>
                  <p:cNvPr id="25" name="TextBox 25"/>
                  <p:cNvSpPr txBox="1"/>
                  <p:nvPr/>
                </p:nvSpPr>
                <p:spPr>
                  <a:xfrm>
                    <a:off x="0" y="-38100"/>
                    <a:ext cx="1172399" cy="1678660"/>
                  </a:xfrm>
                  <a:prstGeom prst="rect">
                    <a:avLst/>
                  </a:prstGeom>
                </p:spPr>
                <p:txBody>
                  <a:bodyPr lIns="51581" tIns="51581" rIns="51581" bIns="51581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 u="sng"/>
                  </a:p>
                </p:txBody>
              </p:sp>
            </p:grpSp>
            <p:grpSp>
              <p:nvGrpSpPr>
                <p:cNvPr id="29" name="Group 29"/>
                <p:cNvGrpSpPr/>
                <p:nvPr/>
              </p:nvGrpSpPr>
              <p:grpSpPr>
                <a:xfrm rot="-5400000">
                  <a:off x="7446202" y="5334455"/>
                  <a:ext cx="3395582" cy="4751500"/>
                  <a:chOff x="0" y="0"/>
                  <a:chExt cx="1172399" cy="1640560"/>
                </a:xfrm>
              </p:grpSpPr>
              <p:sp>
                <p:nvSpPr>
                  <p:cNvPr id="30" name="Freeform 30"/>
                  <p:cNvSpPr/>
                  <p:nvPr/>
                </p:nvSpPr>
                <p:spPr>
                  <a:xfrm>
                    <a:off x="0" y="0"/>
                    <a:ext cx="1172399" cy="1640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2399" h="1640560">
                        <a:moveTo>
                          <a:pt x="84360" y="0"/>
                        </a:moveTo>
                        <a:lnTo>
                          <a:pt x="1088040" y="0"/>
                        </a:lnTo>
                        <a:cubicBezTo>
                          <a:pt x="1134630" y="0"/>
                          <a:pt x="1172399" y="37769"/>
                          <a:pt x="1172399" y="84360"/>
                        </a:cubicBezTo>
                        <a:lnTo>
                          <a:pt x="1172399" y="1556200"/>
                        </a:lnTo>
                        <a:cubicBezTo>
                          <a:pt x="1172399" y="1602791"/>
                          <a:pt x="1134630" y="1640560"/>
                          <a:pt x="1088040" y="1640560"/>
                        </a:cubicBezTo>
                        <a:lnTo>
                          <a:pt x="84360" y="1640560"/>
                        </a:lnTo>
                        <a:cubicBezTo>
                          <a:pt x="37769" y="1640560"/>
                          <a:pt x="0" y="1602791"/>
                          <a:pt x="0" y="1556200"/>
                        </a:cubicBezTo>
                        <a:lnTo>
                          <a:pt x="0" y="84360"/>
                        </a:lnTo>
                        <a:cubicBezTo>
                          <a:pt x="0" y="37769"/>
                          <a:pt x="37769" y="0"/>
                          <a:pt x="84360" y="0"/>
                        </a:cubicBezTo>
                        <a:close/>
                      </a:path>
                    </a:pathLst>
                  </a:custGeom>
                  <a:solidFill>
                    <a:srgbClr val="DED6E6"/>
                  </a:solidFill>
                </p:spPr>
              </p:sp>
              <p:sp>
                <p:nvSpPr>
                  <p:cNvPr id="31" name="TextBox 31"/>
                  <p:cNvSpPr txBox="1"/>
                  <p:nvPr/>
                </p:nvSpPr>
                <p:spPr>
                  <a:xfrm>
                    <a:off x="0" y="-38100"/>
                    <a:ext cx="1172399" cy="1678660"/>
                  </a:xfrm>
                  <a:prstGeom prst="rect">
                    <a:avLst/>
                  </a:prstGeom>
                </p:spPr>
                <p:txBody>
                  <a:bodyPr lIns="51581" tIns="51581" rIns="51581" bIns="51581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 u="sng"/>
                  </a:p>
                </p:txBody>
              </p:sp>
            </p:grpSp>
            <p:grpSp>
              <p:nvGrpSpPr>
                <p:cNvPr id="35" name="Group 35"/>
                <p:cNvGrpSpPr/>
                <p:nvPr/>
              </p:nvGrpSpPr>
              <p:grpSpPr>
                <a:xfrm rot="-5400000">
                  <a:off x="1980847" y="5279281"/>
                  <a:ext cx="3395582" cy="4861848"/>
                  <a:chOff x="0" y="-38100"/>
                  <a:chExt cx="1172399" cy="1678660"/>
                </a:xfrm>
              </p:grpSpPr>
              <p:sp>
                <p:nvSpPr>
                  <p:cNvPr id="36" name="Freeform 36"/>
                  <p:cNvSpPr/>
                  <p:nvPr/>
                </p:nvSpPr>
                <p:spPr>
                  <a:xfrm>
                    <a:off x="0" y="0"/>
                    <a:ext cx="1172399" cy="16405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72399" h="1640560">
                        <a:moveTo>
                          <a:pt x="84360" y="0"/>
                        </a:moveTo>
                        <a:lnTo>
                          <a:pt x="1088040" y="0"/>
                        </a:lnTo>
                        <a:cubicBezTo>
                          <a:pt x="1134630" y="0"/>
                          <a:pt x="1172399" y="37769"/>
                          <a:pt x="1172399" y="84360"/>
                        </a:cubicBezTo>
                        <a:lnTo>
                          <a:pt x="1172399" y="1556200"/>
                        </a:lnTo>
                        <a:cubicBezTo>
                          <a:pt x="1172399" y="1602791"/>
                          <a:pt x="1134630" y="1640560"/>
                          <a:pt x="1088040" y="1640560"/>
                        </a:cubicBezTo>
                        <a:lnTo>
                          <a:pt x="84360" y="1640560"/>
                        </a:lnTo>
                        <a:cubicBezTo>
                          <a:pt x="37769" y="1640560"/>
                          <a:pt x="0" y="1602791"/>
                          <a:pt x="0" y="1556200"/>
                        </a:cubicBezTo>
                        <a:lnTo>
                          <a:pt x="0" y="84360"/>
                        </a:lnTo>
                        <a:cubicBezTo>
                          <a:pt x="0" y="37769"/>
                          <a:pt x="37769" y="0"/>
                          <a:pt x="8436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162E">
                          <a:alpha val="100000"/>
                        </a:srgbClr>
                      </a:gs>
                      <a:gs pos="100000">
                        <a:srgbClr val="D63DA0">
                          <a:alpha val="100000"/>
                        </a:srgbClr>
                      </a:gs>
                    </a:gsLst>
                    <a:lin ang="5400000"/>
                  </a:gradFill>
                </p:spPr>
              </p:sp>
              <p:sp>
                <p:nvSpPr>
                  <p:cNvPr id="37" name="TextBox 37"/>
                  <p:cNvSpPr txBox="1"/>
                  <p:nvPr/>
                </p:nvSpPr>
                <p:spPr>
                  <a:xfrm>
                    <a:off x="0" y="-38100"/>
                    <a:ext cx="1172399" cy="1678660"/>
                  </a:xfrm>
                  <a:prstGeom prst="rect">
                    <a:avLst/>
                  </a:prstGeom>
                </p:spPr>
                <p:txBody>
                  <a:bodyPr lIns="51581" tIns="51581" rIns="51581" bIns="51581" rtlCol="0" anchor="ctr"/>
                  <a:lstStyle/>
                  <a:p>
                    <a:pPr algn="ctr">
                      <a:lnSpc>
                        <a:spcPts val="2659"/>
                      </a:lnSpc>
                    </a:pPr>
                    <a:endParaRPr u="sng"/>
                  </a:p>
                </p:txBody>
              </p:sp>
            </p:grpSp>
          </p:grpSp>
          <p:pic>
            <p:nvPicPr>
              <p:cNvPr id="1026" name="Picture 2" descr="Reels Instagram Logo. New Feature Social Media App 3D ...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0021" b="10750"/>
              <a:stretch/>
            </p:blipFill>
            <p:spPr bwMode="auto">
              <a:xfrm>
                <a:off x="1282803" y="6027790"/>
                <a:ext cx="4942424" cy="3352800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  <a:extLst/>
            </p:spPr>
          </p:pic>
          <p:pic>
            <p:nvPicPr>
              <p:cNvPr id="1028" name="Picture 4" descr="YouTube Shorts Logo, symbol, meaning, history, PNG, brand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922310" y="6465006"/>
                <a:ext cx="4393372" cy="2437323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032" name="Picture 8" descr="Download Tiktok, Logo, Brand. Royalty-Free Stock Illustration Image -  Pixabay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950255" y="6032220"/>
              <a:ext cx="3207890" cy="32078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2028</TotalTime>
  <Words>617</Words>
  <Application>Microsoft Office PowerPoint</Application>
  <PresentationFormat>Custom</PresentationFormat>
  <Paragraphs>97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Consolas</vt:lpstr>
      <vt:lpstr>Anton</vt:lpstr>
      <vt:lpstr>Wingdings</vt:lpstr>
      <vt:lpstr>Arial</vt:lpstr>
      <vt:lpstr>Arial Black</vt:lpstr>
      <vt:lpstr>Open Sauce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PF Project Presentation</dc:title>
  <cp:lastModifiedBy>Wasif Ali</cp:lastModifiedBy>
  <cp:revision>158</cp:revision>
  <dcterms:created xsi:type="dcterms:W3CDTF">2006-08-16T00:00:00Z</dcterms:created>
  <dcterms:modified xsi:type="dcterms:W3CDTF">2025-04-27T19:24:16Z</dcterms:modified>
  <dc:identifier>DAGaju7Yv6s</dc:identifier>
</cp:coreProperties>
</file>