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Anton" pitchFamily="2" charset="0"/>
      <p:regular r:id="rId13"/>
    </p:embeddedFont>
    <p:embeddedFont>
      <p:font typeface="Anton Italics" panose="020B0604020202020204" charset="0"/>
      <p:regular r:id="rId14"/>
    </p:embeddedFont>
    <p:embeddedFont>
      <p:font typeface="Barlow Condensed" panose="020F0502020204030204" pitchFamily="2" charset="0"/>
      <p:regular r:id="rId15"/>
    </p:embeddedFont>
    <p:embeddedFont>
      <p:font typeface="Glacial Indifference" panose="020B0604020202020204" charset="0"/>
      <p:regular r:id="rId16"/>
    </p:embeddedFont>
    <p:embeddedFont>
      <p:font typeface="Open Sauce" panose="020B0604020202020204" charset="0"/>
      <p:regular r:id="rId17"/>
    </p:embeddedFont>
    <p:embeddedFont>
      <p:font typeface="Open Sauce Bold" panose="020B0604020202020204" charset="0"/>
      <p:regular r:id="rId18"/>
    </p:embeddedFont>
    <p:embeddedFont>
      <p:font typeface="Poppins" panose="020B0502040204020203" pitchFamily="2"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39" d="100"/>
          <a:sy n="39" d="100"/>
        </p:scale>
        <p:origin x="940"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sv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sv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4.jpeg"/><Relationship Id="rId4" Type="http://schemas.openxmlformats.org/officeDocument/2006/relationships/image" Target="../media/image12.sv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3.svg"/><Relationship Id="rId9"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2.sv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2.sv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5.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jpeg"/><Relationship Id="rId4" Type="http://schemas.openxmlformats.org/officeDocument/2006/relationships/image" Target="../media/image12.svg"/></Relationships>
</file>

<file path=ppt/slides/_rels/slide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3.svg"/><Relationship Id="rId9" Type="http://schemas.openxmlformats.org/officeDocument/2006/relationships/image" Target="../media/image29.jpe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2.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a:off x="919957" y="1042193"/>
            <a:ext cx="500857" cy="500857"/>
          </a:xfrm>
          <a:custGeom>
            <a:avLst/>
            <a:gdLst/>
            <a:ahLst/>
            <a:cxnLst/>
            <a:rect l="l" t="t" r="r" b="b"/>
            <a:pathLst>
              <a:path w="500857" h="500857">
                <a:moveTo>
                  <a:pt x="0" y="0"/>
                </a:moveTo>
                <a:lnTo>
                  <a:pt x="500858" y="0"/>
                </a:lnTo>
                <a:lnTo>
                  <a:pt x="500858" y="500857"/>
                </a:lnTo>
                <a:lnTo>
                  <a:pt x="0" y="50085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4845554" y="1028700"/>
            <a:ext cx="828933" cy="527843"/>
          </a:xfrm>
          <a:custGeom>
            <a:avLst/>
            <a:gdLst/>
            <a:ahLst/>
            <a:cxnLst/>
            <a:rect l="l" t="t" r="r" b="b"/>
            <a:pathLst>
              <a:path w="828933" h="527843">
                <a:moveTo>
                  <a:pt x="0" y="0"/>
                </a:moveTo>
                <a:lnTo>
                  <a:pt x="828933" y="0"/>
                </a:lnTo>
                <a:lnTo>
                  <a:pt x="828933" y="527843"/>
                </a:lnTo>
                <a:lnTo>
                  <a:pt x="0" y="52784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flipH="1">
            <a:off x="7737471" y="4839193"/>
            <a:ext cx="4189362" cy="5969096"/>
          </a:xfrm>
          <a:custGeom>
            <a:avLst/>
            <a:gdLst/>
            <a:ahLst/>
            <a:cxnLst/>
            <a:rect l="l" t="t" r="r" b="b"/>
            <a:pathLst>
              <a:path w="4189362" h="5969096">
                <a:moveTo>
                  <a:pt x="4189363" y="0"/>
                </a:moveTo>
                <a:lnTo>
                  <a:pt x="0" y="0"/>
                </a:lnTo>
                <a:lnTo>
                  <a:pt x="0" y="5969095"/>
                </a:lnTo>
                <a:lnTo>
                  <a:pt x="4189363" y="5969095"/>
                </a:lnTo>
                <a:lnTo>
                  <a:pt x="4189363" y="0"/>
                </a:lnTo>
                <a:close/>
              </a:path>
            </a:pathLst>
          </a:custGeom>
          <a:blipFill>
            <a:blip r:embed="rId7"/>
            <a:stretch>
              <a:fillRect l="-320986" t="-191678" r="-28115" b="-128585"/>
            </a:stretch>
          </a:blipFill>
        </p:spPr>
      </p:sp>
      <p:grpSp>
        <p:nvGrpSpPr>
          <p:cNvPr id="6" name="Group 6"/>
          <p:cNvGrpSpPr/>
          <p:nvPr/>
        </p:nvGrpSpPr>
        <p:grpSpPr>
          <a:xfrm rot="-10800000">
            <a:off x="6812791" y="2592527"/>
            <a:ext cx="11494259" cy="2591938"/>
            <a:chOff x="0" y="0"/>
            <a:chExt cx="3027295" cy="682650"/>
          </a:xfrm>
        </p:grpSpPr>
        <p:sp>
          <p:nvSpPr>
            <p:cNvPr id="7" name="Freeform 7"/>
            <p:cNvSpPr/>
            <p:nvPr/>
          </p:nvSpPr>
          <p:spPr>
            <a:xfrm>
              <a:off x="0" y="0"/>
              <a:ext cx="3027294" cy="682650"/>
            </a:xfrm>
            <a:custGeom>
              <a:avLst/>
              <a:gdLst/>
              <a:ahLst/>
              <a:cxnLst/>
              <a:rect l="l" t="t" r="r" b="b"/>
              <a:pathLst>
                <a:path w="3027294" h="682650">
                  <a:moveTo>
                    <a:pt x="0" y="0"/>
                  </a:moveTo>
                  <a:lnTo>
                    <a:pt x="3027294" y="0"/>
                  </a:lnTo>
                  <a:lnTo>
                    <a:pt x="3027294" y="682650"/>
                  </a:lnTo>
                  <a:lnTo>
                    <a:pt x="0" y="682650"/>
                  </a:lnTo>
                  <a:close/>
                </a:path>
              </a:pathLst>
            </a:custGeom>
            <a:gradFill rotWithShape="1">
              <a:gsLst>
                <a:gs pos="0">
                  <a:srgbClr val="F5D739">
                    <a:alpha val="100000"/>
                  </a:srgbClr>
                </a:gs>
                <a:gs pos="100000">
                  <a:srgbClr val="3E9D81">
                    <a:alpha val="0"/>
                  </a:srgbClr>
                </a:gs>
              </a:gsLst>
              <a:lin ang="0"/>
            </a:gradFill>
          </p:spPr>
        </p:sp>
        <p:sp>
          <p:nvSpPr>
            <p:cNvPr id="8" name="TextBox 8"/>
            <p:cNvSpPr txBox="1"/>
            <p:nvPr/>
          </p:nvSpPr>
          <p:spPr>
            <a:xfrm>
              <a:off x="0" y="-28575"/>
              <a:ext cx="3027295" cy="711225"/>
            </a:xfrm>
            <a:prstGeom prst="rect">
              <a:avLst/>
            </a:prstGeom>
          </p:spPr>
          <p:txBody>
            <a:bodyPr lIns="50800" tIns="50800" rIns="50800" bIns="50800" rtlCol="0" anchor="ctr"/>
            <a:lstStyle/>
            <a:p>
              <a:pPr algn="ctr">
                <a:lnSpc>
                  <a:spcPts val="1960"/>
                </a:lnSpc>
              </a:pPr>
              <a:endParaRPr/>
            </a:p>
          </p:txBody>
        </p:sp>
      </p:grpSp>
      <p:sp>
        <p:nvSpPr>
          <p:cNvPr id="9" name="Freeform 9"/>
          <p:cNvSpPr/>
          <p:nvPr/>
        </p:nvSpPr>
        <p:spPr>
          <a:xfrm>
            <a:off x="13811767" y="4686654"/>
            <a:ext cx="5485835" cy="5905424"/>
          </a:xfrm>
          <a:custGeom>
            <a:avLst/>
            <a:gdLst/>
            <a:ahLst/>
            <a:cxnLst/>
            <a:rect l="l" t="t" r="r" b="b"/>
            <a:pathLst>
              <a:path w="5485835" h="5905424">
                <a:moveTo>
                  <a:pt x="0" y="0"/>
                </a:moveTo>
                <a:lnTo>
                  <a:pt x="5485835" y="0"/>
                </a:lnTo>
                <a:lnTo>
                  <a:pt x="5485835" y="5905424"/>
                </a:lnTo>
                <a:lnTo>
                  <a:pt x="0" y="5905424"/>
                </a:lnTo>
                <a:lnTo>
                  <a:pt x="0" y="0"/>
                </a:lnTo>
                <a:close/>
              </a:path>
            </a:pathLst>
          </a:custGeom>
          <a:blipFill>
            <a:blip r:embed="rId8"/>
            <a:stretch>
              <a:fillRect l="-56974" t="-50039" r="-47651" b="-87569"/>
            </a:stretch>
          </a:blipFill>
        </p:spPr>
      </p:sp>
      <p:sp>
        <p:nvSpPr>
          <p:cNvPr id="10" name="Freeform 10"/>
          <p:cNvSpPr/>
          <p:nvPr/>
        </p:nvSpPr>
        <p:spPr>
          <a:xfrm>
            <a:off x="10461867" y="4839193"/>
            <a:ext cx="4798154" cy="5600346"/>
          </a:xfrm>
          <a:custGeom>
            <a:avLst/>
            <a:gdLst/>
            <a:ahLst/>
            <a:cxnLst/>
            <a:rect l="l" t="t" r="r" b="b"/>
            <a:pathLst>
              <a:path w="4798154" h="5600346">
                <a:moveTo>
                  <a:pt x="0" y="0"/>
                </a:moveTo>
                <a:lnTo>
                  <a:pt x="4798153" y="0"/>
                </a:lnTo>
                <a:lnTo>
                  <a:pt x="4798153" y="5600346"/>
                </a:lnTo>
                <a:lnTo>
                  <a:pt x="0" y="5600346"/>
                </a:lnTo>
                <a:lnTo>
                  <a:pt x="0" y="0"/>
                </a:lnTo>
                <a:close/>
              </a:path>
            </a:pathLst>
          </a:custGeom>
          <a:blipFill>
            <a:blip r:embed="rId9"/>
            <a:stretch>
              <a:fillRect l="-22037" t="-191678" r="-245858" b="-128585"/>
            </a:stretch>
          </a:blipFill>
        </p:spPr>
      </p:sp>
      <p:grpSp>
        <p:nvGrpSpPr>
          <p:cNvPr id="11" name="Group 11"/>
          <p:cNvGrpSpPr/>
          <p:nvPr/>
        </p:nvGrpSpPr>
        <p:grpSpPr>
          <a:xfrm>
            <a:off x="7600950" y="9391650"/>
            <a:ext cx="10962885" cy="722367"/>
            <a:chOff x="0" y="0"/>
            <a:chExt cx="2887344" cy="190253"/>
          </a:xfrm>
        </p:grpSpPr>
        <p:sp>
          <p:nvSpPr>
            <p:cNvPr id="12" name="Freeform 12"/>
            <p:cNvSpPr/>
            <p:nvPr/>
          </p:nvSpPr>
          <p:spPr>
            <a:xfrm>
              <a:off x="0" y="0"/>
              <a:ext cx="2887344" cy="190253"/>
            </a:xfrm>
            <a:custGeom>
              <a:avLst/>
              <a:gdLst/>
              <a:ahLst/>
              <a:cxnLst/>
              <a:rect l="l" t="t" r="r" b="b"/>
              <a:pathLst>
                <a:path w="2887344" h="190253">
                  <a:moveTo>
                    <a:pt x="0" y="0"/>
                  </a:moveTo>
                  <a:lnTo>
                    <a:pt x="2887344" y="0"/>
                  </a:lnTo>
                  <a:lnTo>
                    <a:pt x="2887344" y="190253"/>
                  </a:lnTo>
                  <a:lnTo>
                    <a:pt x="0" y="190253"/>
                  </a:lnTo>
                  <a:close/>
                </a:path>
              </a:pathLst>
            </a:custGeom>
            <a:solidFill>
              <a:srgbClr val="000C41"/>
            </a:solidFill>
          </p:spPr>
        </p:sp>
        <p:sp>
          <p:nvSpPr>
            <p:cNvPr id="13" name="TextBox 13"/>
            <p:cNvSpPr txBox="1"/>
            <p:nvPr/>
          </p:nvSpPr>
          <p:spPr>
            <a:xfrm>
              <a:off x="0" y="0"/>
              <a:ext cx="2887344" cy="190253"/>
            </a:xfrm>
            <a:prstGeom prst="rect">
              <a:avLst/>
            </a:prstGeom>
          </p:spPr>
          <p:txBody>
            <a:bodyPr lIns="50800" tIns="50800" rIns="50800" bIns="50800" rtlCol="0" anchor="ctr"/>
            <a:lstStyle/>
            <a:p>
              <a:pPr algn="ctr">
                <a:lnSpc>
                  <a:spcPts val="2039"/>
                </a:lnSpc>
              </a:pPr>
              <a:endParaRPr/>
            </a:p>
          </p:txBody>
        </p:sp>
      </p:grpSp>
      <p:sp>
        <p:nvSpPr>
          <p:cNvPr id="14" name="Freeform 14"/>
          <p:cNvSpPr/>
          <p:nvPr/>
        </p:nvSpPr>
        <p:spPr>
          <a:xfrm>
            <a:off x="967582" y="9401175"/>
            <a:ext cx="500857" cy="500857"/>
          </a:xfrm>
          <a:custGeom>
            <a:avLst/>
            <a:gdLst/>
            <a:ahLst/>
            <a:cxnLst/>
            <a:rect l="l" t="t" r="r" b="b"/>
            <a:pathLst>
              <a:path w="500857" h="500857">
                <a:moveTo>
                  <a:pt x="0" y="0"/>
                </a:moveTo>
                <a:lnTo>
                  <a:pt x="500858" y="0"/>
                </a:lnTo>
                <a:lnTo>
                  <a:pt x="500858" y="500857"/>
                </a:lnTo>
                <a:lnTo>
                  <a:pt x="0" y="500857"/>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5" name="TextBox 15"/>
          <p:cNvSpPr txBox="1"/>
          <p:nvPr/>
        </p:nvSpPr>
        <p:spPr>
          <a:xfrm>
            <a:off x="2639191" y="3277424"/>
            <a:ext cx="14025570" cy="2313048"/>
          </a:xfrm>
          <a:prstGeom prst="rect">
            <a:avLst/>
          </a:prstGeom>
        </p:spPr>
        <p:txBody>
          <a:bodyPr lIns="0" tIns="0" rIns="0" bIns="0" rtlCol="0" anchor="t">
            <a:spAutoFit/>
          </a:bodyPr>
          <a:lstStyle/>
          <a:p>
            <a:pPr algn="l">
              <a:lnSpc>
                <a:spcPts val="17133"/>
              </a:lnSpc>
            </a:pPr>
            <a:r>
              <a:rPr lang="en-US" sz="18035" spc="-721" dirty="0">
                <a:solidFill>
                  <a:schemeClr val="bg1"/>
                </a:solidFill>
                <a:latin typeface="Anton Italics"/>
                <a:ea typeface="Anton Italics"/>
                <a:cs typeface="Anton Italics"/>
                <a:sym typeface="Anton Italics"/>
              </a:rPr>
              <a:t>MAZE  EXPLORER </a:t>
            </a:r>
          </a:p>
        </p:txBody>
      </p:sp>
      <p:sp>
        <p:nvSpPr>
          <p:cNvPr id="16" name="TextBox 16"/>
          <p:cNvSpPr txBox="1"/>
          <p:nvPr/>
        </p:nvSpPr>
        <p:spPr>
          <a:xfrm>
            <a:off x="2529115" y="5259333"/>
            <a:ext cx="9666398" cy="628650"/>
          </a:xfrm>
          <a:prstGeom prst="rect">
            <a:avLst/>
          </a:prstGeom>
        </p:spPr>
        <p:txBody>
          <a:bodyPr lIns="0" tIns="0" rIns="0" bIns="0" rtlCol="0" anchor="t">
            <a:spAutoFit/>
          </a:bodyPr>
          <a:lstStyle/>
          <a:p>
            <a:pPr algn="l">
              <a:lnSpc>
                <a:spcPts val="4962"/>
              </a:lnSpc>
            </a:pPr>
            <a:r>
              <a:rPr lang="en-US" sz="4135" spc="132">
                <a:solidFill>
                  <a:srgbClr val="F4C01E"/>
                </a:solidFill>
                <a:latin typeface="Anton"/>
                <a:ea typeface="Anton"/>
                <a:cs typeface="Anton"/>
                <a:sym typeface="Anton"/>
              </a:rPr>
              <a:t>A GRAPH-BASED ADVENTURE GAME</a:t>
            </a:r>
          </a:p>
        </p:txBody>
      </p:sp>
      <p:sp>
        <p:nvSpPr>
          <p:cNvPr id="17" name="TextBox 17"/>
          <p:cNvSpPr txBox="1"/>
          <p:nvPr/>
        </p:nvSpPr>
        <p:spPr>
          <a:xfrm>
            <a:off x="1608058" y="1028700"/>
            <a:ext cx="1110932" cy="514350"/>
          </a:xfrm>
          <a:prstGeom prst="rect">
            <a:avLst/>
          </a:prstGeom>
        </p:spPr>
        <p:txBody>
          <a:bodyPr lIns="0" tIns="0" rIns="0" bIns="0" rtlCol="0" anchor="t">
            <a:spAutoFit/>
          </a:bodyPr>
          <a:lstStyle/>
          <a:p>
            <a:pPr algn="l">
              <a:lnSpc>
                <a:spcPts val="2039"/>
              </a:lnSpc>
            </a:pPr>
            <a:r>
              <a:rPr lang="en-US" sz="1699" spc="-33">
                <a:solidFill>
                  <a:srgbClr val="FFFFFF"/>
                </a:solidFill>
                <a:latin typeface="Open Sauce"/>
                <a:ea typeface="Open Sauce"/>
                <a:cs typeface="Open Sauce"/>
                <a:sym typeface="Open Sauce"/>
              </a:rPr>
              <a:t>Semester</a:t>
            </a:r>
          </a:p>
          <a:p>
            <a:pPr algn="l">
              <a:lnSpc>
                <a:spcPts val="2039"/>
              </a:lnSpc>
            </a:pPr>
            <a:r>
              <a:rPr lang="en-US" sz="1699" spc="-33">
                <a:solidFill>
                  <a:srgbClr val="FFFFFF"/>
                </a:solidFill>
                <a:latin typeface="Open Sauce"/>
                <a:ea typeface="Open Sauce"/>
                <a:cs typeface="Open Sauce"/>
                <a:sym typeface="Open Sauce"/>
              </a:rPr>
              <a:t>Project</a:t>
            </a:r>
          </a:p>
        </p:txBody>
      </p:sp>
      <p:sp>
        <p:nvSpPr>
          <p:cNvPr id="18" name="TextBox 18"/>
          <p:cNvSpPr txBox="1"/>
          <p:nvPr/>
        </p:nvSpPr>
        <p:spPr>
          <a:xfrm>
            <a:off x="15852572" y="1042193"/>
            <a:ext cx="2064053" cy="514350"/>
          </a:xfrm>
          <a:prstGeom prst="rect">
            <a:avLst/>
          </a:prstGeom>
        </p:spPr>
        <p:txBody>
          <a:bodyPr lIns="0" tIns="0" rIns="0" bIns="0" rtlCol="0" anchor="t">
            <a:spAutoFit/>
          </a:bodyPr>
          <a:lstStyle/>
          <a:p>
            <a:pPr algn="l">
              <a:lnSpc>
                <a:spcPts val="2039"/>
              </a:lnSpc>
            </a:pPr>
            <a:r>
              <a:rPr lang="en-US" sz="1699" spc="-33">
                <a:solidFill>
                  <a:srgbClr val="FFFFFF"/>
                </a:solidFill>
                <a:latin typeface="Open Sauce"/>
                <a:ea typeface="Open Sauce"/>
                <a:cs typeface="Open Sauce"/>
                <a:sym typeface="Open Sauce"/>
              </a:rPr>
              <a:t>Data Structure &amp; Algortithm </a:t>
            </a:r>
          </a:p>
        </p:txBody>
      </p:sp>
      <p:grpSp>
        <p:nvGrpSpPr>
          <p:cNvPr id="19" name="Group 19"/>
          <p:cNvGrpSpPr/>
          <p:nvPr/>
        </p:nvGrpSpPr>
        <p:grpSpPr>
          <a:xfrm>
            <a:off x="1608058" y="9379865"/>
            <a:ext cx="2566146" cy="557092"/>
            <a:chOff x="0" y="0"/>
            <a:chExt cx="3421528" cy="742789"/>
          </a:xfrm>
        </p:grpSpPr>
        <p:sp>
          <p:nvSpPr>
            <p:cNvPr id="20" name="TextBox 20"/>
            <p:cNvSpPr txBox="1"/>
            <p:nvPr/>
          </p:nvSpPr>
          <p:spPr>
            <a:xfrm>
              <a:off x="0" y="404421"/>
              <a:ext cx="3421528" cy="338368"/>
            </a:xfrm>
            <a:prstGeom prst="rect">
              <a:avLst/>
            </a:prstGeom>
          </p:spPr>
          <p:txBody>
            <a:bodyPr lIns="0" tIns="0" rIns="0" bIns="0" rtlCol="0" anchor="t">
              <a:spAutoFit/>
            </a:bodyPr>
            <a:lstStyle/>
            <a:p>
              <a:pPr algn="l">
                <a:lnSpc>
                  <a:spcPts val="2034"/>
                </a:lnSpc>
              </a:pPr>
              <a:r>
                <a:rPr lang="en-US" sz="1695" spc="-33">
                  <a:solidFill>
                    <a:srgbClr val="FFFFFF"/>
                  </a:solidFill>
                  <a:latin typeface="Open Sauce"/>
                  <a:ea typeface="Open Sauce"/>
                  <a:cs typeface="Open Sauce"/>
                  <a:sym typeface="Open Sauce"/>
                </a:rPr>
                <a:t>Muhammad Kamran</a:t>
              </a:r>
            </a:p>
          </p:txBody>
        </p:sp>
        <p:sp>
          <p:nvSpPr>
            <p:cNvPr id="21" name="TextBox 21"/>
            <p:cNvSpPr txBox="1"/>
            <p:nvPr/>
          </p:nvSpPr>
          <p:spPr>
            <a:xfrm>
              <a:off x="0" y="0"/>
              <a:ext cx="2764204" cy="342900"/>
            </a:xfrm>
            <a:prstGeom prst="rect">
              <a:avLst/>
            </a:prstGeom>
          </p:spPr>
          <p:txBody>
            <a:bodyPr lIns="0" tIns="0" rIns="0" bIns="0" rtlCol="0" anchor="t">
              <a:spAutoFit/>
            </a:bodyPr>
            <a:lstStyle/>
            <a:p>
              <a:pPr algn="l">
                <a:lnSpc>
                  <a:spcPts val="2034"/>
                </a:lnSpc>
              </a:pPr>
              <a:r>
                <a:rPr lang="en-US" sz="1695" b="1" spc="-33">
                  <a:solidFill>
                    <a:srgbClr val="FFFFFF"/>
                  </a:solidFill>
                  <a:latin typeface="Open Sauce Bold"/>
                  <a:ea typeface="Open Sauce Bold"/>
                  <a:cs typeface="Open Sauce Bold"/>
                  <a:sym typeface="Open Sauce Bold"/>
                </a:rPr>
                <a:t>Instructor:</a:t>
              </a:r>
            </a:p>
          </p:txBody>
        </p:sp>
      </p:grpSp>
      <p:sp>
        <p:nvSpPr>
          <p:cNvPr id="22" name="TextBox 22"/>
          <p:cNvSpPr txBox="1"/>
          <p:nvPr/>
        </p:nvSpPr>
        <p:spPr>
          <a:xfrm>
            <a:off x="7560518" y="9040879"/>
            <a:ext cx="118963" cy="1111238"/>
          </a:xfrm>
          <a:prstGeom prst="rect">
            <a:avLst/>
          </a:prstGeom>
        </p:spPr>
        <p:txBody>
          <a:bodyPr lIns="0" tIns="0" rIns="0" bIns="0" rtlCol="0" anchor="t">
            <a:spAutoFit/>
          </a:bodyPr>
          <a:lstStyle/>
          <a:p>
            <a:pPr algn="ctr">
              <a:lnSpc>
                <a:spcPts val="9100"/>
              </a:lnSpc>
            </a:pPr>
            <a:r>
              <a:rPr lang="en-US" sz="6500">
                <a:solidFill>
                  <a:srgbClr val="F4C01E"/>
                </a:solidFill>
                <a:latin typeface="Barlow Condensed"/>
                <a:ea typeface="Barlow Condensed"/>
                <a:cs typeface="Barlow Condensed"/>
                <a:sym typeface="Barlow Condensed"/>
              </a:rPr>
              <a:t>|</a:t>
            </a:r>
          </a:p>
        </p:txBody>
      </p:sp>
      <p:sp>
        <p:nvSpPr>
          <p:cNvPr id="23" name="TextBox 23"/>
          <p:cNvSpPr txBox="1"/>
          <p:nvPr/>
        </p:nvSpPr>
        <p:spPr>
          <a:xfrm>
            <a:off x="9023274" y="9483778"/>
            <a:ext cx="8893572" cy="459034"/>
          </a:xfrm>
          <a:prstGeom prst="rect">
            <a:avLst/>
          </a:prstGeom>
        </p:spPr>
        <p:txBody>
          <a:bodyPr lIns="0" tIns="0" rIns="0" bIns="0" rtlCol="0" anchor="t">
            <a:spAutoFit/>
          </a:bodyPr>
          <a:lstStyle/>
          <a:p>
            <a:pPr algn="ctr">
              <a:lnSpc>
                <a:spcPts val="3573"/>
              </a:lnSpc>
            </a:pPr>
            <a:r>
              <a:rPr lang="en-US" sz="2552">
                <a:solidFill>
                  <a:srgbClr val="FFFFFF"/>
                </a:solidFill>
                <a:latin typeface="Poppins"/>
                <a:ea typeface="Poppins"/>
                <a:cs typeface="Poppins"/>
                <a:sym typeface="Poppins"/>
              </a:rPr>
              <a:t>Wasif Ali   </a:t>
            </a:r>
            <a:r>
              <a:rPr lang="en-US" sz="2552">
                <a:solidFill>
                  <a:srgbClr val="F4C01E"/>
                </a:solidFill>
                <a:latin typeface="Poppins"/>
                <a:ea typeface="Poppins"/>
                <a:cs typeface="Poppins"/>
                <a:sym typeface="Poppins"/>
              </a:rPr>
              <a:t>  |</a:t>
            </a:r>
            <a:r>
              <a:rPr lang="en-US" sz="2552">
                <a:solidFill>
                  <a:srgbClr val="FFFFFF"/>
                </a:solidFill>
                <a:latin typeface="Poppins"/>
                <a:ea typeface="Poppins"/>
                <a:cs typeface="Poppins"/>
                <a:sym typeface="Poppins"/>
              </a:rPr>
              <a:t>         Abrar Ahmed          </a:t>
            </a:r>
            <a:r>
              <a:rPr lang="en-US" sz="2552">
                <a:solidFill>
                  <a:srgbClr val="F4C01E"/>
                </a:solidFill>
                <a:latin typeface="Poppins"/>
                <a:ea typeface="Poppins"/>
                <a:cs typeface="Poppins"/>
                <a:sym typeface="Poppins"/>
              </a:rPr>
              <a:t> |  </a:t>
            </a:r>
            <a:r>
              <a:rPr lang="en-US" sz="2552">
                <a:solidFill>
                  <a:srgbClr val="FFFFFF"/>
                </a:solidFill>
                <a:latin typeface="Poppins"/>
                <a:ea typeface="Poppins"/>
                <a:cs typeface="Poppins"/>
                <a:sym typeface="Poppins"/>
              </a:rPr>
              <a:t>   Jawad Mustafa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rot="-10800000">
            <a:off x="16628256" y="5143500"/>
            <a:ext cx="1821669" cy="4114800"/>
            <a:chOff x="0" y="0"/>
            <a:chExt cx="479781" cy="1083733"/>
          </a:xfrm>
        </p:grpSpPr>
        <p:sp>
          <p:nvSpPr>
            <p:cNvPr id="4" name="Freeform 4"/>
            <p:cNvSpPr/>
            <p:nvPr/>
          </p:nvSpPr>
          <p:spPr>
            <a:xfrm>
              <a:off x="0" y="0"/>
              <a:ext cx="479781" cy="1083733"/>
            </a:xfrm>
            <a:custGeom>
              <a:avLst/>
              <a:gdLst/>
              <a:ahLst/>
              <a:cxnLst/>
              <a:rect l="l" t="t" r="r" b="b"/>
              <a:pathLst>
                <a:path w="479781" h="1083733">
                  <a:moveTo>
                    <a:pt x="0" y="0"/>
                  </a:moveTo>
                  <a:lnTo>
                    <a:pt x="479781" y="0"/>
                  </a:lnTo>
                  <a:lnTo>
                    <a:pt x="479781" y="1083733"/>
                  </a:lnTo>
                  <a:lnTo>
                    <a:pt x="0" y="1083733"/>
                  </a:lnTo>
                  <a:close/>
                </a:path>
              </a:pathLst>
            </a:custGeom>
            <a:gradFill rotWithShape="1">
              <a:gsLst>
                <a:gs pos="0">
                  <a:srgbClr val="F5D739">
                    <a:alpha val="100000"/>
                  </a:srgbClr>
                </a:gs>
                <a:gs pos="100000">
                  <a:srgbClr val="3E9D81">
                    <a:alpha val="0"/>
                  </a:srgbClr>
                </a:gs>
              </a:gsLst>
              <a:lin ang="0"/>
            </a:gradFill>
          </p:spPr>
        </p:sp>
        <p:sp>
          <p:nvSpPr>
            <p:cNvPr id="5" name="TextBox 5"/>
            <p:cNvSpPr txBox="1"/>
            <p:nvPr/>
          </p:nvSpPr>
          <p:spPr>
            <a:xfrm>
              <a:off x="0" y="-28575"/>
              <a:ext cx="479781" cy="1112308"/>
            </a:xfrm>
            <a:prstGeom prst="rect">
              <a:avLst/>
            </a:prstGeom>
          </p:spPr>
          <p:txBody>
            <a:bodyPr lIns="50800" tIns="50800" rIns="50800" bIns="50800" rtlCol="0" anchor="ctr"/>
            <a:lstStyle/>
            <a:p>
              <a:pPr algn="ctr">
                <a:lnSpc>
                  <a:spcPts val="1960"/>
                </a:lnSpc>
              </a:pPr>
              <a:endParaRPr/>
            </a:p>
          </p:txBody>
        </p:sp>
      </p:grpSp>
      <p:sp>
        <p:nvSpPr>
          <p:cNvPr id="6" name="Freeform 6"/>
          <p:cNvSpPr/>
          <p:nvPr/>
        </p:nvSpPr>
        <p:spPr>
          <a:xfrm>
            <a:off x="12427995" y="1283597"/>
            <a:ext cx="726809" cy="726809"/>
          </a:xfrm>
          <a:custGeom>
            <a:avLst/>
            <a:gdLst/>
            <a:ahLst/>
            <a:cxnLst/>
            <a:rect l="l" t="t" r="r" b="b"/>
            <a:pathLst>
              <a:path w="726809" h="726809">
                <a:moveTo>
                  <a:pt x="0" y="0"/>
                </a:moveTo>
                <a:lnTo>
                  <a:pt x="726809" y="0"/>
                </a:lnTo>
                <a:lnTo>
                  <a:pt x="726809" y="726809"/>
                </a:lnTo>
                <a:lnTo>
                  <a:pt x="0" y="72680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1028700" y="6084402"/>
            <a:ext cx="3243613" cy="1389112"/>
            <a:chOff x="0" y="0"/>
            <a:chExt cx="1320701" cy="565604"/>
          </a:xfrm>
        </p:grpSpPr>
        <p:sp>
          <p:nvSpPr>
            <p:cNvPr id="8" name="Freeform 8"/>
            <p:cNvSpPr/>
            <p:nvPr/>
          </p:nvSpPr>
          <p:spPr>
            <a:xfrm>
              <a:off x="0" y="0"/>
              <a:ext cx="1320701" cy="565604"/>
            </a:xfrm>
            <a:custGeom>
              <a:avLst/>
              <a:gdLst/>
              <a:ahLst/>
              <a:cxnLst/>
              <a:rect l="l" t="t" r="r" b="b"/>
              <a:pathLst>
                <a:path w="1320701" h="565604">
                  <a:moveTo>
                    <a:pt x="1320701" y="0"/>
                  </a:moveTo>
                  <a:lnTo>
                    <a:pt x="1320701" y="565604"/>
                  </a:lnTo>
                  <a:lnTo>
                    <a:pt x="0" y="565604"/>
                  </a:lnTo>
                  <a:lnTo>
                    <a:pt x="0" y="0"/>
                  </a:lnTo>
                  <a:close/>
                </a:path>
              </a:pathLst>
            </a:custGeom>
            <a:solidFill>
              <a:srgbClr val="000000">
                <a:alpha val="0"/>
              </a:srgbClr>
            </a:solidFill>
            <a:ln w="19050" cap="sq">
              <a:solidFill>
                <a:srgbClr val="8AB2A6"/>
              </a:solidFill>
              <a:prstDash val="solid"/>
              <a:miter/>
            </a:ln>
          </p:spPr>
        </p:sp>
        <p:sp>
          <p:nvSpPr>
            <p:cNvPr id="9" name="TextBox 9"/>
            <p:cNvSpPr txBox="1"/>
            <p:nvPr/>
          </p:nvSpPr>
          <p:spPr>
            <a:xfrm>
              <a:off x="0" y="0"/>
              <a:ext cx="1320701" cy="565604"/>
            </a:xfrm>
            <a:prstGeom prst="rect">
              <a:avLst/>
            </a:prstGeom>
          </p:spPr>
          <p:txBody>
            <a:bodyPr lIns="50800" tIns="50800" rIns="50800" bIns="50800" rtlCol="0" anchor="ctr"/>
            <a:lstStyle/>
            <a:p>
              <a:pPr algn="ctr">
                <a:lnSpc>
                  <a:spcPts val="1680"/>
                </a:lnSpc>
              </a:pPr>
              <a:endParaRPr/>
            </a:p>
          </p:txBody>
        </p:sp>
      </p:grpSp>
      <p:grpSp>
        <p:nvGrpSpPr>
          <p:cNvPr id="10" name="Group 10"/>
          <p:cNvGrpSpPr/>
          <p:nvPr/>
        </p:nvGrpSpPr>
        <p:grpSpPr>
          <a:xfrm>
            <a:off x="5002871" y="6084402"/>
            <a:ext cx="3243613" cy="1389112"/>
            <a:chOff x="0" y="0"/>
            <a:chExt cx="1320701" cy="565604"/>
          </a:xfrm>
        </p:grpSpPr>
        <p:sp>
          <p:nvSpPr>
            <p:cNvPr id="11" name="Freeform 11"/>
            <p:cNvSpPr/>
            <p:nvPr/>
          </p:nvSpPr>
          <p:spPr>
            <a:xfrm>
              <a:off x="0" y="0"/>
              <a:ext cx="1320701" cy="565604"/>
            </a:xfrm>
            <a:custGeom>
              <a:avLst/>
              <a:gdLst/>
              <a:ahLst/>
              <a:cxnLst/>
              <a:rect l="l" t="t" r="r" b="b"/>
              <a:pathLst>
                <a:path w="1320701" h="565604">
                  <a:moveTo>
                    <a:pt x="1320701" y="0"/>
                  </a:moveTo>
                  <a:lnTo>
                    <a:pt x="1320701" y="565604"/>
                  </a:lnTo>
                  <a:lnTo>
                    <a:pt x="0" y="565604"/>
                  </a:lnTo>
                  <a:lnTo>
                    <a:pt x="0" y="0"/>
                  </a:lnTo>
                  <a:close/>
                </a:path>
              </a:pathLst>
            </a:custGeom>
            <a:solidFill>
              <a:srgbClr val="000000">
                <a:alpha val="0"/>
              </a:srgbClr>
            </a:solidFill>
            <a:ln w="19050" cap="sq">
              <a:solidFill>
                <a:srgbClr val="8AB2A6"/>
              </a:solidFill>
              <a:prstDash val="solid"/>
              <a:miter/>
            </a:ln>
          </p:spPr>
        </p:sp>
        <p:sp>
          <p:nvSpPr>
            <p:cNvPr id="12" name="TextBox 12"/>
            <p:cNvSpPr txBox="1"/>
            <p:nvPr/>
          </p:nvSpPr>
          <p:spPr>
            <a:xfrm>
              <a:off x="0" y="0"/>
              <a:ext cx="1320701" cy="565604"/>
            </a:xfrm>
            <a:prstGeom prst="rect">
              <a:avLst/>
            </a:prstGeom>
          </p:spPr>
          <p:txBody>
            <a:bodyPr lIns="50800" tIns="50800" rIns="50800" bIns="50800" rtlCol="0" anchor="ctr"/>
            <a:lstStyle/>
            <a:p>
              <a:pPr algn="ctr">
                <a:lnSpc>
                  <a:spcPts val="1680"/>
                </a:lnSpc>
              </a:pPr>
              <a:endParaRPr/>
            </a:p>
          </p:txBody>
        </p:sp>
      </p:grpSp>
      <p:grpSp>
        <p:nvGrpSpPr>
          <p:cNvPr id="13" name="Group 13"/>
          <p:cNvGrpSpPr/>
          <p:nvPr/>
        </p:nvGrpSpPr>
        <p:grpSpPr>
          <a:xfrm>
            <a:off x="1028700" y="7869188"/>
            <a:ext cx="3243613" cy="1389112"/>
            <a:chOff x="0" y="0"/>
            <a:chExt cx="1320701" cy="565604"/>
          </a:xfrm>
        </p:grpSpPr>
        <p:sp>
          <p:nvSpPr>
            <p:cNvPr id="14" name="Freeform 14"/>
            <p:cNvSpPr/>
            <p:nvPr/>
          </p:nvSpPr>
          <p:spPr>
            <a:xfrm>
              <a:off x="0" y="0"/>
              <a:ext cx="1320701" cy="565604"/>
            </a:xfrm>
            <a:custGeom>
              <a:avLst/>
              <a:gdLst/>
              <a:ahLst/>
              <a:cxnLst/>
              <a:rect l="l" t="t" r="r" b="b"/>
              <a:pathLst>
                <a:path w="1320701" h="565604">
                  <a:moveTo>
                    <a:pt x="1320701" y="0"/>
                  </a:moveTo>
                  <a:lnTo>
                    <a:pt x="1320701" y="565604"/>
                  </a:lnTo>
                  <a:lnTo>
                    <a:pt x="0" y="565604"/>
                  </a:lnTo>
                  <a:lnTo>
                    <a:pt x="0" y="0"/>
                  </a:lnTo>
                  <a:close/>
                </a:path>
              </a:pathLst>
            </a:custGeom>
            <a:solidFill>
              <a:srgbClr val="000000">
                <a:alpha val="0"/>
              </a:srgbClr>
            </a:solidFill>
            <a:ln w="19050" cap="sq">
              <a:solidFill>
                <a:srgbClr val="8AB2A6"/>
              </a:solidFill>
              <a:prstDash val="solid"/>
              <a:miter/>
            </a:ln>
          </p:spPr>
        </p:sp>
        <p:sp>
          <p:nvSpPr>
            <p:cNvPr id="15" name="TextBox 15"/>
            <p:cNvSpPr txBox="1"/>
            <p:nvPr/>
          </p:nvSpPr>
          <p:spPr>
            <a:xfrm>
              <a:off x="0" y="0"/>
              <a:ext cx="1320701" cy="565604"/>
            </a:xfrm>
            <a:prstGeom prst="rect">
              <a:avLst/>
            </a:prstGeom>
          </p:spPr>
          <p:txBody>
            <a:bodyPr lIns="50800" tIns="50800" rIns="50800" bIns="50800" rtlCol="0" anchor="ctr"/>
            <a:lstStyle/>
            <a:p>
              <a:pPr algn="ctr">
                <a:lnSpc>
                  <a:spcPts val="1680"/>
                </a:lnSpc>
              </a:pPr>
              <a:endParaRPr/>
            </a:p>
          </p:txBody>
        </p:sp>
      </p:grpSp>
      <p:grpSp>
        <p:nvGrpSpPr>
          <p:cNvPr id="16" name="Group 16"/>
          <p:cNvGrpSpPr/>
          <p:nvPr/>
        </p:nvGrpSpPr>
        <p:grpSpPr>
          <a:xfrm>
            <a:off x="5002871" y="7869188"/>
            <a:ext cx="3243613" cy="1389112"/>
            <a:chOff x="0" y="0"/>
            <a:chExt cx="1320701" cy="565604"/>
          </a:xfrm>
        </p:grpSpPr>
        <p:sp>
          <p:nvSpPr>
            <p:cNvPr id="17" name="Freeform 17"/>
            <p:cNvSpPr/>
            <p:nvPr/>
          </p:nvSpPr>
          <p:spPr>
            <a:xfrm>
              <a:off x="0" y="0"/>
              <a:ext cx="1320701" cy="565604"/>
            </a:xfrm>
            <a:custGeom>
              <a:avLst/>
              <a:gdLst/>
              <a:ahLst/>
              <a:cxnLst/>
              <a:rect l="l" t="t" r="r" b="b"/>
              <a:pathLst>
                <a:path w="1320701" h="565604">
                  <a:moveTo>
                    <a:pt x="1320701" y="0"/>
                  </a:moveTo>
                  <a:lnTo>
                    <a:pt x="1320701" y="565604"/>
                  </a:lnTo>
                  <a:lnTo>
                    <a:pt x="0" y="565604"/>
                  </a:lnTo>
                  <a:lnTo>
                    <a:pt x="0" y="0"/>
                  </a:lnTo>
                  <a:close/>
                </a:path>
              </a:pathLst>
            </a:custGeom>
            <a:solidFill>
              <a:srgbClr val="000000">
                <a:alpha val="0"/>
              </a:srgbClr>
            </a:solidFill>
            <a:ln w="19050" cap="sq">
              <a:solidFill>
                <a:srgbClr val="8AB2A6"/>
              </a:solidFill>
              <a:prstDash val="solid"/>
              <a:miter/>
            </a:ln>
          </p:spPr>
        </p:sp>
        <p:sp>
          <p:nvSpPr>
            <p:cNvPr id="18" name="TextBox 18"/>
            <p:cNvSpPr txBox="1"/>
            <p:nvPr/>
          </p:nvSpPr>
          <p:spPr>
            <a:xfrm>
              <a:off x="0" y="0"/>
              <a:ext cx="1320701" cy="565604"/>
            </a:xfrm>
            <a:prstGeom prst="rect">
              <a:avLst/>
            </a:prstGeom>
          </p:spPr>
          <p:txBody>
            <a:bodyPr lIns="50800" tIns="50800" rIns="50800" bIns="50800" rtlCol="0" anchor="ctr"/>
            <a:lstStyle/>
            <a:p>
              <a:pPr algn="ctr">
                <a:lnSpc>
                  <a:spcPts val="1680"/>
                </a:lnSpc>
              </a:pPr>
              <a:endParaRPr/>
            </a:p>
          </p:txBody>
        </p:sp>
      </p:grpSp>
      <p:sp>
        <p:nvSpPr>
          <p:cNvPr id="19" name="Freeform 19"/>
          <p:cNvSpPr/>
          <p:nvPr/>
        </p:nvSpPr>
        <p:spPr>
          <a:xfrm>
            <a:off x="9340330" y="3789418"/>
            <a:ext cx="7918970" cy="5733314"/>
          </a:xfrm>
          <a:custGeom>
            <a:avLst/>
            <a:gdLst/>
            <a:ahLst/>
            <a:cxnLst/>
            <a:rect l="l" t="t" r="r" b="b"/>
            <a:pathLst>
              <a:path w="7918970" h="5733314">
                <a:moveTo>
                  <a:pt x="0" y="0"/>
                </a:moveTo>
                <a:lnTo>
                  <a:pt x="7918970" y="0"/>
                </a:lnTo>
                <a:lnTo>
                  <a:pt x="7918970" y="5733314"/>
                </a:lnTo>
                <a:lnTo>
                  <a:pt x="0" y="5733314"/>
                </a:lnTo>
                <a:lnTo>
                  <a:pt x="0" y="0"/>
                </a:lnTo>
                <a:close/>
              </a:path>
            </a:pathLst>
          </a:custGeom>
          <a:blipFill>
            <a:blip r:embed="rId5"/>
            <a:stretch>
              <a:fillRect l="-1140" t="-1684"/>
            </a:stretch>
          </a:blipFill>
          <a:ln w="38100" cap="sq">
            <a:solidFill>
              <a:srgbClr val="000000"/>
            </a:solidFill>
            <a:prstDash val="solid"/>
            <a:miter/>
          </a:ln>
        </p:spPr>
      </p:sp>
      <p:sp>
        <p:nvSpPr>
          <p:cNvPr id="20" name="TextBox 20"/>
          <p:cNvSpPr txBox="1"/>
          <p:nvPr/>
        </p:nvSpPr>
        <p:spPr>
          <a:xfrm>
            <a:off x="1169309" y="1283597"/>
            <a:ext cx="9899132" cy="1365395"/>
          </a:xfrm>
          <a:prstGeom prst="rect">
            <a:avLst/>
          </a:prstGeom>
        </p:spPr>
        <p:txBody>
          <a:bodyPr lIns="0" tIns="0" rIns="0" bIns="0" rtlCol="0" anchor="t">
            <a:spAutoFit/>
          </a:bodyPr>
          <a:lstStyle/>
          <a:p>
            <a:pPr algn="l">
              <a:lnSpc>
                <a:spcPts val="10080"/>
              </a:lnSpc>
            </a:pPr>
            <a:r>
              <a:rPr lang="en-US" sz="10610" spc="-424" dirty="0">
                <a:solidFill>
                  <a:schemeClr val="bg1"/>
                </a:solidFill>
                <a:latin typeface="Anton Italics"/>
                <a:ea typeface="Anton Italics"/>
                <a:cs typeface="Anton Italics"/>
                <a:sym typeface="Anton Italics"/>
              </a:rPr>
              <a:t>PROJECT  OVERVIEW</a:t>
            </a:r>
          </a:p>
        </p:txBody>
      </p:sp>
      <p:sp>
        <p:nvSpPr>
          <p:cNvPr id="21" name="TextBox 21"/>
          <p:cNvSpPr txBox="1"/>
          <p:nvPr/>
        </p:nvSpPr>
        <p:spPr>
          <a:xfrm>
            <a:off x="1028700" y="3369295"/>
            <a:ext cx="7948341" cy="1885950"/>
          </a:xfrm>
          <a:prstGeom prst="rect">
            <a:avLst/>
          </a:prstGeom>
        </p:spPr>
        <p:txBody>
          <a:bodyPr lIns="0" tIns="0" rIns="0" bIns="0" rtlCol="0" anchor="t">
            <a:spAutoFit/>
          </a:bodyPr>
          <a:lstStyle/>
          <a:p>
            <a:pPr algn="l">
              <a:lnSpc>
                <a:spcPts val="4962"/>
              </a:lnSpc>
            </a:pPr>
            <a:r>
              <a:rPr lang="en-US" sz="4135" i="1" spc="78" dirty="0">
                <a:solidFill>
                  <a:srgbClr val="F4C01E"/>
                </a:solidFill>
                <a:latin typeface="Anton Italics"/>
                <a:ea typeface="Anton Italics"/>
                <a:cs typeface="Anton Italics"/>
                <a:sym typeface="Anton Italics"/>
              </a:rPr>
              <a:t>“</a:t>
            </a:r>
            <a:r>
              <a:rPr lang="en-US" sz="4135" spc="78" dirty="0">
                <a:solidFill>
                  <a:srgbClr val="F4C01E"/>
                </a:solidFill>
                <a:latin typeface="Anton Italics"/>
                <a:ea typeface="Anton Italics"/>
                <a:cs typeface="Anton Italics"/>
                <a:sym typeface="Anton Italics"/>
              </a:rPr>
              <a:t>TURNING DATA STRUCTURES AND ALGORITHMS INTO AN INTERACTIVE, REAL-WORLD EXPERIENCE.”</a:t>
            </a:r>
          </a:p>
        </p:txBody>
      </p:sp>
      <p:sp>
        <p:nvSpPr>
          <p:cNvPr id="22" name="TextBox 22"/>
          <p:cNvSpPr txBox="1"/>
          <p:nvPr/>
        </p:nvSpPr>
        <p:spPr>
          <a:xfrm>
            <a:off x="1411107" y="6410325"/>
            <a:ext cx="3195321" cy="790575"/>
          </a:xfrm>
          <a:prstGeom prst="rect">
            <a:avLst/>
          </a:prstGeom>
        </p:spPr>
        <p:txBody>
          <a:bodyPr lIns="0" tIns="0" rIns="0" bIns="0" rtlCol="0" anchor="t">
            <a:spAutoFit/>
          </a:bodyPr>
          <a:lstStyle/>
          <a:p>
            <a:pPr algn="l">
              <a:lnSpc>
                <a:spcPts val="3192"/>
              </a:lnSpc>
              <a:spcBef>
                <a:spcPct val="0"/>
              </a:spcBef>
            </a:pPr>
            <a:r>
              <a:rPr lang="en-US" sz="2660" spc="-53">
                <a:solidFill>
                  <a:srgbClr val="FFFFFF"/>
                </a:solidFill>
                <a:latin typeface="Open Sauce"/>
                <a:ea typeface="Open Sauce"/>
                <a:cs typeface="Open Sauce"/>
                <a:sym typeface="Open Sauce"/>
              </a:rPr>
              <a:t>Graph-Based Adventure Game</a:t>
            </a:r>
          </a:p>
        </p:txBody>
      </p:sp>
      <p:sp>
        <p:nvSpPr>
          <p:cNvPr id="23" name="TextBox 23"/>
          <p:cNvSpPr txBox="1"/>
          <p:nvPr/>
        </p:nvSpPr>
        <p:spPr>
          <a:xfrm>
            <a:off x="5464818" y="6410325"/>
            <a:ext cx="2768060" cy="790575"/>
          </a:xfrm>
          <a:prstGeom prst="rect">
            <a:avLst/>
          </a:prstGeom>
        </p:spPr>
        <p:txBody>
          <a:bodyPr lIns="0" tIns="0" rIns="0" bIns="0" rtlCol="0" anchor="t">
            <a:spAutoFit/>
          </a:bodyPr>
          <a:lstStyle/>
          <a:p>
            <a:pPr algn="l">
              <a:lnSpc>
                <a:spcPts val="3192"/>
              </a:lnSpc>
              <a:spcBef>
                <a:spcPct val="0"/>
              </a:spcBef>
            </a:pPr>
            <a:r>
              <a:rPr lang="en-US" sz="2660" spc="-53">
                <a:solidFill>
                  <a:srgbClr val="FFFFFF"/>
                </a:solidFill>
                <a:latin typeface="Open Sauce"/>
                <a:ea typeface="Open Sauce"/>
                <a:cs typeface="Open Sauce"/>
                <a:sym typeface="Open Sauce"/>
              </a:rPr>
              <a:t>Core DSA Integration</a:t>
            </a:r>
          </a:p>
        </p:txBody>
      </p:sp>
      <p:sp>
        <p:nvSpPr>
          <p:cNvPr id="24" name="TextBox 24"/>
          <p:cNvSpPr txBox="1"/>
          <p:nvPr/>
        </p:nvSpPr>
        <p:spPr>
          <a:xfrm>
            <a:off x="1411107" y="8173219"/>
            <a:ext cx="3195321" cy="790575"/>
          </a:xfrm>
          <a:prstGeom prst="rect">
            <a:avLst/>
          </a:prstGeom>
        </p:spPr>
        <p:txBody>
          <a:bodyPr lIns="0" tIns="0" rIns="0" bIns="0" rtlCol="0" anchor="t">
            <a:spAutoFit/>
          </a:bodyPr>
          <a:lstStyle/>
          <a:p>
            <a:pPr algn="l">
              <a:lnSpc>
                <a:spcPts val="3192"/>
              </a:lnSpc>
              <a:spcBef>
                <a:spcPct val="0"/>
              </a:spcBef>
            </a:pPr>
            <a:r>
              <a:rPr lang="en-US" sz="2660" spc="-53">
                <a:solidFill>
                  <a:srgbClr val="FFFFFF"/>
                </a:solidFill>
                <a:latin typeface="Open Sauce"/>
                <a:ea typeface="Open Sauce"/>
                <a:cs typeface="Open Sauce"/>
                <a:sym typeface="Open Sauce"/>
              </a:rPr>
              <a:t>DFS Maze Generation</a:t>
            </a:r>
          </a:p>
        </p:txBody>
      </p:sp>
      <p:sp>
        <p:nvSpPr>
          <p:cNvPr id="25" name="TextBox 25"/>
          <p:cNvSpPr txBox="1"/>
          <p:nvPr/>
        </p:nvSpPr>
        <p:spPr>
          <a:xfrm>
            <a:off x="5464818" y="8173219"/>
            <a:ext cx="3195321" cy="790575"/>
          </a:xfrm>
          <a:prstGeom prst="rect">
            <a:avLst/>
          </a:prstGeom>
        </p:spPr>
        <p:txBody>
          <a:bodyPr lIns="0" tIns="0" rIns="0" bIns="0" rtlCol="0" anchor="t">
            <a:spAutoFit/>
          </a:bodyPr>
          <a:lstStyle/>
          <a:p>
            <a:pPr algn="l">
              <a:lnSpc>
                <a:spcPts val="3192"/>
              </a:lnSpc>
            </a:pPr>
            <a:r>
              <a:rPr lang="en-US" sz="2660" spc="-53">
                <a:solidFill>
                  <a:srgbClr val="FFFFFF"/>
                </a:solidFill>
                <a:latin typeface="Open Sauce"/>
                <a:ea typeface="Open Sauce"/>
                <a:cs typeface="Open Sauce"/>
                <a:sym typeface="Open Sauce"/>
              </a:rPr>
              <a:t>BFS </a:t>
            </a:r>
          </a:p>
          <a:p>
            <a:pPr algn="l">
              <a:lnSpc>
                <a:spcPts val="3192"/>
              </a:lnSpc>
              <a:spcBef>
                <a:spcPct val="0"/>
              </a:spcBef>
            </a:pPr>
            <a:r>
              <a:rPr lang="en-US" sz="2660" spc="-53">
                <a:solidFill>
                  <a:srgbClr val="FFFFFF"/>
                </a:solidFill>
                <a:latin typeface="Open Sauce"/>
                <a:ea typeface="Open Sauce"/>
                <a:cs typeface="Open Sauce"/>
                <a:sym typeface="Open Sauce"/>
              </a:rPr>
              <a:t>Shortest Path</a:t>
            </a:r>
          </a:p>
        </p:txBody>
      </p:sp>
      <p:sp>
        <p:nvSpPr>
          <p:cNvPr id="26" name="TextBox 26"/>
          <p:cNvSpPr txBox="1"/>
          <p:nvPr/>
        </p:nvSpPr>
        <p:spPr>
          <a:xfrm>
            <a:off x="1172982" y="6216983"/>
            <a:ext cx="238125" cy="1000125"/>
          </a:xfrm>
          <a:prstGeom prst="rect">
            <a:avLst/>
          </a:prstGeom>
        </p:spPr>
        <p:txBody>
          <a:bodyPr lIns="0" tIns="0" rIns="0" bIns="0" rtlCol="0" anchor="t">
            <a:spAutoFit/>
          </a:bodyPr>
          <a:lstStyle/>
          <a:p>
            <a:pPr algn="l">
              <a:lnSpc>
                <a:spcPts val="7805"/>
              </a:lnSpc>
              <a:spcBef>
                <a:spcPct val="0"/>
              </a:spcBef>
            </a:pPr>
            <a:r>
              <a:rPr lang="en-US" sz="6504" spc="-130">
                <a:solidFill>
                  <a:srgbClr val="F4C01E"/>
                </a:solidFill>
                <a:latin typeface="Glacial Indifference"/>
                <a:ea typeface="Glacial Indifference"/>
                <a:cs typeface="Glacial Indifference"/>
                <a:sym typeface="Glacial Indifference"/>
              </a:rPr>
              <a:t>|</a:t>
            </a:r>
          </a:p>
        </p:txBody>
      </p:sp>
      <p:sp>
        <p:nvSpPr>
          <p:cNvPr id="27" name="TextBox 27"/>
          <p:cNvSpPr txBox="1"/>
          <p:nvPr/>
        </p:nvSpPr>
        <p:spPr>
          <a:xfrm>
            <a:off x="5226693" y="6216983"/>
            <a:ext cx="238125" cy="1000125"/>
          </a:xfrm>
          <a:prstGeom prst="rect">
            <a:avLst/>
          </a:prstGeom>
        </p:spPr>
        <p:txBody>
          <a:bodyPr lIns="0" tIns="0" rIns="0" bIns="0" rtlCol="0" anchor="t">
            <a:spAutoFit/>
          </a:bodyPr>
          <a:lstStyle/>
          <a:p>
            <a:pPr algn="l">
              <a:lnSpc>
                <a:spcPts val="7805"/>
              </a:lnSpc>
              <a:spcBef>
                <a:spcPct val="0"/>
              </a:spcBef>
            </a:pPr>
            <a:r>
              <a:rPr lang="en-US" sz="6504" spc="-130">
                <a:solidFill>
                  <a:srgbClr val="F4C01E"/>
                </a:solidFill>
                <a:latin typeface="Glacial Indifference"/>
                <a:ea typeface="Glacial Indifference"/>
                <a:cs typeface="Glacial Indifference"/>
                <a:sym typeface="Glacial Indifference"/>
              </a:rPr>
              <a:t>|</a:t>
            </a:r>
          </a:p>
        </p:txBody>
      </p:sp>
      <p:sp>
        <p:nvSpPr>
          <p:cNvPr id="28" name="TextBox 28"/>
          <p:cNvSpPr txBox="1"/>
          <p:nvPr/>
        </p:nvSpPr>
        <p:spPr>
          <a:xfrm>
            <a:off x="1172982" y="7963669"/>
            <a:ext cx="238125" cy="1000125"/>
          </a:xfrm>
          <a:prstGeom prst="rect">
            <a:avLst/>
          </a:prstGeom>
        </p:spPr>
        <p:txBody>
          <a:bodyPr lIns="0" tIns="0" rIns="0" bIns="0" rtlCol="0" anchor="t">
            <a:spAutoFit/>
          </a:bodyPr>
          <a:lstStyle/>
          <a:p>
            <a:pPr algn="l">
              <a:lnSpc>
                <a:spcPts val="7805"/>
              </a:lnSpc>
              <a:spcBef>
                <a:spcPct val="0"/>
              </a:spcBef>
            </a:pPr>
            <a:r>
              <a:rPr lang="en-US" sz="6504" spc="-130">
                <a:solidFill>
                  <a:srgbClr val="F4C01E"/>
                </a:solidFill>
                <a:latin typeface="Glacial Indifference"/>
                <a:ea typeface="Glacial Indifference"/>
                <a:cs typeface="Glacial Indifference"/>
                <a:sym typeface="Glacial Indifference"/>
              </a:rPr>
              <a:t>|</a:t>
            </a:r>
          </a:p>
        </p:txBody>
      </p:sp>
      <p:sp>
        <p:nvSpPr>
          <p:cNvPr id="29" name="TextBox 29"/>
          <p:cNvSpPr txBox="1"/>
          <p:nvPr/>
        </p:nvSpPr>
        <p:spPr>
          <a:xfrm>
            <a:off x="5226693" y="7963669"/>
            <a:ext cx="238125" cy="1000125"/>
          </a:xfrm>
          <a:prstGeom prst="rect">
            <a:avLst/>
          </a:prstGeom>
        </p:spPr>
        <p:txBody>
          <a:bodyPr lIns="0" tIns="0" rIns="0" bIns="0" rtlCol="0" anchor="t">
            <a:spAutoFit/>
          </a:bodyPr>
          <a:lstStyle/>
          <a:p>
            <a:pPr algn="l">
              <a:lnSpc>
                <a:spcPts val="7805"/>
              </a:lnSpc>
              <a:spcBef>
                <a:spcPct val="0"/>
              </a:spcBef>
            </a:pPr>
            <a:r>
              <a:rPr lang="en-US" sz="6504" spc="-130">
                <a:solidFill>
                  <a:srgbClr val="F4C01E"/>
                </a:solidFill>
                <a:latin typeface="Glacial Indifference"/>
                <a:ea typeface="Glacial Indifference"/>
                <a:cs typeface="Glacial Indifference"/>
                <a:sym typeface="Glacial Indifference"/>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0" y="1940179"/>
            <a:ext cx="1028700" cy="3231508"/>
            <a:chOff x="0" y="0"/>
            <a:chExt cx="270933" cy="851097"/>
          </a:xfrm>
        </p:grpSpPr>
        <p:sp>
          <p:nvSpPr>
            <p:cNvPr id="4" name="Freeform 4"/>
            <p:cNvSpPr/>
            <p:nvPr/>
          </p:nvSpPr>
          <p:spPr>
            <a:xfrm>
              <a:off x="0" y="0"/>
              <a:ext cx="270933" cy="851097"/>
            </a:xfrm>
            <a:custGeom>
              <a:avLst/>
              <a:gdLst/>
              <a:ahLst/>
              <a:cxnLst/>
              <a:rect l="l" t="t" r="r" b="b"/>
              <a:pathLst>
                <a:path w="270933" h="851097">
                  <a:moveTo>
                    <a:pt x="0" y="0"/>
                  </a:moveTo>
                  <a:lnTo>
                    <a:pt x="270933" y="0"/>
                  </a:lnTo>
                  <a:lnTo>
                    <a:pt x="270933" y="851097"/>
                  </a:lnTo>
                  <a:lnTo>
                    <a:pt x="0" y="851097"/>
                  </a:lnTo>
                  <a:close/>
                </a:path>
              </a:pathLst>
            </a:custGeom>
            <a:gradFill rotWithShape="1">
              <a:gsLst>
                <a:gs pos="0">
                  <a:srgbClr val="F5D739">
                    <a:alpha val="100000"/>
                  </a:srgbClr>
                </a:gs>
                <a:gs pos="100000">
                  <a:srgbClr val="3E9D81">
                    <a:alpha val="0"/>
                  </a:srgbClr>
                </a:gs>
              </a:gsLst>
              <a:lin ang="0"/>
            </a:gradFill>
          </p:spPr>
        </p:sp>
        <p:sp>
          <p:nvSpPr>
            <p:cNvPr id="5" name="TextBox 5"/>
            <p:cNvSpPr txBox="1"/>
            <p:nvPr/>
          </p:nvSpPr>
          <p:spPr>
            <a:xfrm>
              <a:off x="0" y="-28575"/>
              <a:ext cx="270933" cy="879672"/>
            </a:xfrm>
            <a:prstGeom prst="rect">
              <a:avLst/>
            </a:prstGeom>
          </p:spPr>
          <p:txBody>
            <a:bodyPr lIns="50800" tIns="50800" rIns="50800" bIns="50800" rtlCol="0" anchor="ctr"/>
            <a:lstStyle/>
            <a:p>
              <a:pPr algn="ctr">
                <a:lnSpc>
                  <a:spcPts val="1960"/>
                </a:lnSpc>
              </a:pPr>
              <a:endParaRPr/>
            </a:p>
          </p:txBody>
        </p:sp>
      </p:grpSp>
      <p:grpSp>
        <p:nvGrpSpPr>
          <p:cNvPr id="6" name="Group 6"/>
          <p:cNvGrpSpPr/>
          <p:nvPr/>
        </p:nvGrpSpPr>
        <p:grpSpPr>
          <a:xfrm>
            <a:off x="1028700" y="1042193"/>
            <a:ext cx="8215857" cy="5027480"/>
            <a:chOff x="0" y="0"/>
            <a:chExt cx="1365152" cy="835368"/>
          </a:xfrm>
        </p:grpSpPr>
        <p:sp>
          <p:nvSpPr>
            <p:cNvPr id="7" name="Freeform 7"/>
            <p:cNvSpPr/>
            <p:nvPr/>
          </p:nvSpPr>
          <p:spPr>
            <a:xfrm>
              <a:off x="0" y="0"/>
              <a:ext cx="1365152" cy="835368"/>
            </a:xfrm>
            <a:custGeom>
              <a:avLst/>
              <a:gdLst/>
              <a:ahLst/>
              <a:cxnLst/>
              <a:rect l="l" t="t" r="r" b="b"/>
              <a:pathLst>
                <a:path w="1365152" h="835368">
                  <a:moveTo>
                    <a:pt x="1365152" y="48058"/>
                  </a:moveTo>
                  <a:lnTo>
                    <a:pt x="1365152" y="787310"/>
                  </a:lnTo>
                  <a:cubicBezTo>
                    <a:pt x="1365152" y="800056"/>
                    <a:pt x="1360089" y="812280"/>
                    <a:pt x="1351076" y="821292"/>
                  </a:cubicBezTo>
                  <a:cubicBezTo>
                    <a:pt x="1342063" y="830305"/>
                    <a:pt x="1329840" y="835368"/>
                    <a:pt x="1317094" y="835368"/>
                  </a:cubicBezTo>
                  <a:lnTo>
                    <a:pt x="48058" y="835368"/>
                  </a:lnTo>
                  <a:cubicBezTo>
                    <a:pt x="21516" y="835368"/>
                    <a:pt x="0" y="813852"/>
                    <a:pt x="0" y="787310"/>
                  </a:cubicBezTo>
                  <a:lnTo>
                    <a:pt x="0" y="48058"/>
                  </a:lnTo>
                  <a:cubicBezTo>
                    <a:pt x="0" y="21516"/>
                    <a:pt x="21516" y="0"/>
                    <a:pt x="48058" y="0"/>
                  </a:cubicBezTo>
                  <a:lnTo>
                    <a:pt x="1317094" y="0"/>
                  </a:lnTo>
                  <a:cubicBezTo>
                    <a:pt x="1343636" y="0"/>
                    <a:pt x="1365152" y="21516"/>
                    <a:pt x="1365152" y="48058"/>
                  </a:cubicBezTo>
                  <a:close/>
                </a:path>
              </a:pathLst>
            </a:custGeom>
            <a:solidFill>
              <a:srgbClr val="000000">
                <a:alpha val="0"/>
              </a:srgbClr>
            </a:solidFill>
            <a:ln w="19050" cap="rnd">
              <a:solidFill>
                <a:srgbClr val="8AB2A6"/>
              </a:solidFill>
              <a:prstDash val="solid"/>
              <a:round/>
            </a:ln>
          </p:spPr>
        </p:sp>
        <p:sp>
          <p:nvSpPr>
            <p:cNvPr id="8" name="TextBox 8"/>
            <p:cNvSpPr txBox="1"/>
            <p:nvPr/>
          </p:nvSpPr>
          <p:spPr>
            <a:xfrm>
              <a:off x="0" y="0"/>
              <a:ext cx="1365152" cy="835368"/>
            </a:xfrm>
            <a:prstGeom prst="rect">
              <a:avLst/>
            </a:prstGeom>
          </p:spPr>
          <p:txBody>
            <a:bodyPr lIns="50800" tIns="50800" rIns="50800" bIns="50800" rtlCol="0" anchor="ctr"/>
            <a:lstStyle/>
            <a:p>
              <a:pPr algn="ctr">
                <a:lnSpc>
                  <a:spcPts val="1680"/>
                </a:lnSpc>
              </a:pPr>
              <a:endParaRPr/>
            </a:p>
          </p:txBody>
        </p:sp>
      </p:grpSp>
      <p:sp>
        <p:nvSpPr>
          <p:cNvPr id="9" name="Freeform 9"/>
          <p:cNvSpPr/>
          <p:nvPr/>
        </p:nvSpPr>
        <p:spPr>
          <a:xfrm>
            <a:off x="10342197" y="5342864"/>
            <a:ext cx="726809" cy="726809"/>
          </a:xfrm>
          <a:custGeom>
            <a:avLst/>
            <a:gdLst/>
            <a:ahLst/>
            <a:cxnLst/>
            <a:rect l="l" t="t" r="r" b="b"/>
            <a:pathLst>
              <a:path w="726809" h="726809">
                <a:moveTo>
                  <a:pt x="0" y="0"/>
                </a:moveTo>
                <a:lnTo>
                  <a:pt x="726809" y="0"/>
                </a:lnTo>
                <a:lnTo>
                  <a:pt x="726809" y="726809"/>
                </a:lnTo>
                <a:lnTo>
                  <a:pt x="0" y="72680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0" name="Group 10"/>
          <p:cNvGrpSpPr/>
          <p:nvPr/>
        </p:nvGrpSpPr>
        <p:grpSpPr>
          <a:xfrm>
            <a:off x="1648093" y="1462114"/>
            <a:ext cx="6977071" cy="4187638"/>
            <a:chOff x="0" y="0"/>
            <a:chExt cx="6350000" cy="3811270"/>
          </a:xfrm>
        </p:grpSpPr>
        <p:sp>
          <p:nvSpPr>
            <p:cNvPr id="11" name="Freeform 11"/>
            <p:cNvSpPr/>
            <p:nvPr/>
          </p:nvSpPr>
          <p:spPr>
            <a:xfrm>
              <a:off x="0" y="0"/>
              <a:ext cx="6350000" cy="3811270"/>
            </a:xfrm>
            <a:custGeom>
              <a:avLst/>
              <a:gdLst/>
              <a:ahLst/>
              <a:cxnLst/>
              <a:rect l="l" t="t" r="r" b="b"/>
              <a:pathLst>
                <a:path w="6350000" h="3811270">
                  <a:moveTo>
                    <a:pt x="1648460" y="0"/>
                  </a:moveTo>
                  <a:lnTo>
                    <a:pt x="5812790" y="0"/>
                  </a:lnTo>
                  <a:cubicBezTo>
                    <a:pt x="6109970" y="0"/>
                    <a:pt x="6350000" y="240030"/>
                    <a:pt x="6350000" y="537210"/>
                  </a:cubicBezTo>
                  <a:lnTo>
                    <a:pt x="6350000" y="2466340"/>
                  </a:lnTo>
                  <a:cubicBezTo>
                    <a:pt x="6350000" y="2763520"/>
                    <a:pt x="6109970" y="3003550"/>
                    <a:pt x="5812790" y="3003550"/>
                  </a:cubicBezTo>
                  <a:lnTo>
                    <a:pt x="4751070" y="3003550"/>
                  </a:lnTo>
                  <a:cubicBezTo>
                    <a:pt x="4587240" y="3003550"/>
                    <a:pt x="4431030" y="3078480"/>
                    <a:pt x="4329430" y="3208020"/>
                  </a:cubicBezTo>
                  <a:lnTo>
                    <a:pt x="4013200" y="3606800"/>
                  </a:lnTo>
                  <a:cubicBezTo>
                    <a:pt x="3911600" y="3735070"/>
                    <a:pt x="3756660" y="3811270"/>
                    <a:pt x="3591560" y="3811270"/>
                  </a:cubicBezTo>
                  <a:lnTo>
                    <a:pt x="537210" y="3811270"/>
                  </a:lnTo>
                  <a:cubicBezTo>
                    <a:pt x="240030" y="3811270"/>
                    <a:pt x="0" y="3571240"/>
                    <a:pt x="0" y="3274060"/>
                  </a:cubicBezTo>
                  <a:lnTo>
                    <a:pt x="0" y="1375410"/>
                  </a:lnTo>
                  <a:cubicBezTo>
                    <a:pt x="0" y="1206500"/>
                    <a:pt x="78740" y="1047750"/>
                    <a:pt x="213360" y="946150"/>
                  </a:cubicBezTo>
                  <a:lnTo>
                    <a:pt x="1324610" y="107950"/>
                  </a:lnTo>
                  <a:cubicBezTo>
                    <a:pt x="1417320" y="38100"/>
                    <a:pt x="1531620" y="0"/>
                    <a:pt x="1648460" y="0"/>
                  </a:cubicBezTo>
                  <a:close/>
                </a:path>
              </a:pathLst>
            </a:custGeom>
            <a:blipFill>
              <a:blip r:embed="rId5"/>
              <a:stretch>
                <a:fillRect l="-20493" t="-13082" r="-12022" b="-34241"/>
              </a:stretch>
            </a:blipFill>
          </p:spPr>
        </p:sp>
      </p:grpSp>
      <p:sp>
        <p:nvSpPr>
          <p:cNvPr id="12" name="TextBox 12"/>
          <p:cNvSpPr txBox="1"/>
          <p:nvPr/>
        </p:nvSpPr>
        <p:spPr>
          <a:xfrm>
            <a:off x="10342197" y="1833679"/>
            <a:ext cx="7945803" cy="2842435"/>
          </a:xfrm>
          <a:prstGeom prst="rect">
            <a:avLst/>
          </a:prstGeom>
        </p:spPr>
        <p:txBody>
          <a:bodyPr lIns="0" tIns="0" rIns="0" bIns="0" rtlCol="0" anchor="t">
            <a:spAutoFit/>
          </a:bodyPr>
          <a:lstStyle/>
          <a:p>
            <a:pPr algn="l">
              <a:lnSpc>
                <a:spcPts val="10880"/>
              </a:lnSpc>
            </a:pPr>
            <a:r>
              <a:rPr lang="en-US" sz="11453" spc="-458" dirty="0">
                <a:solidFill>
                  <a:schemeClr val="bg1"/>
                </a:solidFill>
                <a:latin typeface="Anton Italics"/>
                <a:ea typeface="Anton Italics"/>
                <a:cs typeface="Anton Italics"/>
                <a:sym typeface="Anton Italics"/>
              </a:rPr>
              <a:t>PROBLEM STATEMENT</a:t>
            </a:r>
          </a:p>
        </p:txBody>
      </p:sp>
      <p:sp>
        <p:nvSpPr>
          <p:cNvPr id="13" name="TextBox 13"/>
          <p:cNvSpPr txBox="1"/>
          <p:nvPr/>
        </p:nvSpPr>
        <p:spPr>
          <a:xfrm>
            <a:off x="7736661" y="7445669"/>
            <a:ext cx="3899263" cy="571500"/>
          </a:xfrm>
          <a:prstGeom prst="rect">
            <a:avLst/>
          </a:prstGeom>
        </p:spPr>
        <p:txBody>
          <a:bodyPr lIns="0" tIns="0" rIns="0" bIns="0" rtlCol="0" anchor="t">
            <a:spAutoFit/>
          </a:bodyPr>
          <a:lstStyle/>
          <a:p>
            <a:pPr algn="ctr">
              <a:lnSpc>
                <a:spcPts val="2279"/>
              </a:lnSpc>
            </a:pPr>
            <a:r>
              <a:rPr lang="en-US" sz="1899" spc="-37" dirty="0">
                <a:solidFill>
                  <a:srgbClr val="FFFFFF"/>
                </a:solidFill>
                <a:latin typeface="Open Sauce"/>
                <a:ea typeface="Open Sauce"/>
                <a:cs typeface="Open Sauce"/>
                <a:sym typeface="Open Sauce"/>
              </a:rPr>
              <a:t>Algorithms run behind the scenes and are hard to visualize.</a:t>
            </a:r>
          </a:p>
        </p:txBody>
      </p:sp>
      <p:sp>
        <p:nvSpPr>
          <p:cNvPr id="14" name="TextBox 14"/>
          <p:cNvSpPr txBox="1"/>
          <p:nvPr/>
        </p:nvSpPr>
        <p:spPr>
          <a:xfrm>
            <a:off x="13106400" y="7414890"/>
            <a:ext cx="4425123" cy="867097"/>
          </a:xfrm>
          <a:prstGeom prst="rect">
            <a:avLst/>
          </a:prstGeom>
        </p:spPr>
        <p:txBody>
          <a:bodyPr lIns="0" tIns="0" rIns="0" bIns="0" rtlCol="0" anchor="t">
            <a:spAutoFit/>
          </a:bodyPr>
          <a:lstStyle/>
          <a:p>
            <a:pPr algn="ctr">
              <a:lnSpc>
                <a:spcPts val="2279"/>
              </a:lnSpc>
            </a:pPr>
            <a:r>
              <a:rPr lang="en-US" sz="1899" spc="-37" dirty="0">
                <a:solidFill>
                  <a:srgbClr val="FFFFFF"/>
                </a:solidFill>
                <a:latin typeface="Open Sauce"/>
                <a:ea typeface="Open Sauce"/>
                <a:cs typeface="Open Sauce"/>
                <a:sym typeface="Open Sauce"/>
              </a:rPr>
              <a:t>An interactive system helps demonstrate algorithm behavior clearly. </a:t>
            </a:r>
          </a:p>
        </p:txBody>
      </p:sp>
      <p:sp>
        <p:nvSpPr>
          <p:cNvPr id="15" name="TextBox 15"/>
          <p:cNvSpPr txBox="1"/>
          <p:nvPr/>
        </p:nvSpPr>
        <p:spPr>
          <a:xfrm>
            <a:off x="1028700" y="7445669"/>
            <a:ext cx="4918116" cy="1162049"/>
          </a:xfrm>
          <a:prstGeom prst="rect">
            <a:avLst/>
          </a:prstGeom>
        </p:spPr>
        <p:txBody>
          <a:bodyPr lIns="0" tIns="0" rIns="0" bIns="0" rtlCol="0" anchor="t">
            <a:spAutoFit/>
          </a:bodyPr>
          <a:lstStyle/>
          <a:p>
            <a:pPr algn="ctr">
              <a:lnSpc>
                <a:spcPts val="2279"/>
              </a:lnSpc>
            </a:pPr>
            <a:r>
              <a:rPr lang="en-US" sz="1899" spc="-37" dirty="0">
                <a:solidFill>
                  <a:srgbClr val="FFFFFF"/>
                </a:solidFill>
                <a:latin typeface="Open Sauce"/>
                <a:ea typeface="Open Sauce"/>
                <a:cs typeface="Open Sauce"/>
                <a:sym typeface="Open Sauce"/>
              </a:rPr>
              <a:t>DSA is often taught in a theoretical manner.</a:t>
            </a:r>
          </a:p>
          <a:p>
            <a:pPr algn="ctr">
              <a:lnSpc>
                <a:spcPts val="2279"/>
              </a:lnSpc>
            </a:pPr>
            <a:r>
              <a:rPr lang="en-US" sz="1899" spc="-37" dirty="0">
                <a:solidFill>
                  <a:srgbClr val="FFFFFF"/>
                </a:solidFill>
                <a:latin typeface="Open Sauce"/>
                <a:ea typeface="Open Sauce"/>
                <a:cs typeface="Open Sauce"/>
                <a:sym typeface="Open Sauce"/>
              </a:rPr>
              <a:t>Students struggle to connect concepts with real-world applications.</a:t>
            </a:r>
          </a:p>
          <a:p>
            <a:pPr algn="l">
              <a:lnSpc>
                <a:spcPts val="2279"/>
              </a:lnSpc>
            </a:pPr>
            <a:endParaRPr lang="en-US" sz="1899" spc="-37" dirty="0">
              <a:solidFill>
                <a:srgbClr val="FFFFFF"/>
              </a:solidFill>
              <a:latin typeface="Open Sauce"/>
              <a:ea typeface="Open Sauce"/>
              <a:cs typeface="Open Sauce"/>
              <a:sym typeface="Open Sauce"/>
            </a:endParaRPr>
          </a:p>
        </p:txBody>
      </p:sp>
      <p:sp>
        <p:nvSpPr>
          <p:cNvPr id="16" name="TextBox 16"/>
          <p:cNvSpPr txBox="1"/>
          <p:nvPr/>
        </p:nvSpPr>
        <p:spPr>
          <a:xfrm>
            <a:off x="3836690" y="9258300"/>
            <a:ext cx="10614621" cy="419100"/>
          </a:xfrm>
          <a:prstGeom prst="rect">
            <a:avLst/>
          </a:prstGeom>
        </p:spPr>
        <p:txBody>
          <a:bodyPr lIns="0" tIns="0" rIns="0" bIns="0" rtlCol="0" anchor="t">
            <a:spAutoFit/>
          </a:bodyPr>
          <a:lstStyle/>
          <a:p>
            <a:pPr algn="ctr">
              <a:lnSpc>
                <a:spcPts val="3359"/>
              </a:lnSpc>
              <a:spcBef>
                <a:spcPct val="0"/>
              </a:spcBef>
            </a:pPr>
            <a:r>
              <a:rPr lang="en-US" sz="2799" spc="41">
                <a:solidFill>
                  <a:srgbClr val="F4C01E"/>
                </a:solidFill>
                <a:latin typeface="Anton"/>
                <a:ea typeface="Anton"/>
                <a:cs typeface="Anton"/>
                <a:sym typeface="Anton"/>
              </a:rPr>
              <a:t>Maze problems are widely used in AI, robotics, and navigation systems.</a:t>
            </a:r>
          </a:p>
        </p:txBody>
      </p:sp>
      <p:sp>
        <p:nvSpPr>
          <p:cNvPr id="17" name="TextBox 17"/>
          <p:cNvSpPr txBox="1"/>
          <p:nvPr/>
        </p:nvSpPr>
        <p:spPr>
          <a:xfrm>
            <a:off x="1028700" y="6707481"/>
            <a:ext cx="4918116" cy="333375"/>
          </a:xfrm>
          <a:prstGeom prst="rect">
            <a:avLst/>
          </a:prstGeom>
        </p:spPr>
        <p:txBody>
          <a:bodyPr wrap="square" lIns="0" tIns="0" rIns="0" bIns="0" rtlCol="0" anchor="t">
            <a:spAutoFit/>
          </a:bodyPr>
          <a:lstStyle/>
          <a:p>
            <a:pPr algn="ctr">
              <a:lnSpc>
                <a:spcPts val="2639"/>
              </a:lnSpc>
              <a:spcBef>
                <a:spcPct val="0"/>
              </a:spcBef>
            </a:pPr>
            <a:r>
              <a:rPr lang="en-US" sz="2199" b="1" spc="-43" dirty="0">
                <a:solidFill>
                  <a:srgbClr val="F4C01E"/>
                </a:solidFill>
                <a:latin typeface="Open Sauce Bold"/>
                <a:ea typeface="Open Sauce Bold"/>
                <a:cs typeface="Open Sauce Bold"/>
                <a:sym typeface="Open Sauce Bold"/>
              </a:rPr>
              <a:t>Challenges in Traditional Learning</a:t>
            </a:r>
          </a:p>
        </p:txBody>
      </p:sp>
      <p:sp>
        <p:nvSpPr>
          <p:cNvPr id="18" name="TextBox 18"/>
          <p:cNvSpPr txBox="1"/>
          <p:nvPr/>
        </p:nvSpPr>
        <p:spPr>
          <a:xfrm>
            <a:off x="7998244" y="6669381"/>
            <a:ext cx="3332345" cy="333375"/>
          </a:xfrm>
          <a:prstGeom prst="rect">
            <a:avLst/>
          </a:prstGeom>
        </p:spPr>
        <p:txBody>
          <a:bodyPr wrap="square" lIns="0" tIns="0" rIns="0" bIns="0" rtlCol="0" anchor="t">
            <a:spAutoFit/>
          </a:bodyPr>
          <a:lstStyle/>
          <a:p>
            <a:pPr algn="ctr">
              <a:lnSpc>
                <a:spcPts val="2639"/>
              </a:lnSpc>
              <a:spcBef>
                <a:spcPct val="0"/>
              </a:spcBef>
            </a:pPr>
            <a:r>
              <a:rPr lang="en-US" sz="2199" b="1" spc="-43" dirty="0">
                <a:solidFill>
                  <a:srgbClr val="F4C01E"/>
                </a:solidFill>
                <a:latin typeface="Open Sauce Bold"/>
                <a:ea typeface="Open Sauce Bold"/>
                <a:cs typeface="Open Sauce Bold"/>
                <a:sym typeface="Open Sauce Bold"/>
              </a:rPr>
              <a:t>Lack of Visualization</a:t>
            </a:r>
          </a:p>
        </p:txBody>
      </p:sp>
      <p:sp>
        <p:nvSpPr>
          <p:cNvPr id="19" name="TextBox 19"/>
          <p:cNvSpPr txBox="1"/>
          <p:nvPr/>
        </p:nvSpPr>
        <p:spPr>
          <a:xfrm>
            <a:off x="13392903" y="6707481"/>
            <a:ext cx="3866397" cy="333375"/>
          </a:xfrm>
          <a:prstGeom prst="rect">
            <a:avLst/>
          </a:prstGeom>
        </p:spPr>
        <p:txBody>
          <a:bodyPr wrap="square" lIns="0" tIns="0" rIns="0" bIns="0" rtlCol="0" anchor="t">
            <a:spAutoFit/>
          </a:bodyPr>
          <a:lstStyle/>
          <a:p>
            <a:pPr algn="ctr">
              <a:lnSpc>
                <a:spcPts val="2639"/>
              </a:lnSpc>
              <a:spcBef>
                <a:spcPct val="0"/>
              </a:spcBef>
            </a:pPr>
            <a:r>
              <a:rPr lang="en-US" sz="2199" b="1" spc="-43" dirty="0">
                <a:solidFill>
                  <a:srgbClr val="F4C01E"/>
                </a:solidFill>
                <a:latin typeface="Open Sauce Bold"/>
                <a:ea typeface="Open Sauce Bold"/>
                <a:cs typeface="Open Sauce Bold"/>
                <a:sym typeface="Open Sauce Bold"/>
              </a:rPr>
              <a:t>Need an Interactive System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rot="-5400000">
            <a:off x="13259827" y="8258622"/>
            <a:ext cx="1238250" cy="3490793"/>
            <a:chOff x="0" y="0"/>
            <a:chExt cx="326123" cy="919386"/>
          </a:xfrm>
        </p:grpSpPr>
        <p:sp>
          <p:nvSpPr>
            <p:cNvPr id="4" name="Freeform 4"/>
            <p:cNvSpPr/>
            <p:nvPr/>
          </p:nvSpPr>
          <p:spPr>
            <a:xfrm>
              <a:off x="0" y="0"/>
              <a:ext cx="326123" cy="919386"/>
            </a:xfrm>
            <a:custGeom>
              <a:avLst/>
              <a:gdLst/>
              <a:ahLst/>
              <a:cxnLst/>
              <a:rect l="l" t="t" r="r" b="b"/>
              <a:pathLst>
                <a:path w="326123" h="919386">
                  <a:moveTo>
                    <a:pt x="0" y="0"/>
                  </a:moveTo>
                  <a:lnTo>
                    <a:pt x="326123" y="0"/>
                  </a:lnTo>
                  <a:lnTo>
                    <a:pt x="326123" y="919386"/>
                  </a:lnTo>
                  <a:lnTo>
                    <a:pt x="0" y="919386"/>
                  </a:lnTo>
                  <a:close/>
                </a:path>
              </a:pathLst>
            </a:custGeom>
            <a:gradFill rotWithShape="1">
              <a:gsLst>
                <a:gs pos="0">
                  <a:srgbClr val="F5D739">
                    <a:alpha val="100000"/>
                  </a:srgbClr>
                </a:gs>
                <a:gs pos="100000">
                  <a:srgbClr val="3E9D81">
                    <a:alpha val="0"/>
                  </a:srgbClr>
                </a:gs>
              </a:gsLst>
              <a:lin ang="0"/>
            </a:gradFill>
          </p:spPr>
        </p:sp>
        <p:sp>
          <p:nvSpPr>
            <p:cNvPr id="5" name="TextBox 5"/>
            <p:cNvSpPr txBox="1"/>
            <p:nvPr/>
          </p:nvSpPr>
          <p:spPr>
            <a:xfrm>
              <a:off x="0" y="-28575"/>
              <a:ext cx="326123" cy="947961"/>
            </a:xfrm>
            <a:prstGeom prst="rect">
              <a:avLst/>
            </a:prstGeom>
          </p:spPr>
          <p:txBody>
            <a:bodyPr lIns="50800" tIns="50800" rIns="50800" bIns="50800" rtlCol="0" anchor="ctr"/>
            <a:lstStyle/>
            <a:p>
              <a:pPr algn="ctr">
                <a:lnSpc>
                  <a:spcPts val="1960"/>
                </a:lnSpc>
              </a:pPr>
              <a:endParaRPr/>
            </a:p>
          </p:txBody>
        </p:sp>
      </p:grpSp>
      <p:sp>
        <p:nvSpPr>
          <p:cNvPr id="6" name="Freeform 6"/>
          <p:cNvSpPr/>
          <p:nvPr/>
        </p:nvSpPr>
        <p:spPr>
          <a:xfrm>
            <a:off x="15886973" y="8852693"/>
            <a:ext cx="392115" cy="392115"/>
          </a:xfrm>
          <a:custGeom>
            <a:avLst/>
            <a:gdLst/>
            <a:ahLst/>
            <a:cxnLst/>
            <a:rect l="l" t="t" r="r" b="b"/>
            <a:pathLst>
              <a:path w="392115" h="392115">
                <a:moveTo>
                  <a:pt x="0" y="0"/>
                </a:moveTo>
                <a:lnTo>
                  <a:pt x="392114" y="0"/>
                </a:lnTo>
                <a:lnTo>
                  <a:pt x="392114" y="392114"/>
                </a:lnTo>
                <a:lnTo>
                  <a:pt x="0" y="39211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1028700" y="1721949"/>
            <a:ext cx="9063386" cy="2612470"/>
          </a:xfrm>
          <a:prstGeom prst="rect">
            <a:avLst/>
          </a:prstGeom>
        </p:spPr>
        <p:txBody>
          <a:bodyPr lIns="0" tIns="0" rIns="0" bIns="0" rtlCol="0" anchor="t">
            <a:spAutoFit/>
          </a:bodyPr>
          <a:lstStyle/>
          <a:p>
            <a:pPr algn="l">
              <a:lnSpc>
                <a:spcPts val="9978"/>
              </a:lnSpc>
            </a:pPr>
            <a:r>
              <a:rPr lang="en-US" sz="10504" spc="-420" dirty="0">
                <a:solidFill>
                  <a:schemeClr val="bg1"/>
                </a:solidFill>
                <a:latin typeface="Anton Italics"/>
                <a:ea typeface="Anton Italics"/>
                <a:cs typeface="Anton Italics"/>
                <a:sym typeface="Anton Italics"/>
              </a:rPr>
              <a:t>PURPOSE OF THE SYSTEM</a:t>
            </a:r>
          </a:p>
        </p:txBody>
      </p:sp>
      <p:grpSp>
        <p:nvGrpSpPr>
          <p:cNvPr id="8" name="Group 8"/>
          <p:cNvGrpSpPr/>
          <p:nvPr/>
        </p:nvGrpSpPr>
        <p:grpSpPr>
          <a:xfrm>
            <a:off x="1028700" y="4697184"/>
            <a:ext cx="7242181" cy="4351566"/>
            <a:chOff x="0" y="0"/>
            <a:chExt cx="1203365" cy="723058"/>
          </a:xfrm>
        </p:grpSpPr>
        <p:sp>
          <p:nvSpPr>
            <p:cNvPr id="9" name="Freeform 9"/>
            <p:cNvSpPr/>
            <p:nvPr/>
          </p:nvSpPr>
          <p:spPr>
            <a:xfrm>
              <a:off x="0" y="0"/>
              <a:ext cx="1203365" cy="723058"/>
            </a:xfrm>
            <a:custGeom>
              <a:avLst/>
              <a:gdLst/>
              <a:ahLst/>
              <a:cxnLst/>
              <a:rect l="l" t="t" r="r" b="b"/>
              <a:pathLst>
                <a:path w="1203365" h="723058">
                  <a:moveTo>
                    <a:pt x="1203365" y="54519"/>
                  </a:moveTo>
                  <a:lnTo>
                    <a:pt x="1203365" y="668539"/>
                  </a:lnTo>
                  <a:cubicBezTo>
                    <a:pt x="1203365" y="698649"/>
                    <a:pt x="1178956" y="723058"/>
                    <a:pt x="1148846" y="723058"/>
                  </a:cubicBezTo>
                  <a:lnTo>
                    <a:pt x="54519" y="723058"/>
                  </a:lnTo>
                  <a:cubicBezTo>
                    <a:pt x="24409" y="723058"/>
                    <a:pt x="0" y="698649"/>
                    <a:pt x="0" y="668539"/>
                  </a:cubicBezTo>
                  <a:lnTo>
                    <a:pt x="0" y="54519"/>
                  </a:lnTo>
                  <a:cubicBezTo>
                    <a:pt x="0" y="24409"/>
                    <a:pt x="24409" y="0"/>
                    <a:pt x="54519" y="0"/>
                  </a:cubicBezTo>
                  <a:lnTo>
                    <a:pt x="1148846" y="0"/>
                  </a:lnTo>
                  <a:cubicBezTo>
                    <a:pt x="1178956" y="0"/>
                    <a:pt x="1203365" y="24409"/>
                    <a:pt x="1203365" y="54519"/>
                  </a:cubicBezTo>
                  <a:close/>
                </a:path>
              </a:pathLst>
            </a:custGeom>
            <a:solidFill>
              <a:srgbClr val="000000">
                <a:alpha val="0"/>
              </a:srgbClr>
            </a:solidFill>
            <a:ln w="19050" cap="rnd">
              <a:solidFill>
                <a:srgbClr val="8AB2A6"/>
              </a:solidFill>
              <a:prstDash val="solid"/>
              <a:round/>
            </a:ln>
          </p:spPr>
        </p:sp>
        <p:sp>
          <p:nvSpPr>
            <p:cNvPr id="10" name="TextBox 10"/>
            <p:cNvSpPr txBox="1"/>
            <p:nvPr/>
          </p:nvSpPr>
          <p:spPr>
            <a:xfrm>
              <a:off x="0" y="0"/>
              <a:ext cx="1203365" cy="723058"/>
            </a:xfrm>
            <a:prstGeom prst="rect">
              <a:avLst/>
            </a:prstGeom>
          </p:spPr>
          <p:txBody>
            <a:bodyPr lIns="50800" tIns="50800" rIns="50800" bIns="50800" rtlCol="0" anchor="ctr"/>
            <a:lstStyle/>
            <a:p>
              <a:pPr algn="ctr">
                <a:lnSpc>
                  <a:spcPts val="1680"/>
                </a:lnSpc>
              </a:pPr>
              <a:endParaRPr/>
            </a:p>
          </p:txBody>
        </p:sp>
      </p:grpSp>
      <p:grpSp>
        <p:nvGrpSpPr>
          <p:cNvPr id="11" name="Group 11"/>
          <p:cNvGrpSpPr/>
          <p:nvPr/>
        </p:nvGrpSpPr>
        <p:grpSpPr>
          <a:xfrm rot="5400000">
            <a:off x="13364602" y="-1231046"/>
            <a:ext cx="1028700" cy="3490793"/>
            <a:chOff x="0" y="0"/>
            <a:chExt cx="270933" cy="919386"/>
          </a:xfrm>
        </p:grpSpPr>
        <p:sp>
          <p:nvSpPr>
            <p:cNvPr id="12" name="Freeform 12"/>
            <p:cNvSpPr/>
            <p:nvPr/>
          </p:nvSpPr>
          <p:spPr>
            <a:xfrm>
              <a:off x="0" y="0"/>
              <a:ext cx="270933" cy="919386"/>
            </a:xfrm>
            <a:custGeom>
              <a:avLst/>
              <a:gdLst/>
              <a:ahLst/>
              <a:cxnLst/>
              <a:rect l="l" t="t" r="r" b="b"/>
              <a:pathLst>
                <a:path w="270933" h="919386">
                  <a:moveTo>
                    <a:pt x="0" y="0"/>
                  </a:moveTo>
                  <a:lnTo>
                    <a:pt x="270933" y="0"/>
                  </a:lnTo>
                  <a:lnTo>
                    <a:pt x="270933" y="919386"/>
                  </a:lnTo>
                  <a:lnTo>
                    <a:pt x="0" y="919386"/>
                  </a:lnTo>
                  <a:close/>
                </a:path>
              </a:pathLst>
            </a:custGeom>
            <a:gradFill rotWithShape="1">
              <a:gsLst>
                <a:gs pos="0">
                  <a:srgbClr val="F5D739">
                    <a:alpha val="100000"/>
                  </a:srgbClr>
                </a:gs>
                <a:gs pos="100000">
                  <a:srgbClr val="3E9D81">
                    <a:alpha val="0"/>
                  </a:srgbClr>
                </a:gs>
              </a:gsLst>
              <a:lin ang="0"/>
            </a:gradFill>
          </p:spPr>
        </p:sp>
        <p:sp>
          <p:nvSpPr>
            <p:cNvPr id="13" name="TextBox 13"/>
            <p:cNvSpPr txBox="1"/>
            <p:nvPr/>
          </p:nvSpPr>
          <p:spPr>
            <a:xfrm>
              <a:off x="0" y="-28575"/>
              <a:ext cx="270933" cy="947961"/>
            </a:xfrm>
            <a:prstGeom prst="rect">
              <a:avLst/>
            </a:prstGeom>
          </p:spPr>
          <p:txBody>
            <a:bodyPr lIns="50800" tIns="50800" rIns="50800" bIns="50800" rtlCol="0" anchor="ctr"/>
            <a:lstStyle/>
            <a:p>
              <a:pPr algn="ctr">
                <a:lnSpc>
                  <a:spcPts val="1960"/>
                </a:lnSpc>
              </a:pPr>
              <a:endParaRPr/>
            </a:p>
          </p:txBody>
        </p:sp>
      </p:grpSp>
      <p:sp>
        <p:nvSpPr>
          <p:cNvPr id="14" name="Freeform 14"/>
          <p:cNvSpPr/>
          <p:nvPr/>
        </p:nvSpPr>
        <p:spPr>
          <a:xfrm>
            <a:off x="9728681" y="5378836"/>
            <a:ext cx="726809" cy="726809"/>
          </a:xfrm>
          <a:custGeom>
            <a:avLst/>
            <a:gdLst/>
            <a:ahLst/>
            <a:cxnLst/>
            <a:rect l="l" t="t" r="r" b="b"/>
            <a:pathLst>
              <a:path w="726809" h="726809">
                <a:moveTo>
                  <a:pt x="0" y="0"/>
                </a:moveTo>
                <a:lnTo>
                  <a:pt x="726809" y="0"/>
                </a:lnTo>
                <a:lnTo>
                  <a:pt x="726809" y="726809"/>
                </a:lnTo>
                <a:lnTo>
                  <a:pt x="0" y="7268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5" name="Freeform 15"/>
          <p:cNvSpPr/>
          <p:nvPr/>
        </p:nvSpPr>
        <p:spPr>
          <a:xfrm>
            <a:off x="7341679" y="3655473"/>
            <a:ext cx="1802321" cy="2062743"/>
          </a:xfrm>
          <a:custGeom>
            <a:avLst/>
            <a:gdLst/>
            <a:ahLst/>
            <a:cxnLst/>
            <a:rect l="l" t="t" r="r" b="b"/>
            <a:pathLst>
              <a:path w="1802321" h="2062743">
                <a:moveTo>
                  <a:pt x="0" y="0"/>
                </a:moveTo>
                <a:lnTo>
                  <a:pt x="1802321" y="0"/>
                </a:lnTo>
                <a:lnTo>
                  <a:pt x="1802321" y="2062743"/>
                </a:lnTo>
                <a:lnTo>
                  <a:pt x="0" y="2062743"/>
                </a:lnTo>
                <a:lnTo>
                  <a:pt x="0" y="0"/>
                </a:lnTo>
                <a:close/>
              </a:path>
            </a:pathLst>
          </a:custGeom>
          <a:blipFill>
            <a:blip r:embed="rId7"/>
            <a:stretch>
              <a:fillRect/>
            </a:stretch>
          </a:blipFill>
        </p:spPr>
      </p:sp>
      <p:pic>
        <p:nvPicPr>
          <p:cNvPr id="16" name="Picture 16"/>
          <p:cNvPicPr>
            <a:picLocks noChangeAspect="1"/>
          </p:cNvPicPr>
          <p:nvPr/>
        </p:nvPicPr>
        <p:blipFill>
          <a:blip r:embed="rId8"/>
          <a:stretch>
            <a:fillRect/>
          </a:stretch>
        </p:blipFill>
        <p:spPr>
          <a:xfrm>
            <a:off x="9565761" y="4659971"/>
            <a:ext cx="8626381" cy="6045016"/>
          </a:xfrm>
          <a:prstGeom prst="rect">
            <a:avLst/>
          </a:prstGeom>
        </p:spPr>
      </p:pic>
      <p:pic>
        <p:nvPicPr>
          <p:cNvPr id="17" name="Picture 17"/>
          <p:cNvPicPr>
            <a:picLocks noChangeAspect="1"/>
          </p:cNvPicPr>
          <p:nvPr/>
        </p:nvPicPr>
        <p:blipFill>
          <a:blip r:embed="rId9"/>
          <a:stretch>
            <a:fillRect/>
          </a:stretch>
        </p:blipFill>
        <p:spPr>
          <a:xfrm>
            <a:off x="8898627" y="-315704"/>
            <a:ext cx="9960649" cy="6524594"/>
          </a:xfrm>
          <a:prstGeom prst="rect">
            <a:avLst/>
          </a:prstGeom>
        </p:spPr>
      </p:pic>
      <p:sp>
        <p:nvSpPr>
          <p:cNvPr id="18" name="TextBox 18"/>
          <p:cNvSpPr txBox="1"/>
          <p:nvPr/>
        </p:nvSpPr>
        <p:spPr>
          <a:xfrm>
            <a:off x="1392256" y="5015243"/>
            <a:ext cx="6515068" cy="4081132"/>
          </a:xfrm>
          <a:prstGeom prst="rect">
            <a:avLst/>
          </a:prstGeom>
        </p:spPr>
        <p:txBody>
          <a:bodyPr lIns="0" tIns="0" rIns="0" bIns="0" rtlCol="0" anchor="t">
            <a:spAutoFit/>
          </a:bodyPr>
          <a:lstStyle/>
          <a:p>
            <a:pPr marL="490561" lvl="1" indent="-245281" algn="l">
              <a:lnSpc>
                <a:spcPts val="2726"/>
              </a:lnSpc>
              <a:buFont typeface="Arial"/>
              <a:buChar char="•"/>
            </a:pPr>
            <a:r>
              <a:rPr lang="en-US" sz="2272" spc="-45">
                <a:solidFill>
                  <a:srgbClr val="FFFFFF"/>
                </a:solidFill>
                <a:latin typeface="Open Sauce"/>
                <a:ea typeface="Open Sauce"/>
                <a:cs typeface="Open Sauce"/>
                <a:sym typeface="Open Sauce"/>
              </a:rPr>
              <a:t>Practical DSA Application</a:t>
            </a:r>
          </a:p>
          <a:p>
            <a:pPr algn="l">
              <a:lnSpc>
                <a:spcPts val="2726"/>
              </a:lnSpc>
            </a:pPr>
            <a:endParaRPr lang="en-US" sz="2272" spc="-45">
              <a:solidFill>
                <a:srgbClr val="FFFFFF"/>
              </a:solidFill>
              <a:latin typeface="Open Sauce"/>
              <a:ea typeface="Open Sauce"/>
              <a:cs typeface="Open Sauce"/>
              <a:sym typeface="Open Sauce"/>
            </a:endParaRPr>
          </a:p>
          <a:p>
            <a:pPr marL="490561" lvl="1" indent="-245281" algn="l">
              <a:lnSpc>
                <a:spcPts val="2726"/>
              </a:lnSpc>
              <a:buFont typeface="Arial"/>
              <a:buChar char="•"/>
            </a:pPr>
            <a:r>
              <a:rPr lang="en-US" sz="2272" spc="-45">
                <a:solidFill>
                  <a:srgbClr val="FFFFFF"/>
                </a:solidFill>
                <a:latin typeface="Open Sauce"/>
                <a:ea typeface="Open Sauce"/>
                <a:cs typeface="Open Sauce"/>
                <a:sym typeface="Open Sauce"/>
              </a:rPr>
              <a:t>Graph-Based Maze Model</a:t>
            </a:r>
          </a:p>
          <a:p>
            <a:pPr algn="l">
              <a:lnSpc>
                <a:spcPts val="2726"/>
              </a:lnSpc>
            </a:pPr>
            <a:endParaRPr lang="en-US" sz="2272" spc="-45">
              <a:solidFill>
                <a:srgbClr val="FFFFFF"/>
              </a:solidFill>
              <a:latin typeface="Open Sauce"/>
              <a:ea typeface="Open Sauce"/>
              <a:cs typeface="Open Sauce"/>
              <a:sym typeface="Open Sauce"/>
            </a:endParaRPr>
          </a:p>
          <a:p>
            <a:pPr marL="490561" lvl="1" indent="-245281" algn="l">
              <a:lnSpc>
                <a:spcPts val="2726"/>
              </a:lnSpc>
              <a:buFont typeface="Arial"/>
              <a:buChar char="•"/>
            </a:pPr>
            <a:r>
              <a:rPr lang="en-US" sz="2272" spc="-45">
                <a:solidFill>
                  <a:srgbClr val="FFFFFF"/>
                </a:solidFill>
                <a:latin typeface="Open Sauce"/>
                <a:ea typeface="Open Sauce"/>
                <a:cs typeface="Open Sauce"/>
                <a:sym typeface="Open Sauce"/>
              </a:rPr>
              <a:t>BFS Shortest Path</a:t>
            </a:r>
          </a:p>
          <a:p>
            <a:pPr algn="l">
              <a:lnSpc>
                <a:spcPts val="2726"/>
              </a:lnSpc>
            </a:pPr>
            <a:endParaRPr lang="en-US" sz="2272" spc="-45">
              <a:solidFill>
                <a:srgbClr val="FFFFFF"/>
              </a:solidFill>
              <a:latin typeface="Open Sauce"/>
              <a:ea typeface="Open Sauce"/>
              <a:cs typeface="Open Sauce"/>
              <a:sym typeface="Open Sauce"/>
            </a:endParaRPr>
          </a:p>
          <a:p>
            <a:pPr marL="490561" lvl="1" indent="-245281" algn="l">
              <a:lnSpc>
                <a:spcPts val="2726"/>
              </a:lnSpc>
              <a:buFont typeface="Arial"/>
              <a:buChar char="•"/>
            </a:pPr>
            <a:r>
              <a:rPr lang="en-US" sz="2272" spc="-45">
                <a:solidFill>
                  <a:srgbClr val="FFFFFF"/>
                </a:solidFill>
                <a:latin typeface="Open Sauce"/>
                <a:ea typeface="Open Sauce"/>
                <a:cs typeface="Open Sauce"/>
                <a:sym typeface="Open Sauce"/>
              </a:rPr>
              <a:t>Stack-Based Undo</a:t>
            </a:r>
          </a:p>
          <a:p>
            <a:pPr algn="l">
              <a:lnSpc>
                <a:spcPts val="2726"/>
              </a:lnSpc>
            </a:pPr>
            <a:endParaRPr lang="en-US" sz="2272" spc="-45">
              <a:solidFill>
                <a:srgbClr val="FFFFFF"/>
              </a:solidFill>
              <a:latin typeface="Open Sauce"/>
              <a:ea typeface="Open Sauce"/>
              <a:cs typeface="Open Sauce"/>
              <a:sym typeface="Open Sauce"/>
            </a:endParaRPr>
          </a:p>
          <a:p>
            <a:pPr marL="490561" lvl="1" indent="-245281" algn="l">
              <a:lnSpc>
                <a:spcPts val="2726"/>
              </a:lnSpc>
              <a:buFont typeface="Arial"/>
              <a:buChar char="•"/>
            </a:pPr>
            <a:r>
              <a:rPr lang="en-US" sz="2272" spc="-45">
                <a:solidFill>
                  <a:srgbClr val="FFFFFF"/>
                </a:solidFill>
                <a:latin typeface="Open Sauce"/>
                <a:ea typeface="Open Sauce"/>
                <a:cs typeface="Open Sauce"/>
                <a:sym typeface="Open Sauce"/>
              </a:rPr>
              <a:t>AVL Leaderboard System</a:t>
            </a:r>
          </a:p>
          <a:p>
            <a:pPr algn="l">
              <a:lnSpc>
                <a:spcPts val="2726"/>
              </a:lnSpc>
            </a:pPr>
            <a:endParaRPr lang="en-US" sz="2272" spc="-45">
              <a:solidFill>
                <a:srgbClr val="FFFFFF"/>
              </a:solidFill>
              <a:latin typeface="Open Sauce"/>
              <a:ea typeface="Open Sauce"/>
              <a:cs typeface="Open Sauce"/>
              <a:sym typeface="Open Sauce"/>
            </a:endParaRPr>
          </a:p>
          <a:p>
            <a:pPr marL="490561" lvl="1" indent="-245281" algn="l">
              <a:lnSpc>
                <a:spcPts val="2726"/>
              </a:lnSpc>
              <a:buFont typeface="Arial"/>
              <a:buChar char="•"/>
            </a:pPr>
            <a:r>
              <a:rPr lang="en-US" sz="2272" spc="-45">
                <a:solidFill>
                  <a:srgbClr val="FFFFFF"/>
                </a:solidFill>
                <a:latin typeface="Open Sauce"/>
                <a:ea typeface="Open Sauce"/>
                <a:cs typeface="Open Sauce"/>
                <a:sym typeface="Open Sauce"/>
              </a:rPr>
              <a:t>File Handling Persistence</a:t>
            </a:r>
          </a:p>
          <a:p>
            <a:pPr algn="l">
              <a:lnSpc>
                <a:spcPts val="2726"/>
              </a:lnSpc>
            </a:pPr>
            <a:endParaRPr lang="en-US" sz="2272" spc="-45">
              <a:solidFill>
                <a:srgbClr val="FFFFFF"/>
              </a:solidFill>
              <a:latin typeface="Open Sauce"/>
              <a:ea typeface="Open Sauce"/>
              <a:cs typeface="Open Sauce"/>
              <a:sym typeface="Open Sauc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388725" y="5415467"/>
            <a:ext cx="14154016" cy="3829340"/>
            <a:chOff x="0" y="0"/>
            <a:chExt cx="2351840" cy="636285"/>
          </a:xfrm>
        </p:grpSpPr>
        <p:sp>
          <p:nvSpPr>
            <p:cNvPr id="4" name="Freeform 4"/>
            <p:cNvSpPr/>
            <p:nvPr/>
          </p:nvSpPr>
          <p:spPr>
            <a:xfrm>
              <a:off x="0" y="0"/>
              <a:ext cx="2351840" cy="636285"/>
            </a:xfrm>
            <a:custGeom>
              <a:avLst/>
              <a:gdLst/>
              <a:ahLst/>
              <a:cxnLst/>
              <a:rect l="l" t="t" r="r" b="b"/>
              <a:pathLst>
                <a:path w="2351840" h="636285">
                  <a:moveTo>
                    <a:pt x="2351840" y="27896"/>
                  </a:moveTo>
                  <a:lnTo>
                    <a:pt x="2351840" y="608389"/>
                  </a:lnTo>
                  <a:cubicBezTo>
                    <a:pt x="2351840" y="615787"/>
                    <a:pt x="2348901" y="622883"/>
                    <a:pt x="2343670" y="628114"/>
                  </a:cubicBezTo>
                  <a:cubicBezTo>
                    <a:pt x="2338438" y="633346"/>
                    <a:pt x="2331343" y="636285"/>
                    <a:pt x="2323945" y="636285"/>
                  </a:cubicBezTo>
                  <a:lnTo>
                    <a:pt x="27896" y="636285"/>
                  </a:lnTo>
                  <a:cubicBezTo>
                    <a:pt x="20497" y="636285"/>
                    <a:pt x="13402" y="633346"/>
                    <a:pt x="8170" y="628114"/>
                  </a:cubicBezTo>
                  <a:cubicBezTo>
                    <a:pt x="2939" y="622883"/>
                    <a:pt x="0" y="615787"/>
                    <a:pt x="0" y="608389"/>
                  </a:cubicBezTo>
                  <a:lnTo>
                    <a:pt x="0" y="27896"/>
                  </a:lnTo>
                  <a:cubicBezTo>
                    <a:pt x="0" y="20497"/>
                    <a:pt x="2939" y="13402"/>
                    <a:pt x="8170" y="8170"/>
                  </a:cubicBezTo>
                  <a:cubicBezTo>
                    <a:pt x="13402" y="2939"/>
                    <a:pt x="20497" y="0"/>
                    <a:pt x="27896" y="0"/>
                  </a:cubicBezTo>
                  <a:lnTo>
                    <a:pt x="2323945" y="0"/>
                  </a:lnTo>
                  <a:cubicBezTo>
                    <a:pt x="2331343" y="0"/>
                    <a:pt x="2338438" y="2939"/>
                    <a:pt x="2343670" y="8170"/>
                  </a:cubicBezTo>
                  <a:cubicBezTo>
                    <a:pt x="2348901" y="13402"/>
                    <a:pt x="2351840" y="20497"/>
                    <a:pt x="2351840" y="27896"/>
                  </a:cubicBezTo>
                  <a:close/>
                </a:path>
              </a:pathLst>
            </a:custGeom>
            <a:solidFill>
              <a:srgbClr val="000000">
                <a:alpha val="0"/>
              </a:srgbClr>
            </a:solidFill>
            <a:ln w="19050" cap="rnd">
              <a:solidFill>
                <a:srgbClr val="8AB2A6"/>
              </a:solidFill>
              <a:prstDash val="solid"/>
              <a:round/>
            </a:ln>
          </p:spPr>
        </p:sp>
        <p:sp>
          <p:nvSpPr>
            <p:cNvPr id="5" name="TextBox 5"/>
            <p:cNvSpPr txBox="1"/>
            <p:nvPr/>
          </p:nvSpPr>
          <p:spPr>
            <a:xfrm>
              <a:off x="0" y="0"/>
              <a:ext cx="2351840" cy="636285"/>
            </a:xfrm>
            <a:prstGeom prst="rect">
              <a:avLst/>
            </a:prstGeom>
          </p:spPr>
          <p:txBody>
            <a:bodyPr lIns="50800" tIns="50800" rIns="50800" bIns="50800" rtlCol="0" anchor="ctr"/>
            <a:lstStyle/>
            <a:p>
              <a:pPr algn="ctr">
                <a:lnSpc>
                  <a:spcPts val="1680"/>
                </a:lnSpc>
              </a:pPr>
              <a:endParaRPr/>
            </a:p>
          </p:txBody>
        </p:sp>
      </p:grpSp>
      <p:grpSp>
        <p:nvGrpSpPr>
          <p:cNvPr id="6" name="Group 6"/>
          <p:cNvGrpSpPr/>
          <p:nvPr/>
        </p:nvGrpSpPr>
        <p:grpSpPr>
          <a:xfrm rot="-10800000">
            <a:off x="14515654" y="6290232"/>
            <a:ext cx="3979774" cy="2968068"/>
            <a:chOff x="0" y="0"/>
            <a:chExt cx="1048171" cy="781713"/>
          </a:xfrm>
        </p:grpSpPr>
        <p:sp>
          <p:nvSpPr>
            <p:cNvPr id="7" name="Freeform 7"/>
            <p:cNvSpPr/>
            <p:nvPr/>
          </p:nvSpPr>
          <p:spPr>
            <a:xfrm>
              <a:off x="0" y="0"/>
              <a:ext cx="1048171" cy="781713"/>
            </a:xfrm>
            <a:custGeom>
              <a:avLst/>
              <a:gdLst/>
              <a:ahLst/>
              <a:cxnLst/>
              <a:rect l="l" t="t" r="r" b="b"/>
              <a:pathLst>
                <a:path w="1048171" h="781713">
                  <a:moveTo>
                    <a:pt x="0" y="0"/>
                  </a:moveTo>
                  <a:lnTo>
                    <a:pt x="1048171" y="0"/>
                  </a:lnTo>
                  <a:lnTo>
                    <a:pt x="1048171" y="781713"/>
                  </a:lnTo>
                  <a:lnTo>
                    <a:pt x="0" y="781713"/>
                  </a:lnTo>
                  <a:close/>
                </a:path>
              </a:pathLst>
            </a:custGeom>
            <a:gradFill rotWithShape="1">
              <a:gsLst>
                <a:gs pos="0">
                  <a:srgbClr val="F5D739">
                    <a:alpha val="100000"/>
                  </a:srgbClr>
                </a:gs>
                <a:gs pos="100000">
                  <a:srgbClr val="3E9D81">
                    <a:alpha val="0"/>
                  </a:srgbClr>
                </a:gs>
              </a:gsLst>
              <a:lin ang="0"/>
            </a:gradFill>
          </p:spPr>
        </p:sp>
        <p:sp>
          <p:nvSpPr>
            <p:cNvPr id="8" name="TextBox 8"/>
            <p:cNvSpPr txBox="1"/>
            <p:nvPr/>
          </p:nvSpPr>
          <p:spPr>
            <a:xfrm>
              <a:off x="0" y="-28575"/>
              <a:ext cx="1048171" cy="810288"/>
            </a:xfrm>
            <a:prstGeom prst="rect">
              <a:avLst/>
            </a:prstGeom>
          </p:spPr>
          <p:txBody>
            <a:bodyPr lIns="50800" tIns="50800" rIns="50800" bIns="50800" rtlCol="0" anchor="ctr"/>
            <a:lstStyle/>
            <a:p>
              <a:pPr algn="ctr">
                <a:lnSpc>
                  <a:spcPts val="1960"/>
                </a:lnSpc>
              </a:pPr>
              <a:endParaRPr/>
            </a:p>
          </p:txBody>
        </p:sp>
      </p:grpSp>
      <p:grpSp>
        <p:nvGrpSpPr>
          <p:cNvPr id="9" name="Group 9"/>
          <p:cNvGrpSpPr/>
          <p:nvPr/>
        </p:nvGrpSpPr>
        <p:grpSpPr>
          <a:xfrm>
            <a:off x="11031295" y="3647600"/>
            <a:ext cx="6191601" cy="5597208"/>
            <a:chOff x="0" y="0"/>
            <a:chExt cx="6350000" cy="5740400"/>
          </a:xfrm>
        </p:grpSpPr>
        <p:sp>
          <p:nvSpPr>
            <p:cNvPr id="10" name="Freeform 10"/>
            <p:cNvSpPr/>
            <p:nvPr/>
          </p:nvSpPr>
          <p:spPr>
            <a:xfrm>
              <a:off x="0" y="0"/>
              <a:ext cx="6351270" cy="5741670"/>
            </a:xfrm>
            <a:custGeom>
              <a:avLst/>
              <a:gdLst/>
              <a:ahLst/>
              <a:cxnLst/>
              <a:rect l="l" t="t" r="r" b="b"/>
              <a:pathLst>
                <a:path w="6351270" h="5741670">
                  <a:moveTo>
                    <a:pt x="0" y="542290"/>
                  </a:moveTo>
                  <a:lnTo>
                    <a:pt x="0" y="2392680"/>
                  </a:lnTo>
                  <a:cubicBezTo>
                    <a:pt x="0" y="2691130"/>
                    <a:pt x="242570" y="2933700"/>
                    <a:pt x="542290" y="2933700"/>
                  </a:cubicBezTo>
                  <a:lnTo>
                    <a:pt x="1148080" y="2933700"/>
                  </a:lnTo>
                  <a:cubicBezTo>
                    <a:pt x="1447800" y="2933700"/>
                    <a:pt x="1690370" y="3176270"/>
                    <a:pt x="1690370" y="3475990"/>
                  </a:cubicBezTo>
                  <a:lnTo>
                    <a:pt x="1690370" y="5199380"/>
                  </a:lnTo>
                  <a:cubicBezTo>
                    <a:pt x="1690370" y="5499100"/>
                    <a:pt x="1932940" y="5741670"/>
                    <a:pt x="2232660" y="5741670"/>
                  </a:cubicBezTo>
                  <a:lnTo>
                    <a:pt x="3599180" y="5741670"/>
                  </a:lnTo>
                  <a:cubicBezTo>
                    <a:pt x="3735070" y="5741670"/>
                    <a:pt x="3867150" y="5689600"/>
                    <a:pt x="3967480" y="5598160"/>
                  </a:cubicBezTo>
                  <a:lnTo>
                    <a:pt x="6177280" y="3553460"/>
                  </a:lnTo>
                  <a:cubicBezTo>
                    <a:pt x="6287770" y="3450590"/>
                    <a:pt x="6351270" y="3307080"/>
                    <a:pt x="6351270" y="3155950"/>
                  </a:cubicBezTo>
                  <a:lnTo>
                    <a:pt x="6351270" y="542290"/>
                  </a:lnTo>
                  <a:cubicBezTo>
                    <a:pt x="6350000" y="242570"/>
                    <a:pt x="6107430" y="0"/>
                    <a:pt x="5807710" y="0"/>
                  </a:cubicBezTo>
                  <a:lnTo>
                    <a:pt x="542290" y="0"/>
                  </a:lnTo>
                  <a:cubicBezTo>
                    <a:pt x="242570" y="0"/>
                    <a:pt x="0" y="242570"/>
                    <a:pt x="0" y="542290"/>
                  </a:cubicBezTo>
                  <a:close/>
                </a:path>
              </a:pathLst>
            </a:custGeom>
            <a:blipFill>
              <a:blip r:embed="rId3"/>
              <a:stretch>
                <a:fillRect r="-35433"/>
              </a:stretch>
            </a:blipFill>
          </p:spPr>
        </p:sp>
      </p:grpSp>
      <p:grpSp>
        <p:nvGrpSpPr>
          <p:cNvPr id="11" name="Group 11"/>
          <p:cNvGrpSpPr/>
          <p:nvPr/>
        </p:nvGrpSpPr>
        <p:grpSpPr>
          <a:xfrm>
            <a:off x="0" y="1042193"/>
            <a:ext cx="4584772" cy="3608445"/>
            <a:chOff x="0" y="0"/>
            <a:chExt cx="1207512" cy="950372"/>
          </a:xfrm>
        </p:grpSpPr>
        <p:sp>
          <p:nvSpPr>
            <p:cNvPr id="12" name="Freeform 12"/>
            <p:cNvSpPr/>
            <p:nvPr/>
          </p:nvSpPr>
          <p:spPr>
            <a:xfrm>
              <a:off x="0" y="0"/>
              <a:ext cx="1207512" cy="950372"/>
            </a:xfrm>
            <a:custGeom>
              <a:avLst/>
              <a:gdLst/>
              <a:ahLst/>
              <a:cxnLst/>
              <a:rect l="l" t="t" r="r" b="b"/>
              <a:pathLst>
                <a:path w="1207512" h="950372">
                  <a:moveTo>
                    <a:pt x="0" y="0"/>
                  </a:moveTo>
                  <a:lnTo>
                    <a:pt x="1207512" y="0"/>
                  </a:lnTo>
                  <a:lnTo>
                    <a:pt x="1207512" y="950372"/>
                  </a:lnTo>
                  <a:lnTo>
                    <a:pt x="0" y="950372"/>
                  </a:lnTo>
                  <a:close/>
                </a:path>
              </a:pathLst>
            </a:custGeom>
            <a:gradFill rotWithShape="1">
              <a:gsLst>
                <a:gs pos="0">
                  <a:srgbClr val="F5D739">
                    <a:alpha val="100000"/>
                  </a:srgbClr>
                </a:gs>
                <a:gs pos="100000">
                  <a:srgbClr val="3E9D81">
                    <a:alpha val="0"/>
                  </a:srgbClr>
                </a:gs>
              </a:gsLst>
              <a:lin ang="0"/>
            </a:gradFill>
          </p:spPr>
        </p:sp>
        <p:sp>
          <p:nvSpPr>
            <p:cNvPr id="13" name="TextBox 13"/>
            <p:cNvSpPr txBox="1"/>
            <p:nvPr/>
          </p:nvSpPr>
          <p:spPr>
            <a:xfrm>
              <a:off x="0" y="-28575"/>
              <a:ext cx="1207512" cy="978947"/>
            </a:xfrm>
            <a:prstGeom prst="rect">
              <a:avLst/>
            </a:prstGeom>
          </p:spPr>
          <p:txBody>
            <a:bodyPr lIns="50800" tIns="50800" rIns="50800" bIns="50800" rtlCol="0" anchor="ctr"/>
            <a:lstStyle/>
            <a:p>
              <a:pPr algn="ctr">
                <a:lnSpc>
                  <a:spcPts val="1960"/>
                </a:lnSpc>
              </a:pPr>
              <a:endParaRPr/>
            </a:p>
          </p:txBody>
        </p:sp>
      </p:grpSp>
      <p:sp>
        <p:nvSpPr>
          <p:cNvPr id="14" name="Freeform 14"/>
          <p:cNvSpPr/>
          <p:nvPr/>
        </p:nvSpPr>
        <p:spPr>
          <a:xfrm>
            <a:off x="11256237" y="7410861"/>
            <a:ext cx="726809" cy="726809"/>
          </a:xfrm>
          <a:custGeom>
            <a:avLst/>
            <a:gdLst/>
            <a:ahLst/>
            <a:cxnLst/>
            <a:rect l="l" t="t" r="r" b="b"/>
            <a:pathLst>
              <a:path w="726809" h="726809">
                <a:moveTo>
                  <a:pt x="0" y="0"/>
                </a:moveTo>
                <a:lnTo>
                  <a:pt x="726809" y="0"/>
                </a:lnTo>
                <a:lnTo>
                  <a:pt x="726809" y="726809"/>
                </a:lnTo>
                <a:lnTo>
                  <a:pt x="0" y="726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Freeform 15"/>
          <p:cNvSpPr/>
          <p:nvPr/>
        </p:nvSpPr>
        <p:spPr>
          <a:xfrm>
            <a:off x="710867" y="731386"/>
            <a:ext cx="8433133" cy="4216566"/>
          </a:xfrm>
          <a:custGeom>
            <a:avLst/>
            <a:gdLst/>
            <a:ahLst/>
            <a:cxnLst/>
            <a:rect l="l" t="t" r="r" b="b"/>
            <a:pathLst>
              <a:path w="8433133" h="4216566">
                <a:moveTo>
                  <a:pt x="0" y="0"/>
                </a:moveTo>
                <a:lnTo>
                  <a:pt x="8433133" y="0"/>
                </a:lnTo>
                <a:lnTo>
                  <a:pt x="8433133" y="4216566"/>
                </a:lnTo>
                <a:lnTo>
                  <a:pt x="0" y="4216566"/>
                </a:lnTo>
                <a:lnTo>
                  <a:pt x="0" y="0"/>
                </a:lnTo>
                <a:close/>
              </a:path>
            </a:pathLst>
          </a:custGeom>
          <a:blipFill>
            <a:blip r:embed="rId6"/>
            <a:stretch>
              <a:fillRect/>
            </a:stretch>
          </a:blipFill>
        </p:spPr>
      </p:sp>
      <p:sp>
        <p:nvSpPr>
          <p:cNvPr id="16" name="TextBox 16"/>
          <p:cNvSpPr txBox="1"/>
          <p:nvPr/>
        </p:nvSpPr>
        <p:spPr>
          <a:xfrm>
            <a:off x="10131525" y="1761312"/>
            <a:ext cx="6843919" cy="1078357"/>
          </a:xfrm>
          <a:prstGeom prst="rect">
            <a:avLst/>
          </a:prstGeom>
        </p:spPr>
        <p:txBody>
          <a:bodyPr lIns="0" tIns="0" rIns="0" bIns="0" rtlCol="0" anchor="t">
            <a:spAutoFit/>
          </a:bodyPr>
          <a:lstStyle/>
          <a:p>
            <a:pPr algn="l">
              <a:lnSpc>
                <a:spcPts val="7988"/>
              </a:lnSpc>
            </a:pPr>
            <a:r>
              <a:rPr lang="en-US" sz="8409" spc="-336" dirty="0">
                <a:solidFill>
                  <a:schemeClr val="bg1"/>
                </a:solidFill>
                <a:latin typeface="Anton Italics"/>
                <a:ea typeface="Anton Italics"/>
                <a:cs typeface="Anton Italics"/>
                <a:sym typeface="Anton Italics"/>
              </a:rPr>
              <a:t>ALGORITHMS  USED</a:t>
            </a:r>
          </a:p>
        </p:txBody>
      </p:sp>
      <p:sp>
        <p:nvSpPr>
          <p:cNvPr id="17" name="TextBox 17"/>
          <p:cNvSpPr txBox="1"/>
          <p:nvPr/>
        </p:nvSpPr>
        <p:spPr>
          <a:xfrm>
            <a:off x="710867" y="5886014"/>
            <a:ext cx="5427805" cy="466725"/>
          </a:xfrm>
          <a:prstGeom prst="rect">
            <a:avLst/>
          </a:prstGeom>
        </p:spPr>
        <p:txBody>
          <a:bodyPr lIns="0" tIns="0" rIns="0" bIns="0" rtlCol="0" anchor="t">
            <a:spAutoFit/>
          </a:bodyPr>
          <a:lstStyle/>
          <a:p>
            <a:pPr algn="l">
              <a:lnSpc>
                <a:spcPts val="3600"/>
              </a:lnSpc>
            </a:pPr>
            <a:r>
              <a:rPr lang="en-US" sz="3000" dirty="0">
                <a:solidFill>
                  <a:srgbClr val="F4C01E"/>
                </a:solidFill>
                <a:latin typeface="Anton Italics"/>
                <a:ea typeface="Anton Italics"/>
                <a:cs typeface="Anton Italics"/>
                <a:sym typeface="Anton Italics"/>
              </a:rPr>
              <a:t>DEPTH FIRST SEARCH (DFS):</a:t>
            </a:r>
          </a:p>
        </p:txBody>
      </p:sp>
      <p:sp>
        <p:nvSpPr>
          <p:cNvPr id="18" name="TextBox 18"/>
          <p:cNvSpPr txBox="1"/>
          <p:nvPr/>
        </p:nvSpPr>
        <p:spPr>
          <a:xfrm>
            <a:off x="710867" y="6544762"/>
            <a:ext cx="4338787" cy="2209800"/>
          </a:xfrm>
          <a:prstGeom prst="rect">
            <a:avLst/>
          </a:prstGeom>
        </p:spPr>
        <p:txBody>
          <a:bodyPr lIns="0" tIns="0" rIns="0" bIns="0" rtlCol="0" anchor="t">
            <a:spAutoFit/>
          </a:bodyPr>
          <a:lstStyle/>
          <a:p>
            <a:pPr algn="just">
              <a:lnSpc>
                <a:spcPts val="2520"/>
              </a:lnSpc>
            </a:pPr>
            <a:r>
              <a:rPr lang="en-US" sz="2100" spc="-42">
                <a:solidFill>
                  <a:srgbClr val="FFFFFF"/>
                </a:solidFill>
                <a:latin typeface="Open Sauce"/>
                <a:ea typeface="Open Sauce"/>
                <a:cs typeface="Open Sauce"/>
                <a:sym typeface="Open Sauce"/>
              </a:rPr>
              <a:t>DFS is used to generate the maze by exploring one path deeply before backtracking. It randomly carves paths and removes walls, ensuring that the maze is fully connected and always solvable.</a:t>
            </a:r>
          </a:p>
          <a:p>
            <a:pPr algn="just">
              <a:lnSpc>
                <a:spcPts val="2520"/>
              </a:lnSpc>
            </a:pPr>
            <a:endParaRPr lang="en-US" sz="2100" spc="-42">
              <a:solidFill>
                <a:srgbClr val="FFFFFF"/>
              </a:solidFill>
              <a:latin typeface="Open Sauce"/>
              <a:ea typeface="Open Sauce"/>
              <a:cs typeface="Open Sauce"/>
              <a:sym typeface="Open Sauce"/>
            </a:endParaRPr>
          </a:p>
        </p:txBody>
      </p:sp>
      <p:sp>
        <p:nvSpPr>
          <p:cNvPr id="19" name="TextBox 19"/>
          <p:cNvSpPr txBox="1"/>
          <p:nvPr/>
        </p:nvSpPr>
        <p:spPr>
          <a:xfrm>
            <a:off x="6193970" y="5886014"/>
            <a:ext cx="4464194" cy="466725"/>
          </a:xfrm>
          <a:prstGeom prst="rect">
            <a:avLst/>
          </a:prstGeom>
        </p:spPr>
        <p:txBody>
          <a:bodyPr lIns="0" tIns="0" rIns="0" bIns="0" rtlCol="0" anchor="t">
            <a:spAutoFit/>
          </a:bodyPr>
          <a:lstStyle/>
          <a:p>
            <a:pPr algn="l">
              <a:lnSpc>
                <a:spcPts val="3600"/>
              </a:lnSpc>
            </a:pPr>
            <a:r>
              <a:rPr lang="en-US" sz="3000" dirty="0">
                <a:solidFill>
                  <a:srgbClr val="F4C01E"/>
                </a:solidFill>
                <a:latin typeface="Anton Italics"/>
                <a:ea typeface="Anton Italics"/>
                <a:cs typeface="Anton Italics"/>
                <a:sym typeface="Anton Italics"/>
              </a:rPr>
              <a:t>BREADTH FIRST SEARCH (BFS):</a:t>
            </a:r>
          </a:p>
        </p:txBody>
      </p:sp>
      <p:sp>
        <p:nvSpPr>
          <p:cNvPr id="20" name="TextBox 20"/>
          <p:cNvSpPr txBox="1"/>
          <p:nvPr/>
        </p:nvSpPr>
        <p:spPr>
          <a:xfrm>
            <a:off x="6138672" y="6544762"/>
            <a:ext cx="4338787" cy="1895475"/>
          </a:xfrm>
          <a:prstGeom prst="rect">
            <a:avLst/>
          </a:prstGeom>
        </p:spPr>
        <p:txBody>
          <a:bodyPr lIns="0" tIns="0" rIns="0" bIns="0" rtlCol="0" anchor="t">
            <a:spAutoFit/>
          </a:bodyPr>
          <a:lstStyle/>
          <a:p>
            <a:pPr algn="just">
              <a:lnSpc>
                <a:spcPts val="2520"/>
              </a:lnSpc>
            </a:pPr>
            <a:r>
              <a:rPr lang="en-US" sz="2100" spc="-42">
                <a:solidFill>
                  <a:srgbClr val="FFFFFF"/>
                </a:solidFill>
                <a:latin typeface="Open Sauce"/>
                <a:ea typeface="Open Sauce"/>
                <a:cs typeface="Open Sauce"/>
                <a:sym typeface="Open Sauce"/>
              </a:rPr>
              <a:t>BFS explores the maze level by level starting from the player’s position. It guarantees the shortest and optimal path to the exit by visiting all possible paths systematically.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rot="-10800000">
            <a:off x="16585159" y="4674226"/>
            <a:ext cx="1702841" cy="2913092"/>
            <a:chOff x="0" y="0"/>
            <a:chExt cx="448485" cy="767234"/>
          </a:xfrm>
        </p:grpSpPr>
        <p:sp>
          <p:nvSpPr>
            <p:cNvPr id="4" name="Freeform 4"/>
            <p:cNvSpPr/>
            <p:nvPr/>
          </p:nvSpPr>
          <p:spPr>
            <a:xfrm>
              <a:off x="0" y="0"/>
              <a:ext cx="448485" cy="767234"/>
            </a:xfrm>
            <a:custGeom>
              <a:avLst/>
              <a:gdLst/>
              <a:ahLst/>
              <a:cxnLst/>
              <a:rect l="l" t="t" r="r" b="b"/>
              <a:pathLst>
                <a:path w="448485" h="767234">
                  <a:moveTo>
                    <a:pt x="0" y="0"/>
                  </a:moveTo>
                  <a:lnTo>
                    <a:pt x="448485" y="0"/>
                  </a:lnTo>
                  <a:lnTo>
                    <a:pt x="448485" y="767234"/>
                  </a:lnTo>
                  <a:lnTo>
                    <a:pt x="0" y="767234"/>
                  </a:lnTo>
                  <a:close/>
                </a:path>
              </a:pathLst>
            </a:custGeom>
            <a:gradFill rotWithShape="1">
              <a:gsLst>
                <a:gs pos="0">
                  <a:srgbClr val="F5D739">
                    <a:alpha val="100000"/>
                  </a:srgbClr>
                </a:gs>
                <a:gs pos="100000">
                  <a:srgbClr val="3E9D81">
                    <a:alpha val="0"/>
                  </a:srgbClr>
                </a:gs>
              </a:gsLst>
              <a:lin ang="0"/>
            </a:gradFill>
          </p:spPr>
        </p:sp>
        <p:sp>
          <p:nvSpPr>
            <p:cNvPr id="5" name="TextBox 5"/>
            <p:cNvSpPr txBox="1"/>
            <p:nvPr/>
          </p:nvSpPr>
          <p:spPr>
            <a:xfrm>
              <a:off x="0" y="-28575"/>
              <a:ext cx="448485" cy="795809"/>
            </a:xfrm>
            <a:prstGeom prst="rect">
              <a:avLst/>
            </a:prstGeom>
          </p:spPr>
          <p:txBody>
            <a:bodyPr lIns="50800" tIns="50800" rIns="50800" bIns="50800" rtlCol="0" anchor="ctr"/>
            <a:lstStyle/>
            <a:p>
              <a:pPr algn="ctr">
                <a:lnSpc>
                  <a:spcPts val="1960"/>
                </a:lnSpc>
              </a:pPr>
              <a:endParaRPr/>
            </a:p>
          </p:txBody>
        </p:sp>
      </p:grpSp>
      <p:sp>
        <p:nvSpPr>
          <p:cNvPr id="6" name="Freeform 6"/>
          <p:cNvSpPr/>
          <p:nvPr/>
        </p:nvSpPr>
        <p:spPr>
          <a:xfrm>
            <a:off x="15886973" y="1042193"/>
            <a:ext cx="392115" cy="392115"/>
          </a:xfrm>
          <a:custGeom>
            <a:avLst/>
            <a:gdLst/>
            <a:ahLst/>
            <a:cxnLst/>
            <a:rect l="l" t="t" r="r" b="b"/>
            <a:pathLst>
              <a:path w="392115" h="392115">
                <a:moveTo>
                  <a:pt x="0" y="0"/>
                </a:moveTo>
                <a:lnTo>
                  <a:pt x="392114" y="0"/>
                </a:lnTo>
                <a:lnTo>
                  <a:pt x="392114" y="392114"/>
                </a:lnTo>
                <a:lnTo>
                  <a:pt x="0" y="39211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1028700" y="2444030"/>
            <a:ext cx="3676529" cy="1266433"/>
            <a:chOff x="0" y="0"/>
            <a:chExt cx="860651" cy="296463"/>
          </a:xfrm>
        </p:grpSpPr>
        <p:sp>
          <p:nvSpPr>
            <p:cNvPr id="8" name="Freeform 8"/>
            <p:cNvSpPr/>
            <p:nvPr/>
          </p:nvSpPr>
          <p:spPr>
            <a:xfrm>
              <a:off x="0" y="0"/>
              <a:ext cx="860651" cy="296463"/>
            </a:xfrm>
            <a:custGeom>
              <a:avLst/>
              <a:gdLst/>
              <a:ahLst/>
              <a:cxnLst/>
              <a:rect l="l" t="t" r="r" b="b"/>
              <a:pathLst>
                <a:path w="860651" h="296463">
                  <a:moveTo>
                    <a:pt x="860651" y="65279"/>
                  </a:moveTo>
                  <a:lnTo>
                    <a:pt x="860651" y="231184"/>
                  </a:lnTo>
                  <a:cubicBezTo>
                    <a:pt x="860651" y="267237"/>
                    <a:pt x="831424" y="296463"/>
                    <a:pt x="795372" y="296463"/>
                  </a:cubicBezTo>
                  <a:lnTo>
                    <a:pt x="65279" y="296463"/>
                  </a:lnTo>
                  <a:cubicBezTo>
                    <a:pt x="47966" y="296463"/>
                    <a:pt x="31362" y="289585"/>
                    <a:pt x="19120" y="277343"/>
                  </a:cubicBezTo>
                  <a:cubicBezTo>
                    <a:pt x="6878" y="265101"/>
                    <a:pt x="0" y="248497"/>
                    <a:pt x="0" y="231184"/>
                  </a:cubicBezTo>
                  <a:lnTo>
                    <a:pt x="0" y="65279"/>
                  </a:lnTo>
                  <a:cubicBezTo>
                    <a:pt x="0" y="47966"/>
                    <a:pt x="6878" y="31362"/>
                    <a:pt x="19120" y="19120"/>
                  </a:cubicBezTo>
                  <a:cubicBezTo>
                    <a:pt x="31362" y="6878"/>
                    <a:pt x="47966" y="0"/>
                    <a:pt x="65279" y="0"/>
                  </a:cubicBezTo>
                  <a:lnTo>
                    <a:pt x="795372" y="0"/>
                  </a:lnTo>
                  <a:cubicBezTo>
                    <a:pt x="812685" y="0"/>
                    <a:pt x="829289" y="6878"/>
                    <a:pt x="841531" y="19120"/>
                  </a:cubicBezTo>
                  <a:cubicBezTo>
                    <a:pt x="853773" y="31362"/>
                    <a:pt x="860651" y="47966"/>
                    <a:pt x="860651" y="65279"/>
                  </a:cubicBezTo>
                  <a:close/>
                </a:path>
              </a:pathLst>
            </a:custGeom>
            <a:solidFill>
              <a:srgbClr val="000000">
                <a:alpha val="0"/>
              </a:srgbClr>
            </a:solidFill>
            <a:ln w="19050" cap="rnd">
              <a:solidFill>
                <a:srgbClr val="8AB2A6"/>
              </a:solidFill>
              <a:prstDash val="solid"/>
              <a:round/>
            </a:ln>
          </p:spPr>
        </p:sp>
        <p:sp>
          <p:nvSpPr>
            <p:cNvPr id="9" name="TextBox 9"/>
            <p:cNvSpPr txBox="1"/>
            <p:nvPr/>
          </p:nvSpPr>
          <p:spPr>
            <a:xfrm>
              <a:off x="0" y="0"/>
              <a:ext cx="860651" cy="296463"/>
            </a:xfrm>
            <a:prstGeom prst="rect">
              <a:avLst/>
            </a:prstGeom>
          </p:spPr>
          <p:txBody>
            <a:bodyPr lIns="50800" tIns="50800" rIns="50800" bIns="50800" rtlCol="0" anchor="ctr"/>
            <a:lstStyle/>
            <a:p>
              <a:pPr algn="ctr">
                <a:lnSpc>
                  <a:spcPts val="1680"/>
                </a:lnSpc>
              </a:pPr>
              <a:endParaRPr/>
            </a:p>
          </p:txBody>
        </p:sp>
      </p:grpSp>
      <p:sp>
        <p:nvSpPr>
          <p:cNvPr id="10" name="Freeform 10"/>
          <p:cNvSpPr/>
          <p:nvPr/>
        </p:nvSpPr>
        <p:spPr>
          <a:xfrm>
            <a:off x="9563794" y="2415455"/>
            <a:ext cx="726809" cy="726809"/>
          </a:xfrm>
          <a:custGeom>
            <a:avLst/>
            <a:gdLst/>
            <a:ahLst/>
            <a:cxnLst/>
            <a:rect l="l" t="t" r="r" b="b"/>
            <a:pathLst>
              <a:path w="726809" h="726809">
                <a:moveTo>
                  <a:pt x="0" y="0"/>
                </a:moveTo>
                <a:lnTo>
                  <a:pt x="726808" y="0"/>
                </a:lnTo>
                <a:lnTo>
                  <a:pt x="726808" y="726809"/>
                </a:lnTo>
                <a:lnTo>
                  <a:pt x="0" y="7268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1" name="Group 11"/>
          <p:cNvGrpSpPr/>
          <p:nvPr/>
        </p:nvGrpSpPr>
        <p:grpSpPr>
          <a:xfrm>
            <a:off x="5894057" y="4005254"/>
            <a:ext cx="3676529" cy="1266433"/>
            <a:chOff x="0" y="0"/>
            <a:chExt cx="860651" cy="296463"/>
          </a:xfrm>
        </p:grpSpPr>
        <p:sp>
          <p:nvSpPr>
            <p:cNvPr id="12" name="Freeform 12"/>
            <p:cNvSpPr/>
            <p:nvPr/>
          </p:nvSpPr>
          <p:spPr>
            <a:xfrm>
              <a:off x="0" y="0"/>
              <a:ext cx="860651" cy="296463"/>
            </a:xfrm>
            <a:custGeom>
              <a:avLst/>
              <a:gdLst/>
              <a:ahLst/>
              <a:cxnLst/>
              <a:rect l="l" t="t" r="r" b="b"/>
              <a:pathLst>
                <a:path w="860651" h="296463">
                  <a:moveTo>
                    <a:pt x="860651" y="65279"/>
                  </a:moveTo>
                  <a:lnTo>
                    <a:pt x="860651" y="231184"/>
                  </a:lnTo>
                  <a:cubicBezTo>
                    <a:pt x="860651" y="267237"/>
                    <a:pt x="831424" y="296463"/>
                    <a:pt x="795372" y="296463"/>
                  </a:cubicBezTo>
                  <a:lnTo>
                    <a:pt x="65279" y="296463"/>
                  </a:lnTo>
                  <a:cubicBezTo>
                    <a:pt x="47966" y="296463"/>
                    <a:pt x="31362" y="289585"/>
                    <a:pt x="19120" y="277343"/>
                  </a:cubicBezTo>
                  <a:cubicBezTo>
                    <a:pt x="6878" y="265101"/>
                    <a:pt x="0" y="248497"/>
                    <a:pt x="0" y="231184"/>
                  </a:cubicBezTo>
                  <a:lnTo>
                    <a:pt x="0" y="65279"/>
                  </a:lnTo>
                  <a:cubicBezTo>
                    <a:pt x="0" y="47966"/>
                    <a:pt x="6878" y="31362"/>
                    <a:pt x="19120" y="19120"/>
                  </a:cubicBezTo>
                  <a:cubicBezTo>
                    <a:pt x="31362" y="6878"/>
                    <a:pt x="47966" y="0"/>
                    <a:pt x="65279" y="0"/>
                  </a:cubicBezTo>
                  <a:lnTo>
                    <a:pt x="795372" y="0"/>
                  </a:lnTo>
                  <a:cubicBezTo>
                    <a:pt x="812685" y="0"/>
                    <a:pt x="829289" y="6878"/>
                    <a:pt x="841531" y="19120"/>
                  </a:cubicBezTo>
                  <a:cubicBezTo>
                    <a:pt x="853773" y="31362"/>
                    <a:pt x="860651" y="47966"/>
                    <a:pt x="860651" y="65279"/>
                  </a:cubicBezTo>
                  <a:close/>
                </a:path>
              </a:pathLst>
            </a:custGeom>
            <a:solidFill>
              <a:srgbClr val="000000">
                <a:alpha val="0"/>
              </a:srgbClr>
            </a:solidFill>
            <a:ln w="19050" cap="rnd">
              <a:solidFill>
                <a:srgbClr val="8AB2A6"/>
              </a:solidFill>
              <a:prstDash val="solid"/>
              <a:round/>
            </a:ln>
          </p:spPr>
        </p:sp>
        <p:sp>
          <p:nvSpPr>
            <p:cNvPr id="13" name="TextBox 13"/>
            <p:cNvSpPr txBox="1"/>
            <p:nvPr/>
          </p:nvSpPr>
          <p:spPr>
            <a:xfrm>
              <a:off x="0" y="0"/>
              <a:ext cx="860651" cy="296463"/>
            </a:xfrm>
            <a:prstGeom prst="rect">
              <a:avLst/>
            </a:prstGeom>
          </p:spPr>
          <p:txBody>
            <a:bodyPr lIns="50800" tIns="50800" rIns="50800" bIns="50800" rtlCol="0" anchor="ctr"/>
            <a:lstStyle/>
            <a:p>
              <a:pPr algn="ctr">
                <a:lnSpc>
                  <a:spcPts val="1680"/>
                </a:lnSpc>
              </a:pPr>
              <a:endParaRPr/>
            </a:p>
          </p:txBody>
        </p:sp>
      </p:grpSp>
      <p:grpSp>
        <p:nvGrpSpPr>
          <p:cNvPr id="14" name="Group 14"/>
          <p:cNvGrpSpPr/>
          <p:nvPr/>
        </p:nvGrpSpPr>
        <p:grpSpPr>
          <a:xfrm>
            <a:off x="1028700" y="5493990"/>
            <a:ext cx="3676529" cy="1266433"/>
            <a:chOff x="0" y="0"/>
            <a:chExt cx="860651" cy="296463"/>
          </a:xfrm>
        </p:grpSpPr>
        <p:sp>
          <p:nvSpPr>
            <p:cNvPr id="15" name="Freeform 15"/>
            <p:cNvSpPr/>
            <p:nvPr/>
          </p:nvSpPr>
          <p:spPr>
            <a:xfrm>
              <a:off x="0" y="0"/>
              <a:ext cx="860651" cy="296463"/>
            </a:xfrm>
            <a:custGeom>
              <a:avLst/>
              <a:gdLst/>
              <a:ahLst/>
              <a:cxnLst/>
              <a:rect l="l" t="t" r="r" b="b"/>
              <a:pathLst>
                <a:path w="860651" h="296463">
                  <a:moveTo>
                    <a:pt x="860651" y="65279"/>
                  </a:moveTo>
                  <a:lnTo>
                    <a:pt x="860651" y="231184"/>
                  </a:lnTo>
                  <a:cubicBezTo>
                    <a:pt x="860651" y="267237"/>
                    <a:pt x="831424" y="296463"/>
                    <a:pt x="795372" y="296463"/>
                  </a:cubicBezTo>
                  <a:lnTo>
                    <a:pt x="65279" y="296463"/>
                  </a:lnTo>
                  <a:cubicBezTo>
                    <a:pt x="47966" y="296463"/>
                    <a:pt x="31362" y="289585"/>
                    <a:pt x="19120" y="277343"/>
                  </a:cubicBezTo>
                  <a:cubicBezTo>
                    <a:pt x="6878" y="265101"/>
                    <a:pt x="0" y="248497"/>
                    <a:pt x="0" y="231184"/>
                  </a:cubicBezTo>
                  <a:lnTo>
                    <a:pt x="0" y="65279"/>
                  </a:lnTo>
                  <a:cubicBezTo>
                    <a:pt x="0" y="47966"/>
                    <a:pt x="6878" y="31362"/>
                    <a:pt x="19120" y="19120"/>
                  </a:cubicBezTo>
                  <a:cubicBezTo>
                    <a:pt x="31362" y="6878"/>
                    <a:pt x="47966" y="0"/>
                    <a:pt x="65279" y="0"/>
                  </a:cubicBezTo>
                  <a:lnTo>
                    <a:pt x="795372" y="0"/>
                  </a:lnTo>
                  <a:cubicBezTo>
                    <a:pt x="812685" y="0"/>
                    <a:pt x="829289" y="6878"/>
                    <a:pt x="841531" y="19120"/>
                  </a:cubicBezTo>
                  <a:cubicBezTo>
                    <a:pt x="853773" y="31362"/>
                    <a:pt x="860651" y="47966"/>
                    <a:pt x="860651" y="65279"/>
                  </a:cubicBezTo>
                  <a:close/>
                </a:path>
              </a:pathLst>
            </a:custGeom>
            <a:solidFill>
              <a:srgbClr val="000000">
                <a:alpha val="0"/>
              </a:srgbClr>
            </a:solidFill>
            <a:ln w="19050" cap="rnd">
              <a:solidFill>
                <a:srgbClr val="8AB2A6"/>
              </a:solidFill>
              <a:prstDash val="solid"/>
              <a:round/>
            </a:ln>
          </p:spPr>
        </p:sp>
        <p:sp>
          <p:nvSpPr>
            <p:cNvPr id="16" name="TextBox 16"/>
            <p:cNvSpPr txBox="1"/>
            <p:nvPr/>
          </p:nvSpPr>
          <p:spPr>
            <a:xfrm>
              <a:off x="0" y="0"/>
              <a:ext cx="860651" cy="296463"/>
            </a:xfrm>
            <a:prstGeom prst="rect">
              <a:avLst/>
            </a:prstGeom>
          </p:spPr>
          <p:txBody>
            <a:bodyPr lIns="50800" tIns="50800" rIns="50800" bIns="50800" rtlCol="0" anchor="ctr"/>
            <a:lstStyle/>
            <a:p>
              <a:pPr algn="ctr">
                <a:lnSpc>
                  <a:spcPts val="1680"/>
                </a:lnSpc>
              </a:pPr>
              <a:endParaRPr/>
            </a:p>
          </p:txBody>
        </p:sp>
      </p:grpSp>
      <p:grpSp>
        <p:nvGrpSpPr>
          <p:cNvPr id="17" name="Group 17"/>
          <p:cNvGrpSpPr/>
          <p:nvPr/>
        </p:nvGrpSpPr>
        <p:grpSpPr>
          <a:xfrm>
            <a:off x="5894057" y="6918346"/>
            <a:ext cx="3676529" cy="1266433"/>
            <a:chOff x="0" y="0"/>
            <a:chExt cx="860651" cy="296463"/>
          </a:xfrm>
        </p:grpSpPr>
        <p:sp>
          <p:nvSpPr>
            <p:cNvPr id="18" name="Freeform 18"/>
            <p:cNvSpPr/>
            <p:nvPr/>
          </p:nvSpPr>
          <p:spPr>
            <a:xfrm>
              <a:off x="0" y="0"/>
              <a:ext cx="860651" cy="296463"/>
            </a:xfrm>
            <a:custGeom>
              <a:avLst/>
              <a:gdLst/>
              <a:ahLst/>
              <a:cxnLst/>
              <a:rect l="l" t="t" r="r" b="b"/>
              <a:pathLst>
                <a:path w="860651" h="296463">
                  <a:moveTo>
                    <a:pt x="860651" y="65279"/>
                  </a:moveTo>
                  <a:lnTo>
                    <a:pt x="860651" y="231184"/>
                  </a:lnTo>
                  <a:cubicBezTo>
                    <a:pt x="860651" y="267237"/>
                    <a:pt x="831424" y="296463"/>
                    <a:pt x="795372" y="296463"/>
                  </a:cubicBezTo>
                  <a:lnTo>
                    <a:pt x="65279" y="296463"/>
                  </a:lnTo>
                  <a:cubicBezTo>
                    <a:pt x="47966" y="296463"/>
                    <a:pt x="31362" y="289585"/>
                    <a:pt x="19120" y="277343"/>
                  </a:cubicBezTo>
                  <a:cubicBezTo>
                    <a:pt x="6878" y="265101"/>
                    <a:pt x="0" y="248497"/>
                    <a:pt x="0" y="231184"/>
                  </a:cubicBezTo>
                  <a:lnTo>
                    <a:pt x="0" y="65279"/>
                  </a:lnTo>
                  <a:cubicBezTo>
                    <a:pt x="0" y="47966"/>
                    <a:pt x="6878" y="31362"/>
                    <a:pt x="19120" y="19120"/>
                  </a:cubicBezTo>
                  <a:cubicBezTo>
                    <a:pt x="31362" y="6878"/>
                    <a:pt x="47966" y="0"/>
                    <a:pt x="65279" y="0"/>
                  </a:cubicBezTo>
                  <a:lnTo>
                    <a:pt x="795372" y="0"/>
                  </a:lnTo>
                  <a:cubicBezTo>
                    <a:pt x="812685" y="0"/>
                    <a:pt x="829289" y="6878"/>
                    <a:pt x="841531" y="19120"/>
                  </a:cubicBezTo>
                  <a:cubicBezTo>
                    <a:pt x="853773" y="31362"/>
                    <a:pt x="860651" y="47966"/>
                    <a:pt x="860651" y="65279"/>
                  </a:cubicBezTo>
                  <a:close/>
                </a:path>
              </a:pathLst>
            </a:custGeom>
            <a:solidFill>
              <a:srgbClr val="000000">
                <a:alpha val="0"/>
              </a:srgbClr>
            </a:solidFill>
            <a:ln w="19050" cap="rnd">
              <a:solidFill>
                <a:srgbClr val="8AB2A6"/>
              </a:solidFill>
              <a:prstDash val="solid"/>
              <a:round/>
            </a:ln>
          </p:spPr>
        </p:sp>
        <p:sp>
          <p:nvSpPr>
            <p:cNvPr id="19" name="TextBox 19"/>
            <p:cNvSpPr txBox="1"/>
            <p:nvPr/>
          </p:nvSpPr>
          <p:spPr>
            <a:xfrm>
              <a:off x="0" y="0"/>
              <a:ext cx="860651" cy="296463"/>
            </a:xfrm>
            <a:prstGeom prst="rect">
              <a:avLst/>
            </a:prstGeom>
          </p:spPr>
          <p:txBody>
            <a:bodyPr lIns="50800" tIns="50800" rIns="50800" bIns="50800" rtlCol="0" anchor="ctr"/>
            <a:lstStyle/>
            <a:p>
              <a:pPr algn="ctr">
                <a:lnSpc>
                  <a:spcPts val="1680"/>
                </a:lnSpc>
              </a:pPr>
              <a:endParaRPr/>
            </a:p>
          </p:txBody>
        </p:sp>
      </p:grpSp>
      <p:grpSp>
        <p:nvGrpSpPr>
          <p:cNvPr id="20" name="Group 20"/>
          <p:cNvGrpSpPr/>
          <p:nvPr/>
        </p:nvGrpSpPr>
        <p:grpSpPr>
          <a:xfrm>
            <a:off x="1028700" y="8313440"/>
            <a:ext cx="3676529" cy="1366519"/>
            <a:chOff x="0" y="0"/>
            <a:chExt cx="860651" cy="319893"/>
          </a:xfrm>
        </p:grpSpPr>
        <p:sp>
          <p:nvSpPr>
            <p:cNvPr id="21" name="Freeform 21"/>
            <p:cNvSpPr/>
            <p:nvPr/>
          </p:nvSpPr>
          <p:spPr>
            <a:xfrm>
              <a:off x="0" y="0"/>
              <a:ext cx="860651" cy="319893"/>
            </a:xfrm>
            <a:custGeom>
              <a:avLst/>
              <a:gdLst/>
              <a:ahLst/>
              <a:cxnLst/>
              <a:rect l="l" t="t" r="r" b="b"/>
              <a:pathLst>
                <a:path w="860651" h="319893">
                  <a:moveTo>
                    <a:pt x="860651" y="65279"/>
                  </a:moveTo>
                  <a:lnTo>
                    <a:pt x="860651" y="254614"/>
                  </a:lnTo>
                  <a:cubicBezTo>
                    <a:pt x="860651" y="290666"/>
                    <a:pt x="831424" y="319893"/>
                    <a:pt x="795372" y="319893"/>
                  </a:cubicBezTo>
                  <a:lnTo>
                    <a:pt x="65279" y="319893"/>
                  </a:lnTo>
                  <a:cubicBezTo>
                    <a:pt x="47966" y="319893"/>
                    <a:pt x="31362" y="313015"/>
                    <a:pt x="19120" y="300773"/>
                  </a:cubicBezTo>
                  <a:cubicBezTo>
                    <a:pt x="6878" y="288531"/>
                    <a:pt x="0" y="271927"/>
                    <a:pt x="0" y="254614"/>
                  </a:cubicBezTo>
                  <a:lnTo>
                    <a:pt x="0" y="65279"/>
                  </a:lnTo>
                  <a:cubicBezTo>
                    <a:pt x="0" y="47966"/>
                    <a:pt x="6878" y="31362"/>
                    <a:pt x="19120" y="19120"/>
                  </a:cubicBezTo>
                  <a:cubicBezTo>
                    <a:pt x="31362" y="6878"/>
                    <a:pt x="47966" y="0"/>
                    <a:pt x="65279" y="0"/>
                  </a:cubicBezTo>
                  <a:lnTo>
                    <a:pt x="795372" y="0"/>
                  </a:lnTo>
                  <a:cubicBezTo>
                    <a:pt x="812685" y="0"/>
                    <a:pt x="829289" y="6878"/>
                    <a:pt x="841531" y="19120"/>
                  </a:cubicBezTo>
                  <a:cubicBezTo>
                    <a:pt x="853773" y="31362"/>
                    <a:pt x="860651" y="47966"/>
                    <a:pt x="860651" y="65279"/>
                  </a:cubicBezTo>
                  <a:close/>
                </a:path>
              </a:pathLst>
            </a:custGeom>
            <a:solidFill>
              <a:srgbClr val="000000">
                <a:alpha val="0"/>
              </a:srgbClr>
            </a:solidFill>
            <a:ln w="19050" cap="rnd">
              <a:solidFill>
                <a:srgbClr val="8AB2A6"/>
              </a:solidFill>
              <a:prstDash val="solid"/>
              <a:round/>
            </a:ln>
          </p:spPr>
        </p:sp>
        <p:sp>
          <p:nvSpPr>
            <p:cNvPr id="22" name="TextBox 22"/>
            <p:cNvSpPr txBox="1"/>
            <p:nvPr/>
          </p:nvSpPr>
          <p:spPr>
            <a:xfrm>
              <a:off x="0" y="0"/>
              <a:ext cx="860651" cy="319893"/>
            </a:xfrm>
            <a:prstGeom prst="rect">
              <a:avLst/>
            </a:prstGeom>
          </p:spPr>
          <p:txBody>
            <a:bodyPr lIns="50800" tIns="50800" rIns="50800" bIns="50800" rtlCol="0" anchor="ctr"/>
            <a:lstStyle/>
            <a:p>
              <a:pPr algn="ctr">
                <a:lnSpc>
                  <a:spcPts val="1680"/>
                </a:lnSpc>
              </a:pPr>
              <a:endParaRPr/>
            </a:p>
          </p:txBody>
        </p:sp>
      </p:grpSp>
      <p:sp>
        <p:nvSpPr>
          <p:cNvPr id="23" name="Freeform 23"/>
          <p:cNvSpPr/>
          <p:nvPr/>
        </p:nvSpPr>
        <p:spPr>
          <a:xfrm>
            <a:off x="11378567" y="3599993"/>
            <a:ext cx="5959539" cy="5054427"/>
          </a:xfrm>
          <a:custGeom>
            <a:avLst/>
            <a:gdLst/>
            <a:ahLst/>
            <a:cxnLst/>
            <a:rect l="l" t="t" r="r" b="b"/>
            <a:pathLst>
              <a:path w="5959539" h="5054427">
                <a:moveTo>
                  <a:pt x="0" y="0"/>
                </a:moveTo>
                <a:lnTo>
                  <a:pt x="5959539" y="0"/>
                </a:lnTo>
                <a:lnTo>
                  <a:pt x="5959539" y="5054426"/>
                </a:lnTo>
                <a:lnTo>
                  <a:pt x="0" y="5054426"/>
                </a:lnTo>
                <a:lnTo>
                  <a:pt x="0" y="0"/>
                </a:lnTo>
                <a:close/>
              </a:path>
            </a:pathLst>
          </a:custGeom>
          <a:blipFill>
            <a:blip r:embed="rId7"/>
            <a:stretch>
              <a:fillRect l="-3507" r="-8470"/>
            </a:stretch>
          </a:blipFill>
        </p:spPr>
      </p:sp>
      <p:sp>
        <p:nvSpPr>
          <p:cNvPr id="24" name="TextBox 24"/>
          <p:cNvSpPr txBox="1"/>
          <p:nvPr/>
        </p:nvSpPr>
        <p:spPr>
          <a:xfrm>
            <a:off x="1028700" y="874303"/>
            <a:ext cx="9657201" cy="1074427"/>
          </a:xfrm>
          <a:prstGeom prst="rect">
            <a:avLst/>
          </a:prstGeom>
        </p:spPr>
        <p:txBody>
          <a:bodyPr lIns="0" tIns="0" rIns="0" bIns="0" rtlCol="0" anchor="t">
            <a:spAutoFit/>
          </a:bodyPr>
          <a:lstStyle/>
          <a:p>
            <a:pPr algn="l">
              <a:lnSpc>
                <a:spcPts val="7960"/>
              </a:lnSpc>
            </a:pPr>
            <a:r>
              <a:rPr lang="en-US" sz="8379" spc="-335" dirty="0">
                <a:solidFill>
                  <a:schemeClr val="bg1"/>
                </a:solidFill>
                <a:latin typeface="Anton Italics"/>
                <a:ea typeface="Anton Italics"/>
                <a:cs typeface="Anton Italics"/>
                <a:sym typeface="Anton Italics"/>
              </a:rPr>
              <a:t>DATA STRUCTURES APPLIED</a:t>
            </a:r>
          </a:p>
        </p:txBody>
      </p:sp>
      <p:sp>
        <p:nvSpPr>
          <p:cNvPr id="25" name="TextBox 25"/>
          <p:cNvSpPr txBox="1"/>
          <p:nvPr/>
        </p:nvSpPr>
        <p:spPr>
          <a:xfrm>
            <a:off x="1299797" y="2676561"/>
            <a:ext cx="3343920" cy="763270"/>
          </a:xfrm>
          <a:prstGeom prst="rect">
            <a:avLst/>
          </a:prstGeom>
        </p:spPr>
        <p:txBody>
          <a:bodyPr lIns="0" tIns="0" rIns="0" bIns="0" rtlCol="0" anchor="t">
            <a:spAutoFit/>
          </a:bodyPr>
          <a:lstStyle/>
          <a:p>
            <a:pPr algn="l">
              <a:lnSpc>
                <a:spcPts val="3079"/>
              </a:lnSpc>
            </a:pPr>
            <a:r>
              <a:rPr lang="en-US" sz="2199" b="1" spc="-43">
                <a:solidFill>
                  <a:srgbClr val="F4C01E"/>
                </a:solidFill>
                <a:latin typeface="Open Sauce Bold"/>
                <a:ea typeface="Open Sauce Bold"/>
                <a:cs typeface="Open Sauce Bold"/>
                <a:sym typeface="Open Sauce Bold"/>
              </a:rPr>
              <a:t>Graph (Adjacency List):</a:t>
            </a:r>
            <a:r>
              <a:rPr lang="en-US" sz="2199" spc="-43">
                <a:solidFill>
                  <a:srgbClr val="FFFFFF"/>
                </a:solidFill>
                <a:latin typeface="Open Sauce"/>
                <a:ea typeface="Open Sauce"/>
                <a:cs typeface="Open Sauce"/>
                <a:sym typeface="Open Sauce"/>
              </a:rPr>
              <a:t> Maze representation</a:t>
            </a:r>
          </a:p>
        </p:txBody>
      </p:sp>
      <p:sp>
        <p:nvSpPr>
          <p:cNvPr id="26" name="TextBox 26"/>
          <p:cNvSpPr txBox="1"/>
          <p:nvPr/>
        </p:nvSpPr>
        <p:spPr>
          <a:xfrm>
            <a:off x="4943241" y="2244005"/>
            <a:ext cx="386755" cy="1566544"/>
          </a:xfrm>
          <a:prstGeom prst="rect">
            <a:avLst/>
          </a:prstGeom>
        </p:spPr>
        <p:txBody>
          <a:bodyPr lIns="0" tIns="0" rIns="0" bIns="0" rtlCol="0" anchor="t">
            <a:spAutoFit/>
          </a:bodyPr>
          <a:lstStyle/>
          <a:p>
            <a:pPr algn="ctr">
              <a:lnSpc>
                <a:spcPts val="12880"/>
              </a:lnSpc>
            </a:pPr>
            <a:r>
              <a:rPr lang="en-US" sz="9200">
                <a:solidFill>
                  <a:srgbClr val="F4C01E"/>
                </a:solidFill>
                <a:latin typeface="Anton"/>
                <a:ea typeface="Anton"/>
                <a:cs typeface="Anton"/>
                <a:sym typeface="Anton"/>
              </a:rPr>
              <a:t>1</a:t>
            </a:r>
          </a:p>
        </p:txBody>
      </p:sp>
      <p:sp>
        <p:nvSpPr>
          <p:cNvPr id="27" name="TextBox 27"/>
          <p:cNvSpPr txBox="1"/>
          <p:nvPr/>
        </p:nvSpPr>
        <p:spPr>
          <a:xfrm>
            <a:off x="6220671" y="4273345"/>
            <a:ext cx="3185376" cy="763270"/>
          </a:xfrm>
          <a:prstGeom prst="rect">
            <a:avLst/>
          </a:prstGeom>
        </p:spPr>
        <p:txBody>
          <a:bodyPr lIns="0" tIns="0" rIns="0" bIns="0" rtlCol="0" anchor="t">
            <a:spAutoFit/>
          </a:bodyPr>
          <a:lstStyle/>
          <a:p>
            <a:pPr algn="l">
              <a:lnSpc>
                <a:spcPts val="3079"/>
              </a:lnSpc>
            </a:pPr>
            <a:r>
              <a:rPr lang="en-US" sz="2199" b="1" spc="-43">
                <a:solidFill>
                  <a:srgbClr val="F4C01E"/>
                </a:solidFill>
                <a:latin typeface="Open Sauce Bold"/>
                <a:ea typeface="Open Sauce Bold"/>
                <a:cs typeface="Open Sauce Bold"/>
                <a:sym typeface="Open Sauce Bold"/>
              </a:rPr>
              <a:t>Stack: </a:t>
            </a:r>
          </a:p>
          <a:p>
            <a:pPr algn="l">
              <a:lnSpc>
                <a:spcPts val="3079"/>
              </a:lnSpc>
            </a:pPr>
            <a:r>
              <a:rPr lang="en-US" sz="2199" spc="-43">
                <a:solidFill>
                  <a:srgbClr val="FFFFFF"/>
                </a:solidFill>
                <a:latin typeface="Open Sauce"/>
                <a:ea typeface="Open Sauce"/>
                <a:cs typeface="Open Sauce"/>
                <a:sym typeface="Open Sauce"/>
              </a:rPr>
              <a:t>DFS &amp; undo operations</a:t>
            </a:r>
          </a:p>
        </p:txBody>
      </p:sp>
      <p:sp>
        <p:nvSpPr>
          <p:cNvPr id="28" name="TextBox 28"/>
          <p:cNvSpPr txBox="1"/>
          <p:nvPr/>
        </p:nvSpPr>
        <p:spPr>
          <a:xfrm>
            <a:off x="9713348" y="3805229"/>
            <a:ext cx="577255" cy="1566544"/>
          </a:xfrm>
          <a:prstGeom prst="rect">
            <a:avLst/>
          </a:prstGeom>
        </p:spPr>
        <p:txBody>
          <a:bodyPr lIns="0" tIns="0" rIns="0" bIns="0" rtlCol="0" anchor="t">
            <a:spAutoFit/>
          </a:bodyPr>
          <a:lstStyle/>
          <a:p>
            <a:pPr algn="ctr">
              <a:lnSpc>
                <a:spcPts val="12880"/>
              </a:lnSpc>
            </a:pPr>
            <a:r>
              <a:rPr lang="en-US" sz="9200">
                <a:solidFill>
                  <a:srgbClr val="F4C01E"/>
                </a:solidFill>
                <a:latin typeface="Anton"/>
                <a:ea typeface="Anton"/>
                <a:cs typeface="Anton"/>
                <a:sym typeface="Anton"/>
              </a:rPr>
              <a:t>2</a:t>
            </a:r>
          </a:p>
        </p:txBody>
      </p:sp>
      <p:sp>
        <p:nvSpPr>
          <p:cNvPr id="29" name="TextBox 29"/>
          <p:cNvSpPr txBox="1"/>
          <p:nvPr/>
        </p:nvSpPr>
        <p:spPr>
          <a:xfrm>
            <a:off x="1345789" y="5762081"/>
            <a:ext cx="3185376" cy="763270"/>
          </a:xfrm>
          <a:prstGeom prst="rect">
            <a:avLst/>
          </a:prstGeom>
        </p:spPr>
        <p:txBody>
          <a:bodyPr lIns="0" tIns="0" rIns="0" bIns="0" rtlCol="0" anchor="t">
            <a:spAutoFit/>
          </a:bodyPr>
          <a:lstStyle/>
          <a:p>
            <a:pPr algn="l">
              <a:lnSpc>
                <a:spcPts val="3079"/>
              </a:lnSpc>
            </a:pPr>
            <a:r>
              <a:rPr lang="en-US" sz="2199" b="1" spc="-43">
                <a:solidFill>
                  <a:srgbClr val="F4C01E"/>
                </a:solidFill>
                <a:latin typeface="Open Sauce Bold"/>
                <a:ea typeface="Open Sauce Bold"/>
                <a:cs typeface="Open Sauce Bold"/>
                <a:sym typeface="Open Sauce Bold"/>
              </a:rPr>
              <a:t>Queue:</a:t>
            </a:r>
          </a:p>
          <a:p>
            <a:pPr algn="l">
              <a:lnSpc>
                <a:spcPts val="3079"/>
              </a:lnSpc>
            </a:pPr>
            <a:r>
              <a:rPr lang="en-US" sz="2199" spc="-43">
                <a:solidFill>
                  <a:srgbClr val="FFFFFF"/>
                </a:solidFill>
                <a:latin typeface="Open Sauce"/>
                <a:ea typeface="Open Sauce"/>
                <a:cs typeface="Open Sauce"/>
                <a:sym typeface="Open Sauce"/>
              </a:rPr>
              <a:t>BFS traversal</a:t>
            </a:r>
          </a:p>
        </p:txBody>
      </p:sp>
      <p:sp>
        <p:nvSpPr>
          <p:cNvPr id="30" name="TextBox 30"/>
          <p:cNvSpPr txBox="1"/>
          <p:nvPr/>
        </p:nvSpPr>
        <p:spPr>
          <a:xfrm>
            <a:off x="4847991" y="5293965"/>
            <a:ext cx="577255" cy="1566544"/>
          </a:xfrm>
          <a:prstGeom prst="rect">
            <a:avLst/>
          </a:prstGeom>
        </p:spPr>
        <p:txBody>
          <a:bodyPr lIns="0" tIns="0" rIns="0" bIns="0" rtlCol="0" anchor="t">
            <a:spAutoFit/>
          </a:bodyPr>
          <a:lstStyle/>
          <a:p>
            <a:pPr algn="ctr">
              <a:lnSpc>
                <a:spcPts val="12880"/>
              </a:lnSpc>
            </a:pPr>
            <a:r>
              <a:rPr lang="en-US" sz="9200">
                <a:solidFill>
                  <a:srgbClr val="F4C01E"/>
                </a:solidFill>
                <a:latin typeface="Anton"/>
                <a:ea typeface="Anton"/>
                <a:cs typeface="Anton"/>
                <a:sym typeface="Anton"/>
              </a:rPr>
              <a:t>3</a:t>
            </a:r>
          </a:p>
        </p:txBody>
      </p:sp>
      <p:sp>
        <p:nvSpPr>
          <p:cNvPr id="31" name="TextBox 31"/>
          <p:cNvSpPr txBox="1"/>
          <p:nvPr/>
        </p:nvSpPr>
        <p:spPr>
          <a:xfrm>
            <a:off x="6096697" y="7186437"/>
            <a:ext cx="3502465" cy="763270"/>
          </a:xfrm>
          <a:prstGeom prst="rect">
            <a:avLst/>
          </a:prstGeom>
        </p:spPr>
        <p:txBody>
          <a:bodyPr lIns="0" tIns="0" rIns="0" bIns="0" rtlCol="0" anchor="t">
            <a:spAutoFit/>
          </a:bodyPr>
          <a:lstStyle/>
          <a:p>
            <a:pPr algn="l">
              <a:lnSpc>
                <a:spcPts val="3079"/>
              </a:lnSpc>
            </a:pPr>
            <a:r>
              <a:rPr lang="en-US" sz="2199" b="1" spc="-43">
                <a:solidFill>
                  <a:srgbClr val="F4C01E"/>
                </a:solidFill>
                <a:latin typeface="Open Sauce Bold"/>
                <a:ea typeface="Open Sauce Bold"/>
                <a:cs typeface="Open Sauce Bold"/>
                <a:sym typeface="Open Sauce Bold"/>
              </a:rPr>
              <a:t>AVL Tree: </a:t>
            </a:r>
          </a:p>
          <a:p>
            <a:pPr algn="l">
              <a:lnSpc>
                <a:spcPts val="3079"/>
              </a:lnSpc>
            </a:pPr>
            <a:r>
              <a:rPr lang="en-US" sz="2199" spc="-43">
                <a:solidFill>
                  <a:srgbClr val="FFFFFF"/>
                </a:solidFill>
                <a:latin typeface="Open Sauce"/>
                <a:ea typeface="Open Sauce"/>
                <a:cs typeface="Open Sauce"/>
                <a:sym typeface="Open Sauce"/>
              </a:rPr>
              <a:t>Leaderboard ranking</a:t>
            </a:r>
          </a:p>
        </p:txBody>
      </p:sp>
      <p:sp>
        <p:nvSpPr>
          <p:cNvPr id="32" name="TextBox 32"/>
          <p:cNvSpPr txBox="1"/>
          <p:nvPr/>
        </p:nvSpPr>
        <p:spPr>
          <a:xfrm>
            <a:off x="9713348" y="6718321"/>
            <a:ext cx="577255" cy="1566544"/>
          </a:xfrm>
          <a:prstGeom prst="rect">
            <a:avLst/>
          </a:prstGeom>
        </p:spPr>
        <p:txBody>
          <a:bodyPr lIns="0" tIns="0" rIns="0" bIns="0" rtlCol="0" anchor="t">
            <a:spAutoFit/>
          </a:bodyPr>
          <a:lstStyle/>
          <a:p>
            <a:pPr algn="ctr">
              <a:lnSpc>
                <a:spcPts val="12880"/>
              </a:lnSpc>
            </a:pPr>
            <a:r>
              <a:rPr lang="en-US" sz="9200">
                <a:solidFill>
                  <a:srgbClr val="F4C01E"/>
                </a:solidFill>
                <a:latin typeface="Anton"/>
                <a:ea typeface="Anton"/>
                <a:cs typeface="Anton"/>
                <a:sym typeface="Anton"/>
              </a:rPr>
              <a:t>4</a:t>
            </a:r>
          </a:p>
        </p:txBody>
      </p:sp>
      <p:sp>
        <p:nvSpPr>
          <p:cNvPr id="33" name="TextBox 33"/>
          <p:cNvSpPr txBox="1"/>
          <p:nvPr/>
        </p:nvSpPr>
        <p:spPr>
          <a:xfrm>
            <a:off x="1345789" y="8477016"/>
            <a:ext cx="3359441" cy="1029843"/>
          </a:xfrm>
          <a:prstGeom prst="rect">
            <a:avLst/>
          </a:prstGeom>
        </p:spPr>
        <p:txBody>
          <a:bodyPr lIns="0" tIns="0" rIns="0" bIns="0" rtlCol="0" anchor="t">
            <a:spAutoFit/>
          </a:bodyPr>
          <a:lstStyle/>
          <a:p>
            <a:pPr algn="l">
              <a:lnSpc>
                <a:spcPts val="2705"/>
              </a:lnSpc>
            </a:pPr>
            <a:r>
              <a:rPr lang="en-US" sz="2199" b="1" spc="-43">
                <a:solidFill>
                  <a:srgbClr val="F4C01E"/>
                </a:solidFill>
                <a:latin typeface="Open Sauce Bold"/>
                <a:ea typeface="Open Sauce Bold"/>
                <a:cs typeface="Open Sauce Bold"/>
                <a:sym typeface="Open Sauce Bold"/>
              </a:rPr>
              <a:t>Vectors &amp; Maps: </a:t>
            </a:r>
          </a:p>
          <a:p>
            <a:pPr algn="l">
              <a:lnSpc>
                <a:spcPts val="2705"/>
              </a:lnSpc>
            </a:pPr>
            <a:r>
              <a:rPr lang="en-US" sz="2199" spc="-43">
                <a:solidFill>
                  <a:srgbClr val="FFFFFF"/>
                </a:solidFill>
                <a:latin typeface="Open Sauce"/>
                <a:ea typeface="Open Sauce"/>
                <a:cs typeface="Open Sauce"/>
                <a:sym typeface="Open Sauce"/>
              </a:rPr>
              <a:t>Grid and state management</a:t>
            </a:r>
          </a:p>
        </p:txBody>
      </p:sp>
      <p:sp>
        <p:nvSpPr>
          <p:cNvPr id="34" name="TextBox 34"/>
          <p:cNvSpPr txBox="1"/>
          <p:nvPr/>
        </p:nvSpPr>
        <p:spPr>
          <a:xfrm>
            <a:off x="4847991" y="8113415"/>
            <a:ext cx="577255" cy="1566544"/>
          </a:xfrm>
          <a:prstGeom prst="rect">
            <a:avLst/>
          </a:prstGeom>
        </p:spPr>
        <p:txBody>
          <a:bodyPr lIns="0" tIns="0" rIns="0" bIns="0" rtlCol="0" anchor="t">
            <a:spAutoFit/>
          </a:bodyPr>
          <a:lstStyle/>
          <a:p>
            <a:pPr algn="ctr">
              <a:lnSpc>
                <a:spcPts val="12880"/>
              </a:lnSpc>
            </a:pPr>
            <a:r>
              <a:rPr lang="en-US" sz="9200">
                <a:solidFill>
                  <a:srgbClr val="F4C01E"/>
                </a:solidFill>
                <a:latin typeface="Anton"/>
                <a:ea typeface="Anton"/>
                <a:cs typeface="Anton"/>
                <a:sym typeface="Anton"/>
              </a:rPr>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dirty="0"/>
          </a:p>
        </p:txBody>
      </p:sp>
      <p:grpSp>
        <p:nvGrpSpPr>
          <p:cNvPr id="3" name="Group 3"/>
          <p:cNvGrpSpPr/>
          <p:nvPr/>
        </p:nvGrpSpPr>
        <p:grpSpPr>
          <a:xfrm>
            <a:off x="-222452" y="2410375"/>
            <a:ext cx="3298345" cy="2733125"/>
            <a:chOff x="0" y="0"/>
            <a:chExt cx="868700" cy="719835"/>
          </a:xfrm>
        </p:grpSpPr>
        <p:sp>
          <p:nvSpPr>
            <p:cNvPr id="4" name="Freeform 4"/>
            <p:cNvSpPr/>
            <p:nvPr/>
          </p:nvSpPr>
          <p:spPr>
            <a:xfrm>
              <a:off x="0" y="0"/>
              <a:ext cx="868700" cy="719835"/>
            </a:xfrm>
            <a:custGeom>
              <a:avLst/>
              <a:gdLst/>
              <a:ahLst/>
              <a:cxnLst/>
              <a:rect l="l" t="t" r="r" b="b"/>
              <a:pathLst>
                <a:path w="868700" h="719835">
                  <a:moveTo>
                    <a:pt x="0" y="0"/>
                  </a:moveTo>
                  <a:lnTo>
                    <a:pt x="868700" y="0"/>
                  </a:lnTo>
                  <a:lnTo>
                    <a:pt x="868700" y="719835"/>
                  </a:lnTo>
                  <a:lnTo>
                    <a:pt x="0" y="719835"/>
                  </a:lnTo>
                  <a:close/>
                </a:path>
              </a:pathLst>
            </a:custGeom>
            <a:gradFill rotWithShape="1">
              <a:gsLst>
                <a:gs pos="0">
                  <a:srgbClr val="F5D739">
                    <a:alpha val="100000"/>
                  </a:srgbClr>
                </a:gs>
                <a:gs pos="100000">
                  <a:srgbClr val="3E9D81">
                    <a:alpha val="0"/>
                  </a:srgbClr>
                </a:gs>
              </a:gsLst>
              <a:lin ang="0"/>
            </a:gradFill>
          </p:spPr>
        </p:sp>
        <p:sp>
          <p:nvSpPr>
            <p:cNvPr id="5" name="TextBox 5"/>
            <p:cNvSpPr txBox="1"/>
            <p:nvPr/>
          </p:nvSpPr>
          <p:spPr>
            <a:xfrm>
              <a:off x="0" y="-28575"/>
              <a:ext cx="868700" cy="748410"/>
            </a:xfrm>
            <a:prstGeom prst="rect">
              <a:avLst/>
            </a:prstGeom>
          </p:spPr>
          <p:txBody>
            <a:bodyPr lIns="50800" tIns="50800" rIns="50800" bIns="50800" rtlCol="0" anchor="ctr"/>
            <a:lstStyle/>
            <a:p>
              <a:pPr algn="ctr">
                <a:lnSpc>
                  <a:spcPts val="1960"/>
                </a:lnSpc>
              </a:pPr>
              <a:endParaRPr/>
            </a:p>
          </p:txBody>
        </p:sp>
      </p:grpSp>
      <p:sp>
        <p:nvSpPr>
          <p:cNvPr id="6" name="Freeform 6"/>
          <p:cNvSpPr/>
          <p:nvPr/>
        </p:nvSpPr>
        <p:spPr>
          <a:xfrm>
            <a:off x="15737248" y="3330860"/>
            <a:ext cx="726809" cy="726809"/>
          </a:xfrm>
          <a:custGeom>
            <a:avLst/>
            <a:gdLst/>
            <a:ahLst/>
            <a:cxnLst/>
            <a:rect l="l" t="t" r="r" b="b"/>
            <a:pathLst>
              <a:path w="726809" h="726809">
                <a:moveTo>
                  <a:pt x="0" y="0"/>
                </a:moveTo>
                <a:lnTo>
                  <a:pt x="726808" y="0"/>
                </a:lnTo>
                <a:lnTo>
                  <a:pt x="726808" y="726809"/>
                </a:lnTo>
                <a:lnTo>
                  <a:pt x="0" y="72680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222452" y="7611650"/>
            <a:ext cx="3298345" cy="1077780"/>
            <a:chOff x="0" y="0"/>
            <a:chExt cx="868700" cy="283860"/>
          </a:xfrm>
        </p:grpSpPr>
        <p:sp>
          <p:nvSpPr>
            <p:cNvPr id="8" name="Freeform 8"/>
            <p:cNvSpPr/>
            <p:nvPr/>
          </p:nvSpPr>
          <p:spPr>
            <a:xfrm>
              <a:off x="0" y="0"/>
              <a:ext cx="868700" cy="283860"/>
            </a:xfrm>
            <a:custGeom>
              <a:avLst/>
              <a:gdLst/>
              <a:ahLst/>
              <a:cxnLst/>
              <a:rect l="l" t="t" r="r" b="b"/>
              <a:pathLst>
                <a:path w="868700" h="283860">
                  <a:moveTo>
                    <a:pt x="0" y="0"/>
                  </a:moveTo>
                  <a:lnTo>
                    <a:pt x="868700" y="0"/>
                  </a:lnTo>
                  <a:lnTo>
                    <a:pt x="868700" y="283860"/>
                  </a:lnTo>
                  <a:lnTo>
                    <a:pt x="0" y="283860"/>
                  </a:lnTo>
                  <a:close/>
                </a:path>
              </a:pathLst>
            </a:custGeom>
            <a:gradFill rotWithShape="1">
              <a:gsLst>
                <a:gs pos="0">
                  <a:srgbClr val="F5D739">
                    <a:alpha val="100000"/>
                  </a:srgbClr>
                </a:gs>
                <a:gs pos="100000">
                  <a:srgbClr val="3E9D81">
                    <a:alpha val="0"/>
                  </a:srgbClr>
                </a:gs>
              </a:gsLst>
              <a:lin ang="0"/>
            </a:gradFill>
          </p:spPr>
        </p:sp>
        <p:sp>
          <p:nvSpPr>
            <p:cNvPr id="9" name="TextBox 9"/>
            <p:cNvSpPr txBox="1"/>
            <p:nvPr/>
          </p:nvSpPr>
          <p:spPr>
            <a:xfrm>
              <a:off x="0" y="-28575"/>
              <a:ext cx="868700" cy="312435"/>
            </a:xfrm>
            <a:prstGeom prst="rect">
              <a:avLst/>
            </a:prstGeom>
          </p:spPr>
          <p:txBody>
            <a:bodyPr lIns="50800" tIns="50800" rIns="50800" bIns="50800" rtlCol="0" anchor="ctr"/>
            <a:lstStyle/>
            <a:p>
              <a:pPr algn="ctr">
                <a:lnSpc>
                  <a:spcPts val="1960"/>
                </a:lnSpc>
              </a:pPr>
              <a:endParaRPr/>
            </a:p>
          </p:txBody>
        </p:sp>
      </p:grpSp>
      <p:sp>
        <p:nvSpPr>
          <p:cNvPr id="10" name="Freeform 10"/>
          <p:cNvSpPr/>
          <p:nvPr/>
        </p:nvSpPr>
        <p:spPr>
          <a:xfrm>
            <a:off x="815353" y="977529"/>
            <a:ext cx="7297872" cy="5653765"/>
          </a:xfrm>
          <a:custGeom>
            <a:avLst/>
            <a:gdLst/>
            <a:ahLst/>
            <a:cxnLst/>
            <a:rect l="l" t="t" r="r" b="b"/>
            <a:pathLst>
              <a:path w="7297872" h="5653765">
                <a:moveTo>
                  <a:pt x="0" y="0"/>
                </a:moveTo>
                <a:lnTo>
                  <a:pt x="7297873" y="0"/>
                </a:lnTo>
                <a:lnTo>
                  <a:pt x="7297873" y="5653765"/>
                </a:lnTo>
                <a:lnTo>
                  <a:pt x="0" y="5653765"/>
                </a:lnTo>
                <a:lnTo>
                  <a:pt x="0" y="0"/>
                </a:lnTo>
                <a:close/>
              </a:path>
            </a:pathLst>
          </a:custGeom>
          <a:blipFill>
            <a:blip r:embed="rId5"/>
            <a:stretch>
              <a:fillRect l="-218" t="-21189" r="-67027"/>
            </a:stretch>
          </a:blipFill>
          <a:ln w="19050" cap="sq">
            <a:solidFill>
              <a:srgbClr val="FFFFFF"/>
            </a:solidFill>
            <a:prstDash val="solid"/>
            <a:miter/>
          </a:ln>
        </p:spPr>
      </p:sp>
      <p:sp>
        <p:nvSpPr>
          <p:cNvPr id="11" name="Freeform 11"/>
          <p:cNvSpPr/>
          <p:nvPr/>
        </p:nvSpPr>
        <p:spPr>
          <a:xfrm>
            <a:off x="815353" y="7090286"/>
            <a:ext cx="7297872" cy="2168014"/>
          </a:xfrm>
          <a:custGeom>
            <a:avLst/>
            <a:gdLst/>
            <a:ahLst/>
            <a:cxnLst/>
            <a:rect l="l" t="t" r="r" b="b"/>
            <a:pathLst>
              <a:path w="7297872" h="2168014">
                <a:moveTo>
                  <a:pt x="0" y="0"/>
                </a:moveTo>
                <a:lnTo>
                  <a:pt x="7297873" y="0"/>
                </a:lnTo>
                <a:lnTo>
                  <a:pt x="7297873" y="2168014"/>
                </a:lnTo>
                <a:lnTo>
                  <a:pt x="0" y="2168014"/>
                </a:lnTo>
                <a:lnTo>
                  <a:pt x="0" y="0"/>
                </a:lnTo>
                <a:close/>
              </a:path>
            </a:pathLst>
          </a:custGeom>
          <a:blipFill>
            <a:blip r:embed="rId6"/>
            <a:stretch>
              <a:fillRect r="-10027"/>
            </a:stretch>
          </a:blipFill>
          <a:ln w="19050" cap="sq">
            <a:solidFill>
              <a:srgbClr val="FFFFFF"/>
            </a:solidFill>
            <a:prstDash val="solid"/>
            <a:miter/>
          </a:ln>
        </p:spPr>
      </p:sp>
      <p:sp>
        <p:nvSpPr>
          <p:cNvPr id="12" name="TextBox 12"/>
          <p:cNvSpPr txBox="1"/>
          <p:nvPr/>
        </p:nvSpPr>
        <p:spPr>
          <a:xfrm>
            <a:off x="9144000" y="2199073"/>
            <a:ext cx="6956652" cy="1236713"/>
          </a:xfrm>
          <a:prstGeom prst="rect">
            <a:avLst/>
          </a:prstGeom>
        </p:spPr>
        <p:txBody>
          <a:bodyPr lIns="0" tIns="0" rIns="0" bIns="0" rtlCol="0" anchor="t">
            <a:spAutoFit/>
          </a:bodyPr>
          <a:lstStyle/>
          <a:p>
            <a:pPr algn="l">
              <a:lnSpc>
                <a:spcPts val="9157"/>
              </a:lnSpc>
            </a:pPr>
            <a:r>
              <a:rPr lang="en-US" sz="9639" spc="-385" dirty="0">
                <a:solidFill>
                  <a:schemeClr val="bg1"/>
                </a:solidFill>
                <a:latin typeface="Anton Italics"/>
                <a:ea typeface="Anton Italics"/>
                <a:cs typeface="Anton Italics"/>
                <a:sym typeface="Anton Italics"/>
              </a:rPr>
              <a:t>KEY FEATURES</a:t>
            </a:r>
          </a:p>
        </p:txBody>
      </p:sp>
      <p:sp>
        <p:nvSpPr>
          <p:cNvPr id="13" name="TextBox 13"/>
          <p:cNvSpPr txBox="1"/>
          <p:nvPr/>
        </p:nvSpPr>
        <p:spPr>
          <a:xfrm>
            <a:off x="9382752" y="4048144"/>
            <a:ext cx="6000966" cy="4126149"/>
          </a:xfrm>
          <a:prstGeom prst="rect">
            <a:avLst/>
          </a:prstGeom>
        </p:spPr>
        <p:txBody>
          <a:bodyPr lIns="0" tIns="0" rIns="0" bIns="0" rtlCol="0" anchor="t">
            <a:spAutoFit/>
          </a:bodyPr>
          <a:lstStyle/>
          <a:p>
            <a:pPr marL="593793" lvl="1" indent="-296896" algn="l">
              <a:lnSpc>
                <a:spcPts val="3300"/>
              </a:lnSpc>
              <a:buFont typeface="Arial"/>
              <a:buChar char="•"/>
            </a:pPr>
            <a:r>
              <a:rPr lang="en-US" sz="2750" spc="-55">
                <a:solidFill>
                  <a:srgbClr val="FFFFFF"/>
                </a:solidFill>
                <a:latin typeface="Open Sauce"/>
                <a:ea typeface="Open Sauce"/>
                <a:cs typeface="Open Sauce"/>
                <a:sym typeface="Open Sauce"/>
              </a:rPr>
              <a:t>Random maze generation</a:t>
            </a:r>
          </a:p>
          <a:p>
            <a:pPr algn="l">
              <a:lnSpc>
                <a:spcPts val="3300"/>
              </a:lnSpc>
            </a:pPr>
            <a:endParaRPr lang="en-US" sz="2750" spc="-55">
              <a:solidFill>
                <a:srgbClr val="FFFFFF"/>
              </a:solidFill>
              <a:latin typeface="Open Sauce"/>
              <a:ea typeface="Open Sauce"/>
              <a:cs typeface="Open Sauce"/>
              <a:sym typeface="Open Sauce"/>
            </a:endParaRPr>
          </a:p>
          <a:p>
            <a:pPr marL="593793" lvl="1" indent="-296896" algn="l">
              <a:lnSpc>
                <a:spcPts val="3300"/>
              </a:lnSpc>
              <a:buFont typeface="Arial"/>
              <a:buChar char="•"/>
            </a:pPr>
            <a:r>
              <a:rPr lang="en-US" sz="2750" spc="-55">
                <a:solidFill>
                  <a:srgbClr val="FFFFFF"/>
                </a:solidFill>
                <a:latin typeface="Open Sauce"/>
                <a:ea typeface="Open Sauce"/>
                <a:cs typeface="Open Sauce"/>
                <a:sym typeface="Open Sauce"/>
              </a:rPr>
              <a:t>Shortest path hint system</a:t>
            </a:r>
          </a:p>
          <a:p>
            <a:pPr algn="l">
              <a:lnSpc>
                <a:spcPts val="3300"/>
              </a:lnSpc>
            </a:pPr>
            <a:endParaRPr lang="en-US" sz="2750" spc="-55">
              <a:solidFill>
                <a:srgbClr val="FFFFFF"/>
              </a:solidFill>
              <a:latin typeface="Open Sauce"/>
              <a:ea typeface="Open Sauce"/>
              <a:cs typeface="Open Sauce"/>
              <a:sym typeface="Open Sauce"/>
            </a:endParaRPr>
          </a:p>
          <a:p>
            <a:pPr marL="593793" lvl="1" indent="-296896" algn="l">
              <a:lnSpc>
                <a:spcPts val="3300"/>
              </a:lnSpc>
              <a:buFont typeface="Arial"/>
              <a:buChar char="•"/>
            </a:pPr>
            <a:r>
              <a:rPr lang="en-US" sz="2750" spc="-55">
                <a:solidFill>
                  <a:srgbClr val="FFFFFF"/>
                </a:solidFill>
                <a:latin typeface="Open Sauce"/>
                <a:ea typeface="Open Sauce"/>
                <a:cs typeface="Open Sauce"/>
                <a:sym typeface="Open Sauce"/>
              </a:rPr>
              <a:t>Undo player movement</a:t>
            </a:r>
          </a:p>
          <a:p>
            <a:pPr algn="l">
              <a:lnSpc>
                <a:spcPts val="3300"/>
              </a:lnSpc>
            </a:pPr>
            <a:endParaRPr lang="en-US" sz="2750" spc="-55">
              <a:solidFill>
                <a:srgbClr val="FFFFFF"/>
              </a:solidFill>
              <a:latin typeface="Open Sauce"/>
              <a:ea typeface="Open Sauce"/>
              <a:cs typeface="Open Sauce"/>
              <a:sym typeface="Open Sauce"/>
            </a:endParaRPr>
          </a:p>
          <a:p>
            <a:pPr marL="593793" lvl="1" indent="-296896" algn="l">
              <a:lnSpc>
                <a:spcPts val="3300"/>
              </a:lnSpc>
              <a:buFont typeface="Arial"/>
              <a:buChar char="•"/>
            </a:pPr>
            <a:r>
              <a:rPr lang="en-US" sz="2750" spc="-55">
                <a:solidFill>
                  <a:srgbClr val="FFFFFF"/>
                </a:solidFill>
                <a:latin typeface="Open Sauce"/>
                <a:ea typeface="Open Sauce"/>
                <a:cs typeface="Open Sauce"/>
                <a:sym typeface="Open Sauce"/>
              </a:rPr>
              <a:t>Treasure collection &amp; scoring</a:t>
            </a:r>
          </a:p>
          <a:p>
            <a:pPr algn="l">
              <a:lnSpc>
                <a:spcPts val="3300"/>
              </a:lnSpc>
            </a:pPr>
            <a:endParaRPr lang="en-US" sz="2750" spc="-55">
              <a:solidFill>
                <a:srgbClr val="FFFFFF"/>
              </a:solidFill>
              <a:latin typeface="Open Sauce"/>
              <a:ea typeface="Open Sauce"/>
              <a:cs typeface="Open Sauce"/>
              <a:sym typeface="Open Sauce"/>
            </a:endParaRPr>
          </a:p>
          <a:p>
            <a:pPr marL="593793" lvl="1" indent="-296896" algn="l">
              <a:lnSpc>
                <a:spcPts val="3300"/>
              </a:lnSpc>
              <a:buFont typeface="Arial"/>
              <a:buChar char="•"/>
            </a:pPr>
            <a:r>
              <a:rPr lang="en-US" sz="2750" spc="-55">
                <a:solidFill>
                  <a:srgbClr val="FFFFFF"/>
                </a:solidFill>
                <a:latin typeface="Open Sauce"/>
                <a:ea typeface="Open Sauce"/>
                <a:cs typeface="Open Sauce"/>
                <a:sym typeface="Open Sauce"/>
              </a:rPr>
              <a:t>Persistent leaderboard</a:t>
            </a:r>
          </a:p>
          <a:p>
            <a:pPr algn="l">
              <a:lnSpc>
                <a:spcPts val="3300"/>
              </a:lnSpc>
            </a:pPr>
            <a:endParaRPr lang="en-US" sz="2750" spc="-55">
              <a:solidFill>
                <a:srgbClr val="FFFFFF"/>
              </a:solidFill>
              <a:latin typeface="Open Sauce"/>
              <a:ea typeface="Open Sauce"/>
              <a:cs typeface="Open Sauce"/>
              <a:sym typeface="Open Sauc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rot="-10800000">
            <a:off x="15310795" y="1028700"/>
            <a:ext cx="2977205" cy="2915424"/>
            <a:chOff x="0" y="0"/>
            <a:chExt cx="784120" cy="767848"/>
          </a:xfrm>
        </p:grpSpPr>
        <p:sp>
          <p:nvSpPr>
            <p:cNvPr id="4" name="Freeform 4"/>
            <p:cNvSpPr/>
            <p:nvPr/>
          </p:nvSpPr>
          <p:spPr>
            <a:xfrm>
              <a:off x="0" y="0"/>
              <a:ext cx="784120" cy="767848"/>
            </a:xfrm>
            <a:custGeom>
              <a:avLst/>
              <a:gdLst/>
              <a:ahLst/>
              <a:cxnLst/>
              <a:rect l="l" t="t" r="r" b="b"/>
              <a:pathLst>
                <a:path w="784120" h="767848">
                  <a:moveTo>
                    <a:pt x="0" y="0"/>
                  </a:moveTo>
                  <a:lnTo>
                    <a:pt x="784120" y="0"/>
                  </a:lnTo>
                  <a:lnTo>
                    <a:pt x="784120" y="767848"/>
                  </a:lnTo>
                  <a:lnTo>
                    <a:pt x="0" y="767848"/>
                  </a:lnTo>
                  <a:close/>
                </a:path>
              </a:pathLst>
            </a:custGeom>
            <a:gradFill rotWithShape="1">
              <a:gsLst>
                <a:gs pos="0">
                  <a:srgbClr val="F5D739">
                    <a:alpha val="100000"/>
                  </a:srgbClr>
                </a:gs>
                <a:gs pos="100000">
                  <a:srgbClr val="3E9D81">
                    <a:alpha val="0"/>
                  </a:srgbClr>
                </a:gs>
              </a:gsLst>
              <a:lin ang="0"/>
            </a:gradFill>
          </p:spPr>
        </p:sp>
        <p:sp>
          <p:nvSpPr>
            <p:cNvPr id="5" name="TextBox 5"/>
            <p:cNvSpPr txBox="1"/>
            <p:nvPr/>
          </p:nvSpPr>
          <p:spPr>
            <a:xfrm>
              <a:off x="0" y="-28575"/>
              <a:ext cx="784120" cy="796423"/>
            </a:xfrm>
            <a:prstGeom prst="rect">
              <a:avLst/>
            </a:prstGeom>
          </p:spPr>
          <p:txBody>
            <a:bodyPr lIns="50800" tIns="50800" rIns="50800" bIns="50800" rtlCol="0" anchor="ctr"/>
            <a:lstStyle/>
            <a:p>
              <a:pPr algn="ctr">
                <a:lnSpc>
                  <a:spcPts val="1960"/>
                </a:lnSpc>
              </a:pPr>
              <a:endParaRPr/>
            </a:p>
          </p:txBody>
        </p:sp>
      </p:grpSp>
      <p:grpSp>
        <p:nvGrpSpPr>
          <p:cNvPr id="6" name="Group 6"/>
          <p:cNvGrpSpPr/>
          <p:nvPr/>
        </p:nvGrpSpPr>
        <p:grpSpPr>
          <a:xfrm>
            <a:off x="2695300" y="6581255"/>
            <a:ext cx="5915641" cy="2871992"/>
            <a:chOff x="0" y="0"/>
            <a:chExt cx="982947" cy="477211"/>
          </a:xfrm>
        </p:grpSpPr>
        <p:sp>
          <p:nvSpPr>
            <p:cNvPr id="7" name="Freeform 7"/>
            <p:cNvSpPr/>
            <p:nvPr/>
          </p:nvSpPr>
          <p:spPr>
            <a:xfrm>
              <a:off x="0" y="0"/>
              <a:ext cx="982947" cy="477211"/>
            </a:xfrm>
            <a:custGeom>
              <a:avLst/>
              <a:gdLst/>
              <a:ahLst/>
              <a:cxnLst/>
              <a:rect l="l" t="t" r="r" b="b"/>
              <a:pathLst>
                <a:path w="982947" h="477211">
                  <a:moveTo>
                    <a:pt x="982947" y="36644"/>
                  </a:moveTo>
                  <a:lnTo>
                    <a:pt x="982947" y="440567"/>
                  </a:lnTo>
                  <a:cubicBezTo>
                    <a:pt x="982947" y="450286"/>
                    <a:pt x="979086" y="459606"/>
                    <a:pt x="972214" y="466478"/>
                  </a:cubicBezTo>
                  <a:cubicBezTo>
                    <a:pt x="965342" y="473351"/>
                    <a:pt x="956021" y="477211"/>
                    <a:pt x="946302" y="477211"/>
                  </a:cubicBezTo>
                  <a:lnTo>
                    <a:pt x="36644" y="477211"/>
                  </a:lnTo>
                  <a:cubicBezTo>
                    <a:pt x="26926" y="477211"/>
                    <a:pt x="17605" y="473351"/>
                    <a:pt x="10733" y="466478"/>
                  </a:cubicBezTo>
                  <a:cubicBezTo>
                    <a:pt x="3861" y="459606"/>
                    <a:pt x="0" y="450286"/>
                    <a:pt x="0" y="440567"/>
                  </a:cubicBezTo>
                  <a:lnTo>
                    <a:pt x="0" y="36644"/>
                  </a:lnTo>
                  <a:cubicBezTo>
                    <a:pt x="0" y="26926"/>
                    <a:pt x="3861" y="17605"/>
                    <a:pt x="10733" y="10733"/>
                  </a:cubicBezTo>
                  <a:cubicBezTo>
                    <a:pt x="17605" y="3861"/>
                    <a:pt x="26926" y="0"/>
                    <a:pt x="36644" y="0"/>
                  </a:cubicBezTo>
                  <a:lnTo>
                    <a:pt x="946302" y="0"/>
                  </a:lnTo>
                  <a:cubicBezTo>
                    <a:pt x="966540" y="0"/>
                    <a:pt x="982947" y="16406"/>
                    <a:pt x="982947" y="36644"/>
                  </a:cubicBezTo>
                  <a:close/>
                </a:path>
              </a:pathLst>
            </a:custGeom>
            <a:solidFill>
              <a:srgbClr val="000000">
                <a:alpha val="0"/>
              </a:srgbClr>
            </a:solidFill>
            <a:ln w="19050" cap="rnd">
              <a:solidFill>
                <a:srgbClr val="8AB2A6"/>
              </a:solidFill>
              <a:prstDash val="solid"/>
              <a:round/>
            </a:ln>
          </p:spPr>
        </p:sp>
        <p:sp>
          <p:nvSpPr>
            <p:cNvPr id="8" name="TextBox 8"/>
            <p:cNvSpPr txBox="1"/>
            <p:nvPr/>
          </p:nvSpPr>
          <p:spPr>
            <a:xfrm>
              <a:off x="0" y="0"/>
              <a:ext cx="982947" cy="477211"/>
            </a:xfrm>
            <a:prstGeom prst="rect">
              <a:avLst/>
            </a:prstGeom>
          </p:spPr>
          <p:txBody>
            <a:bodyPr lIns="50800" tIns="50800" rIns="50800" bIns="50800" rtlCol="0" anchor="ctr"/>
            <a:lstStyle/>
            <a:p>
              <a:pPr algn="ctr">
                <a:lnSpc>
                  <a:spcPts val="1680"/>
                </a:lnSpc>
              </a:pPr>
              <a:endParaRPr/>
            </a:p>
          </p:txBody>
        </p:sp>
      </p:grpSp>
      <p:sp>
        <p:nvSpPr>
          <p:cNvPr id="9" name="Freeform 9"/>
          <p:cNvSpPr/>
          <p:nvPr/>
        </p:nvSpPr>
        <p:spPr>
          <a:xfrm>
            <a:off x="8610941" y="4416691"/>
            <a:ext cx="726809" cy="726809"/>
          </a:xfrm>
          <a:custGeom>
            <a:avLst/>
            <a:gdLst/>
            <a:ahLst/>
            <a:cxnLst/>
            <a:rect l="l" t="t" r="r" b="b"/>
            <a:pathLst>
              <a:path w="726809" h="726809">
                <a:moveTo>
                  <a:pt x="0" y="0"/>
                </a:moveTo>
                <a:lnTo>
                  <a:pt x="726808" y="0"/>
                </a:lnTo>
                <a:lnTo>
                  <a:pt x="726808" y="726809"/>
                </a:lnTo>
                <a:lnTo>
                  <a:pt x="0" y="72680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TextBox 10"/>
          <p:cNvSpPr txBox="1"/>
          <p:nvPr/>
        </p:nvSpPr>
        <p:spPr>
          <a:xfrm>
            <a:off x="9729813" y="7211157"/>
            <a:ext cx="5701294" cy="2047875"/>
          </a:xfrm>
          <a:prstGeom prst="rect">
            <a:avLst/>
          </a:prstGeom>
        </p:spPr>
        <p:txBody>
          <a:bodyPr lIns="0" tIns="0" rIns="0" bIns="0" rtlCol="0" anchor="t">
            <a:spAutoFit/>
          </a:bodyPr>
          <a:lstStyle/>
          <a:p>
            <a:pPr marL="496571" lvl="1" indent="-248285" algn="l">
              <a:lnSpc>
                <a:spcPts val="2760"/>
              </a:lnSpc>
              <a:spcBef>
                <a:spcPct val="0"/>
              </a:spcBef>
              <a:buFont typeface="Arial"/>
              <a:buChar char="•"/>
            </a:pPr>
            <a:r>
              <a:rPr lang="en-US" sz="2300" spc="-46">
                <a:solidFill>
                  <a:srgbClr val="FFFFFF"/>
                </a:solidFill>
                <a:latin typeface="Open Sauce"/>
                <a:ea typeface="Open Sauce"/>
                <a:cs typeface="Open Sauce"/>
                <a:sym typeface="Open Sauce"/>
              </a:rPr>
              <a:t>Fixe</a:t>
            </a:r>
            <a:r>
              <a:rPr lang="en-US" sz="2300" u="none" strike="noStrike" spc="-46">
                <a:solidFill>
                  <a:srgbClr val="FFFFFF"/>
                </a:solidFill>
                <a:latin typeface="Open Sauce"/>
                <a:ea typeface="Open Sauce"/>
                <a:cs typeface="Open Sauce"/>
                <a:sym typeface="Open Sauce"/>
              </a:rPr>
              <a:t>d maze size</a:t>
            </a:r>
          </a:p>
          <a:p>
            <a:pPr algn="l">
              <a:lnSpc>
                <a:spcPts val="2760"/>
              </a:lnSpc>
              <a:spcBef>
                <a:spcPct val="0"/>
              </a:spcBef>
            </a:pPr>
            <a:endParaRPr lang="en-US" sz="2300" u="none" strike="noStrike" spc="-46">
              <a:solidFill>
                <a:srgbClr val="FFFFFF"/>
              </a:solidFill>
              <a:latin typeface="Open Sauce"/>
              <a:ea typeface="Open Sauce"/>
              <a:cs typeface="Open Sauce"/>
              <a:sym typeface="Open Sauce"/>
            </a:endParaRPr>
          </a:p>
          <a:p>
            <a:pPr marL="496571" lvl="1" indent="-248285" algn="l">
              <a:lnSpc>
                <a:spcPts val="2760"/>
              </a:lnSpc>
              <a:spcBef>
                <a:spcPct val="0"/>
              </a:spcBef>
              <a:buFont typeface="Arial"/>
              <a:buChar char="•"/>
            </a:pPr>
            <a:r>
              <a:rPr lang="en-US" sz="2300" u="none" strike="noStrike" spc="-46">
                <a:solidFill>
                  <a:srgbClr val="FFFFFF"/>
                </a:solidFill>
                <a:latin typeface="Open Sauce"/>
                <a:ea typeface="Open Sauce"/>
                <a:cs typeface="Open Sauce"/>
                <a:sym typeface="Open Sauce"/>
              </a:rPr>
              <a:t>Terminal-based UI</a:t>
            </a:r>
          </a:p>
          <a:p>
            <a:pPr algn="l">
              <a:lnSpc>
                <a:spcPts val="2760"/>
              </a:lnSpc>
              <a:spcBef>
                <a:spcPct val="0"/>
              </a:spcBef>
            </a:pPr>
            <a:endParaRPr lang="en-US" sz="2300" u="none" strike="noStrike" spc="-46">
              <a:solidFill>
                <a:srgbClr val="FFFFFF"/>
              </a:solidFill>
              <a:latin typeface="Open Sauce"/>
              <a:ea typeface="Open Sauce"/>
              <a:cs typeface="Open Sauce"/>
              <a:sym typeface="Open Sauce"/>
            </a:endParaRPr>
          </a:p>
          <a:p>
            <a:pPr marL="496571" lvl="1" indent="-248285" algn="l">
              <a:lnSpc>
                <a:spcPts val="2760"/>
              </a:lnSpc>
              <a:spcBef>
                <a:spcPct val="0"/>
              </a:spcBef>
              <a:buFont typeface="Arial"/>
              <a:buChar char="•"/>
            </a:pPr>
            <a:r>
              <a:rPr lang="en-US" sz="2300" u="none" strike="noStrike" spc="-46">
                <a:solidFill>
                  <a:srgbClr val="FFFFFF"/>
                </a:solidFill>
                <a:latin typeface="Open Sauce"/>
                <a:ea typeface="Open Sauce"/>
                <a:cs typeface="Open Sauce"/>
                <a:sym typeface="Open Sauce"/>
              </a:rPr>
              <a:t>No diagonal movement</a:t>
            </a:r>
          </a:p>
          <a:p>
            <a:pPr marL="0" lvl="0" indent="0" algn="l">
              <a:lnSpc>
                <a:spcPts val="2760"/>
              </a:lnSpc>
              <a:spcBef>
                <a:spcPct val="0"/>
              </a:spcBef>
            </a:pPr>
            <a:endParaRPr lang="en-US" sz="2300" u="none" strike="noStrike" spc="-46">
              <a:solidFill>
                <a:srgbClr val="FFFFFF"/>
              </a:solidFill>
              <a:latin typeface="Open Sauce"/>
              <a:ea typeface="Open Sauce"/>
              <a:cs typeface="Open Sauce"/>
              <a:sym typeface="Open Sauce"/>
            </a:endParaRPr>
          </a:p>
        </p:txBody>
      </p:sp>
      <p:grpSp>
        <p:nvGrpSpPr>
          <p:cNvPr id="11" name="Group 11"/>
          <p:cNvGrpSpPr/>
          <p:nvPr/>
        </p:nvGrpSpPr>
        <p:grpSpPr>
          <a:xfrm>
            <a:off x="9515467" y="6581255"/>
            <a:ext cx="5915641" cy="2871992"/>
            <a:chOff x="0" y="0"/>
            <a:chExt cx="982947" cy="477211"/>
          </a:xfrm>
        </p:grpSpPr>
        <p:sp>
          <p:nvSpPr>
            <p:cNvPr id="12" name="Freeform 12"/>
            <p:cNvSpPr/>
            <p:nvPr/>
          </p:nvSpPr>
          <p:spPr>
            <a:xfrm>
              <a:off x="0" y="0"/>
              <a:ext cx="982947" cy="477211"/>
            </a:xfrm>
            <a:custGeom>
              <a:avLst/>
              <a:gdLst/>
              <a:ahLst/>
              <a:cxnLst/>
              <a:rect l="l" t="t" r="r" b="b"/>
              <a:pathLst>
                <a:path w="982947" h="477211">
                  <a:moveTo>
                    <a:pt x="982947" y="36644"/>
                  </a:moveTo>
                  <a:lnTo>
                    <a:pt x="982947" y="440567"/>
                  </a:lnTo>
                  <a:cubicBezTo>
                    <a:pt x="982947" y="450286"/>
                    <a:pt x="979086" y="459606"/>
                    <a:pt x="972214" y="466478"/>
                  </a:cubicBezTo>
                  <a:cubicBezTo>
                    <a:pt x="965342" y="473351"/>
                    <a:pt x="956021" y="477211"/>
                    <a:pt x="946302" y="477211"/>
                  </a:cubicBezTo>
                  <a:lnTo>
                    <a:pt x="36644" y="477211"/>
                  </a:lnTo>
                  <a:cubicBezTo>
                    <a:pt x="26926" y="477211"/>
                    <a:pt x="17605" y="473351"/>
                    <a:pt x="10733" y="466478"/>
                  </a:cubicBezTo>
                  <a:cubicBezTo>
                    <a:pt x="3861" y="459606"/>
                    <a:pt x="0" y="450286"/>
                    <a:pt x="0" y="440567"/>
                  </a:cubicBezTo>
                  <a:lnTo>
                    <a:pt x="0" y="36644"/>
                  </a:lnTo>
                  <a:cubicBezTo>
                    <a:pt x="0" y="26926"/>
                    <a:pt x="3861" y="17605"/>
                    <a:pt x="10733" y="10733"/>
                  </a:cubicBezTo>
                  <a:cubicBezTo>
                    <a:pt x="17605" y="3861"/>
                    <a:pt x="26926" y="0"/>
                    <a:pt x="36644" y="0"/>
                  </a:cubicBezTo>
                  <a:lnTo>
                    <a:pt x="946302" y="0"/>
                  </a:lnTo>
                  <a:cubicBezTo>
                    <a:pt x="966540" y="0"/>
                    <a:pt x="982947" y="16406"/>
                    <a:pt x="982947" y="36644"/>
                  </a:cubicBezTo>
                  <a:close/>
                </a:path>
              </a:pathLst>
            </a:custGeom>
            <a:solidFill>
              <a:srgbClr val="000000">
                <a:alpha val="0"/>
              </a:srgbClr>
            </a:solidFill>
            <a:ln w="19050" cap="rnd">
              <a:solidFill>
                <a:srgbClr val="8AB2A6"/>
              </a:solidFill>
              <a:prstDash val="solid"/>
              <a:round/>
            </a:ln>
          </p:spPr>
        </p:sp>
        <p:sp>
          <p:nvSpPr>
            <p:cNvPr id="13" name="TextBox 13"/>
            <p:cNvSpPr txBox="1"/>
            <p:nvPr/>
          </p:nvSpPr>
          <p:spPr>
            <a:xfrm>
              <a:off x="0" y="0"/>
              <a:ext cx="982947" cy="477211"/>
            </a:xfrm>
            <a:prstGeom prst="rect">
              <a:avLst/>
            </a:prstGeom>
          </p:spPr>
          <p:txBody>
            <a:bodyPr lIns="50800" tIns="50800" rIns="50800" bIns="50800" rtlCol="0" anchor="ctr"/>
            <a:lstStyle/>
            <a:p>
              <a:pPr algn="ctr">
                <a:lnSpc>
                  <a:spcPts val="1680"/>
                </a:lnSpc>
              </a:pPr>
              <a:endParaRPr/>
            </a:p>
          </p:txBody>
        </p:sp>
      </p:grpSp>
      <p:grpSp>
        <p:nvGrpSpPr>
          <p:cNvPr id="14" name="Group 14"/>
          <p:cNvGrpSpPr/>
          <p:nvPr/>
        </p:nvGrpSpPr>
        <p:grpSpPr>
          <a:xfrm>
            <a:off x="10409518" y="835473"/>
            <a:ext cx="6389879" cy="3944622"/>
            <a:chOff x="0" y="0"/>
            <a:chExt cx="8519839" cy="5259497"/>
          </a:xfrm>
        </p:grpSpPr>
        <p:grpSp>
          <p:nvGrpSpPr>
            <p:cNvPr id="15" name="Group 15"/>
            <p:cNvGrpSpPr/>
            <p:nvPr/>
          </p:nvGrpSpPr>
          <p:grpSpPr>
            <a:xfrm>
              <a:off x="0" y="145889"/>
              <a:ext cx="8519839" cy="5113607"/>
              <a:chOff x="0" y="0"/>
              <a:chExt cx="6350000" cy="3811270"/>
            </a:xfrm>
          </p:grpSpPr>
          <p:sp>
            <p:nvSpPr>
              <p:cNvPr id="16" name="Freeform 16"/>
              <p:cNvSpPr/>
              <p:nvPr/>
            </p:nvSpPr>
            <p:spPr>
              <a:xfrm>
                <a:off x="0" y="0"/>
                <a:ext cx="6350000" cy="3811270"/>
              </a:xfrm>
              <a:custGeom>
                <a:avLst/>
                <a:gdLst/>
                <a:ahLst/>
                <a:cxnLst/>
                <a:rect l="l" t="t" r="r" b="b"/>
                <a:pathLst>
                  <a:path w="6350000" h="3811270">
                    <a:moveTo>
                      <a:pt x="1648460" y="0"/>
                    </a:moveTo>
                    <a:lnTo>
                      <a:pt x="5812790" y="0"/>
                    </a:lnTo>
                    <a:cubicBezTo>
                      <a:pt x="6109970" y="0"/>
                      <a:pt x="6350000" y="240030"/>
                      <a:pt x="6350000" y="537210"/>
                    </a:cubicBezTo>
                    <a:lnTo>
                      <a:pt x="6350000" y="2466340"/>
                    </a:lnTo>
                    <a:cubicBezTo>
                      <a:pt x="6350000" y="2763520"/>
                      <a:pt x="6109970" y="3003550"/>
                      <a:pt x="5812790" y="3003550"/>
                    </a:cubicBezTo>
                    <a:lnTo>
                      <a:pt x="4751070" y="3003550"/>
                    </a:lnTo>
                    <a:cubicBezTo>
                      <a:pt x="4587240" y="3003550"/>
                      <a:pt x="4431030" y="3078480"/>
                      <a:pt x="4329430" y="3208020"/>
                    </a:cubicBezTo>
                    <a:lnTo>
                      <a:pt x="4013200" y="3606800"/>
                    </a:lnTo>
                    <a:cubicBezTo>
                      <a:pt x="3911600" y="3735070"/>
                      <a:pt x="3756660" y="3811270"/>
                      <a:pt x="3591560" y="3811270"/>
                    </a:cubicBezTo>
                    <a:lnTo>
                      <a:pt x="537210" y="3811270"/>
                    </a:lnTo>
                    <a:cubicBezTo>
                      <a:pt x="240030" y="3811270"/>
                      <a:pt x="0" y="3571240"/>
                      <a:pt x="0" y="3274060"/>
                    </a:cubicBezTo>
                    <a:lnTo>
                      <a:pt x="0" y="1375410"/>
                    </a:lnTo>
                    <a:cubicBezTo>
                      <a:pt x="0" y="1206500"/>
                      <a:pt x="78740" y="1047750"/>
                      <a:pt x="213360" y="946150"/>
                    </a:cubicBezTo>
                    <a:lnTo>
                      <a:pt x="1324610" y="107950"/>
                    </a:lnTo>
                    <a:cubicBezTo>
                      <a:pt x="1417320" y="38100"/>
                      <a:pt x="1531620" y="0"/>
                      <a:pt x="1648460" y="0"/>
                    </a:cubicBezTo>
                    <a:close/>
                  </a:path>
                </a:pathLst>
              </a:custGeom>
              <a:blipFill>
                <a:blip r:embed="rId5"/>
                <a:stretch>
                  <a:fillRect t="-5502" b="-5502"/>
                </a:stretch>
              </a:blipFill>
            </p:spPr>
          </p:sp>
        </p:grpSp>
        <p:sp>
          <p:nvSpPr>
            <p:cNvPr id="17" name="Freeform 17"/>
            <p:cNvSpPr/>
            <p:nvPr/>
          </p:nvSpPr>
          <p:spPr>
            <a:xfrm>
              <a:off x="0" y="0"/>
              <a:ext cx="1663538" cy="1663538"/>
            </a:xfrm>
            <a:custGeom>
              <a:avLst/>
              <a:gdLst/>
              <a:ahLst/>
              <a:cxnLst/>
              <a:rect l="l" t="t" r="r" b="b"/>
              <a:pathLst>
                <a:path w="1663538" h="1663538">
                  <a:moveTo>
                    <a:pt x="0" y="0"/>
                  </a:moveTo>
                  <a:lnTo>
                    <a:pt x="1663538" y="0"/>
                  </a:lnTo>
                  <a:lnTo>
                    <a:pt x="1663538" y="1663538"/>
                  </a:lnTo>
                  <a:lnTo>
                    <a:pt x="0" y="1663538"/>
                  </a:lnTo>
                  <a:lnTo>
                    <a:pt x="0" y="0"/>
                  </a:lnTo>
                  <a:close/>
                </a:path>
              </a:pathLst>
            </a:custGeom>
            <a:blipFill>
              <a:blip r:embed="rId6"/>
              <a:stretch>
                <a:fillRect/>
              </a:stretch>
            </a:blipFill>
          </p:spPr>
        </p:sp>
      </p:grpSp>
      <p:grpSp>
        <p:nvGrpSpPr>
          <p:cNvPr id="18" name="Group 18"/>
          <p:cNvGrpSpPr/>
          <p:nvPr/>
        </p:nvGrpSpPr>
        <p:grpSpPr>
          <a:xfrm>
            <a:off x="0" y="1864672"/>
            <a:ext cx="2977205" cy="2915424"/>
            <a:chOff x="0" y="0"/>
            <a:chExt cx="784120" cy="767848"/>
          </a:xfrm>
        </p:grpSpPr>
        <p:sp>
          <p:nvSpPr>
            <p:cNvPr id="19" name="Freeform 19"/>
            <p:cNvSpPr/>
            <p:nvPr/>
          </p:nvSpPr>
          <p:spPr>
            <a:xfrm>
              <a:off x="0" y="0"/>
              <a:ext cx="784120" cy="767848"/>
            </a:xfrm>
            <a:custGeom>
              <a:avLst/>
              <a:gdLst/>
              <a:ahLst/>
              <a:cxnLst/>
              <a:rect l="l" t="t" r="r" b="b"/>
              <a:pathLst>
                <a:path w="784120" h="767848">
                  <a:moveTo>
                    <a:pt x="0" y="0"/>
                  </a:moveTo>
                  <a:lnTo>
                    <a:pt x="784120" y="0"/>
                  </a:lnTo>
                  <a:lnTo>
                    <a:pt x="784120" y="767848"/>
                  </a:lnTo>
                  <a:lnTo>
                    <a:pt x="0" y="767848"/>
                  </a:lnTo>
                  <a:close/>
                </a:path>
              </a:pathLst>
            </a:custGeom>
            <a:gradFill rotWithShape="1">
              <a:gsLst>
                <a:gs pos="0">
                  <a:srgbClr val="F5D739">
                    <a:alpha val="100000"/>
                  </a:srgbClr>
                </a:gs>
                <a:gs pos="100000">
                  <a:srgbClr val="3E9D81">
                    <a:alpha val="0"/>
                  </a:srgbClr>
                </a:gs>
              </a:gsLst>
              <a:lin ang="0"/>
            </a:gradFill>
          </p:spPr>
        </p:sp>
        <p:sp>
          <p:nvSpPr>
            <p:cNvPr id="20" name="TextBox 20"/>
            <p:cNvSpPr txBox="1"/>
            <p:nvPr/>
          </p:nvSpPr>
          <p:spPr>
            <a:xfrm>
              <a:off x="0" y="-28575"/>
              <a:ext cx="784120" cy="796423"/>
            </a:xfrm>
            <a:prstGeom prst="rect">
              <a:avLst/>
            </a:prstGeom>
          </p:spPr>
          <p:txBody>
            <a:bodyPr lIns="50800" tIns="50800" rIns="50800" bIns="50800" rtlCol="0" anchor="ctr"/>
            <a:lstStyle/>
            <a:p>
              <a:pPr algn="ctr">
                <a:lnSpc>
                  <a:spcPts val="1960"/>
                </a:lnSpc>
              </a:pPr>
              <a:endParaRPr/>
            </a:p>
          </p:txBody>
        </p:sp>
      </p:grpSp>
      <p:grpSp>
        <p:nvGrpSpPr>
          <p:cNvPr id="21" name="Group 21"/>
          <p:cNvGrpSpPr/>
          <p:nvPr/>
        </p:nvGrpSpPr>
        <p:grpSpPr>
          <a:xfrm rot="-10800000">
            <a:off x="2038761" y="835473"/>
            <a:ext cx="6572180" cy="3944622"/>
            <a:chOff x="0" y="0"/>
            <a:chExt cx="6350000" cy="3811270"/>
          </a:xfrm>
        </p:grpSpPr>
        <p:sp>
          <p:nvSpPr>
            <p:cNvPr id="22" name="Freeform 22"/>
            <p:cNvSpPr/>
            <p:nvPr/>
          </p:nvSpPr>
          <p:spPr>
            <a:xfrm flipH="1" flipV="1">
              <a:off x="0" y="0"/>
              <a:ext cx="6350000" cy="3811270"/>
            </a:xfrm>
            <a:custGeom>
              <a:avLst/>
              <a:gdLst/>
              <a:ahLst/>
              <a:cxnLst/>
              <a:rect l="l" t="t" r="r" b="b"/>
              <a:pathLst>
                <a:path w="6350000" h="3811270">
                  <a:moveTo>
                    <a:pt x="4701540" y="3811270"/>
                  </a:moveTo>
                  <a:lnTo>
                    <a:pt x="537210" y="3811270"/>
                  </a:lnTo>
                  <a:cubicBezTo>
                    <a:pt x="240030" y="3811270"/>
                    <a:pt x="0" y="3571240"/>
                    <a:pt x="0" y="3274060"/>
                  </a:cubicBezTo>
                  <a:lnTo>
                    <a:pt x="0" y="1344930"/>
                  </a:lnTo>
                  <a:cubicBezTo>
                    <a:pt x="0" y="1047750"/>
                    <a:pt x="240030" y="807720"/>
                    <a:pt x="537210" y="807720"/>
                  </a:cubicBezTo>
                  <a:lnTo>
                    <a:pt x="1598930" y="807720"/>
                  </a:lnTo>
                  <a:cubicBezTo>
                    <a:pt x="1762760" y="807720"/>
                    <a:pt x="1918970" y="732790"/>
                    <a:pt x="2020570" y="603250"/>
                  </a:cubicBezTo>
                  <a:lnTo>
                    <a:pt x="2336800" y="204470"/>
                  </a:lnTo>
                  <a:cubicBezTo>
                    <a:pt x="2438400" y="76200"/>
                    <a:pt x="2593340" y="0"/>
                    <a:pt x="2758440" y="0"/>
                  </a:cubicBezTo>
                  <a:lnTo>
                    <a:pt x="5812790" y="0"/>
                  </a:lnTo>
                  <a:cubicBezTo>
                    <a:pt x="6109970" y="0"/>
                    <a:pt x="6350000" y="240030"/>
                    <a:pt x="6350000" y="537210"/>
                  </a:cubicBezTo>
                  <a:lnTo>
                    <a:pt x="6350000" y="2435860"/>
                  </a:lnTo>
                  <a:cubicBezTo>
                    <a:pt x="6350000" y="2604770"/>
                    <a:pt x="6271260" y="2763520"/>
                    <a:pt x="6136640" y="2865120"/>
                  </a:cubicBezTo>
                  <a:lnTo>
                    <a:pt x="5025390" y="3703320"/>
                  </a:lnTo>
                  <a:cubicBezTo>
                    <a:pt x="4932680" y="3773170"/>
                    <a:pt x="4818380" y="3811270"/>
                    <a:pt x="4701540" y="3811270"/>
                  </a:cubicBezTo>
                  <a:close/>
                </a:path>
              </a:pathLst>
            </a:custGeom>
            <a:blipFill>
              <a:blip r:embed="rId7"/>
              <a:stretch>
                <a:fillRect t="-5502" b="-5502"/>
              </a:stretch>
            </a:blipFill>
          </p:spPr>
        </p:sp>
      </p:grpSp>
      <p:sp>
        <p:nvSpPr>
          <p:cNvPr id="23" name="TextBox 23"/>
          <p:cNvSpPr txBox="1"/>
          <p:nvPr/>
        </p:nvSpPr>
        <p:spPr>
          <a:xfrm>
            <a:off x="2909646" y="7211157"/>
            <a:ext cx="5701294" cy="2047875"/>
          </a:xfrm>
          <a:prstGeom prst="rect">
            <a:avLst/>
          </a:prstGeom>
        </p:spPr>
        <p:txBody>
          <a:bodyPr lIns="0" tIns="0" rIns="0" bIns="0" rtlCol="0" anchor="t">
            <a:spAutoFit/>
          </a:bodyPr>
          <a:lstStyle/>
          <a:p>
            <a:pPr marL="496571" lvl="1" indent="-248285" algn="l">
              <a:lnSpc>
                <a:spcPts val="2760"/>
              </a:lnSpc>
              <a:spcBef>
                <a:spcPct val="0"/>
              </a:spcBef>
              <a:buFont typeface="Arial"/>
              <a:buChar char="•"/>
            </a:pPr>
            <a:r>
              <a:rPr lang="en-US" sz="2300" spc="-46">
                <a:solidFill>
                  <a:srgbClr val="FFFFFF"/>
                </a:solidFill>
                <a:latin typeface="Open Sauce"/>
                <a:ea typeface="Open Sauce"/>
                <a:cs typeface="Open Sauce"/>
                <a:sym typeface="Open Sauce"/>
              </a:rPr>
              <a:t>Mapping 2D</a:t>
            </a:r>
            <a:r>
              <a:rPr lang="en-US" sz="2300" u="none" strike="noStrike" spc="-46">
                <a:solidFill>
                  <a:srgbClr val="FFFFFF"/>
                </a:solidFill>
                <a:latin typeface="Open Sauce"/>
                <a:ea typeface="Open Sauce"/>
                <a:cs typeface="Open Sauce"/>
                <a:sym typeface="Open Sauce"/>
              </a:rPr>
              <a:t> grid to graph structure</a:t>
            </a:r>
          </a:p>
          <a:p>
            <a:pPr algn="l">
              <a:lnSpc>
                <a:spcPts val="2760"/>
              </a:lnSpc>
              <a:spcBef>
                <a:spcPct val="0"/>
              </a:spcBef>
            </a:pPr>
            <a:endParaRPr lang="en-US" sz="2300" u="none" strike="noStrike" spc="-46">
              <a:solidFill>
                <a:srgbClr val="FFFFFF"/>
              </a:solidFill>
              <a:latin typeface="Open Sauce"/>
              <a:ea typeface="Open Sauce"/>
              <a:cs typeface="Open Sauce"/>
              <a:sym typeface="Open Sauce"/>
            </a:endParaRPr>
          </a:p>
          <a:p>
            <a:pPr marL="496571" lvl="1" indent="-248285" algn="l">
              <a:lnSpc>
                <a:spcPts val="2760"/>
              </a:lnSpc>
              <a:spcBef>
                <a:spcPct val="0"/>
              </a:spcBef>
              <a:buFont typeface="Arial"/>
              <a:buChar char="•"/>
            </a:pPr>
            <a:r>
              <a:rPr lang="en-US" sz="2300" u="none" strike="noStrike" spc="-46">
                <a:solidFill>
                  <a:srgbClr val="FFFFFF"/>
                </a:solidFill>
                <a:latin typeface="Open Sauce"/>
                <a:ea typeface="Open Sauce"/>
                <a:cs typeface="Open Sauce"/>
                <a:sym typeface="Open Sauce"/>
              </a:rPr>
              <a:t>Ensuring maze solvability</a:t>
            </a:r>
          </a:p>
          <a:p>
            <a:pPr algn="l">
              <a:lnSpc>
                <a:spcPts val="2760"/>
              </a:lnSpc>
              <a:spcBef>
                <a:spcPct val="0"/>
              </a:spcBef>
            </a:pPr>
            <a:endParaRPr lang="en-US" sz="2300" u="none" strike="noStrike" spc="-46">
              <a:solidFill>
                <a:srgbClr val="FFFFFF"/>
              </a:solidFill>
              <a:latin typeface="Open Sauce"/>
              <a:ea typeface="Open Sauce"/>
              <a:cs typeface="Open Sauce"/>
              <a:sym typeface="Open Sauce"/>
            </a:endParaRPr>
          </a:p>
          <a:p>
            <a:pPr marL="496571" lvl="1" indent="-248285" algn="l">
              <a:lnSpc>
                <a:spcPts val="2760"/>
              </a:lnSpc>
              <a:spcBef>
                <a:spcPct val="0"/>
              </a:spcBef>
              <a:buFont typeface="Arial"/>
              <a:buChar char="•"/>
            </a:pPr>
            <a:r>
              <a:rPr lang="en-US" sz="2300" u="none" strike="noStrike" spc="-46">
                <a:solidFill>
                  <a:srgbClr val="FFFFFF"/>
                </a:solidFill>
                <a:latin typeface="Open Sauce"/>
                <a:ea typeface="Open Sauce"/>
                <a:cs typeface="Open Sauce"/>
                <a:sym typeface="Open Sauce"/>
              </a:rPr>
              <a:t>Path reconstruction in BFS</a:t>
            </a:r>
          </a:p>
          <a:p>
            <a:pPr marL="0" lvl="0" indent="0" algn="l">
              <a:lnSpc>
                <a:spcPts val="2760"/>
              </a:lnSpc>
              <a:spcBef>
                <a:spcPct val="0"/>
              </a:spcBef>
            </a:pPr>
            <a:endParaRPr lang="en-US" sz="2300" u="none" strike="noStrike" spc="-46">
              <a:solidFill>
                <a:srgbClr val="FFFFFF"/>
              </a:solidFill>
              <a:latin typeface="Open Sauce"/>
              <a:ea typeface="Open Sauce"/>
              <a:cs typeface="Open Sauce"/>
              <a:sym typeface="Open Sauce"/>
            </a:endParaRPr>
          </a:p>
        </p:txBody>
      </p:sp>
      <p:sp>
        <p:nvSpPr>
          <p:cNvPr id="24" name="TextBox 24"/>
          <p:cNvSpPr txBox="1"/>
          <p:nvPr/>
        </p:nvSpPr>
        <p:spPr>
          <a:xfrm>
            <a:off x="3760583" y="5356903"/>
            <a:ext cx="3785076" cy="928007"/>
          </a:xfrm>
          <a:prstGeom prst="rect">
            <a:avLst/>
          </a:prstGeom>
        </p:spPr>
        <p:txBody>
          <a:bodyPr lIns="0" tIns="0" rIns="0" bIns="0" rtlCol="0" anchor="t">
            <a:spAutoFit/>
          </a:bodyPr>
          <a:lstStyle/>
          <a:p>
            <a:pPr algn="l">
              <a:lnSpc>
                <a:spcPts val="7326"/>
              </a:lnSpc>
            </a:pPr>
            <a:r>
              <a:rPr lang="en-US" sz="6105" spc="115" dirty="0">
                <a:solidFill>
                  <a:srgbClr val="F4C01E"/>
                </a:solidFill>
                <a:latin typeface="Anton Italics"/>
                <a:ea typeface="Anton Italics"/>
                <a:cs typeface="Anton Italics"/>
                <a:sym typeface="Anton Italics"/>
              </a:rPr>
              <a:t>CHALLENGES</a:t>
            </a:r>
            <a:r>
              <a:rPr lang="en-US" sz="6105" i="1" spc="115" dirty="0">
                <a:solidFill>
                  <a:srgbClr val="F4C01E"/>
                </a:solidFill>
                <a:latin typeface="Anton Italics"/>
                <a:ea typeface="Anton Italics"/>
                <a:cs typeface="Anton Italics"/>
                <a:sym typeface="Anton Italics"/>
              </a:rPr>
              <a:t> </a:t>
            </a:r>
          </a:p>
        </p:txBody>
      </p:sp>
      <p:sp>
        <p:nvSpPr>
          <p:cNvPr id="25" name="TextBox 25"/>
          <p:cNvSpPr txBox="1"/>
          <p:nvPr/>
        </p:nvSpPr>
        <p:spPr>
          <a:xfrm>
            <a:off x="10580750" y="5356903"/>
            <a:ext cx="3785076" cy="928007"/>
          </a:xfrm>
          <a:prstGeom prst="rect">
            <a:avLst/>
          </a:prstGeom>
        </p:spPr>
        <p:txBody>
          <a:bodyPr lIns="0" tIns="0" rIns="0" bIns="0" rtlCol="0" anchor="t">
            <a:spAutoFit/>
          </a:bodyPr>
          <a:lstStyle/>
          <a:p>
            <a:pPr algn="l">
              <a:lnSpc>
                <a:spcPts val="7326"/>
              </a:lnSpc>
            </a:pPr>
            <a:r>
              <a:rPr lang="en-US" sz="6105" spc="115" dirty="0">
                <a:solidFill>
                  <a:srgbClr val="F4C01E"/>
                </a:solidFill>
                <a:latin typeface="Anton Italics"/>
                <a:ea typeface="Anton Italics"/>
                <a:cs typeface="Anton Italics"/>
                <a:sym typeface="Anton Italics"/>
              </a:rPr>
              <a:t>LIMITATIONS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0" y="5475013"/>
            <a:ext cx="2894909" cy="4811987"/>
            <a:chOff x="0" y="0"/>
            <a:chExt cx="762445" cy="1267355"/>
          </a:xfrm>
        </p:grpSpPr>
        <p:sp>
          <p:nvSpPr>
            <p:cNvPr id="4" name="Freeform 4"/>
            <p:cNvSpPr/>
            <p:nvPr/>
          </p:nvSpPr>
          <p:spPr>
            <a:xfrm>
              <a:off x="0" y="0"/>
              <a:ext cx="762445" cy="1267355"/>
            </a:xfrm>
            <a:custGeom>
              <a:avLst/>
              <a:gdLst/>
              <a:ahLst/>
              <a:cxnLst/>
              <a:rect l="l" t="t" r="r" b="b"/>
              <a:pathLst>
                <a:path w="762445" h="1267355">
                  <a:moveTo>
                    <a:pt x="0" y="0"/>
                  </a:moveTo>
                  <a:lnTo>
                    <a:pt x="762445" y="0"/>
                  </a:lnTo>
                  <a:lnTo>
                    <a:pt x="762445" y="1267355"/>
                  </a:lnTo>
                  <a:lnTo>
                    <a:pt x="0" y="1267355"/>
                  </a:lnTo>
                  <a:close/>
                </a:path>
              </a:pathLst>
            </a:custGeom>
            <a:gradFill rotWithShape="1">
              <a:gsLst>
                <a:gs pos="0">
                  <a:srgbClr val="F5D739">
                    <a:alpha val="100000"/>
                  </a:srgbClr>
                </a:gs>
                <a:gs pos="100000">
                  <a:srgbClr val="3E9D81">
                    <a:alpha val="0"/>
                  </a:srgbClr>
                </a:gs>
              </a:gsLst>
              <a:lin ang="0"/>
            </a:gradFill>
          </p:spPr>
        </p:sp>
        <p:sp>
          <p:nvSpPr>
            <p:cNvPr id="5" name="TextBox 5"/>
            <p:cNvSpPr txBox="1"/>
            <p:nvPr/>
          </p:nvSpPr>
          <p:spPr>
            <a:xfrm>
              <a:off x="0" y="-28575"/>
              <a:ext cx="762445" cy="1295930"/>
            </a:xfrm>
            <a:prstGeom prst="rect">
              <a:avLst/>
            </a:prstGeom>
          </p:spPr>
          <p:txBody>
            <a:bodyPr lIns="50800" tIns="50800" rIns="50800" bIns="50800" rtlCol="0" anchor="ctr"/>
            <a:lstStyle/>
            <a:p>
              <a:pPr algn="ctr">
                <a:lnSpc>
                  <a:spcPts val="1960"/>
                </a:lnSpc>
              </a:pPr>
              <a:endParaRPr/>
            </a:p>
          </p:txBody>
        </p:sp>
      </p:grpSp>
      <p:grpSp>
        <p:nvGrpSpPr>
          <p:cNvPr id="6" name="Group 6"/>
          <p:cNvGrpSpPr/>
          <p:nvPr/>
        </p:nvGrpSpPr>
        <p:grpSpPr>
          <a:xfrm>
            <a:off x="1028700" y="5474162"/>
            <a:ext cx="7100676" cy="6419011"/>
            <a:chOff x="0" y="0"/>
            <a:chExt cx="6350000" cy="5740400"/>
          </a:xfrm>
        </p:grpSpPr>
        <p:sp>
          <p:nvSpPr>
            <p:cNvPr id="7" name="Freeform 7"/>
            <p:cNvSpPr/>
            <p:nvPr/>
          </p:nvSpPr>
          <p:spPr>
            <a:xfrm>
              <a:off x="0" y="0"/>
              <a:ext cx="6351270" cy="5741670"/>
            </a:xfrm>
            <a:custGeom>
              <a:avLst/>
              <a:gdLst/>
              <a:ahLst/>
              <a:cxnLst/>
              <a:rect l="l" t="t" r="r" b="b"/>
              <a:pathLst>
                <a:path w="6351270" h="5741670">
                  <a:moveTo>
                    <a:pt x="0" y="542290"/>
                  </a:moveTo>
                  <a:lnTo>
                    <a:pt x="0" y="2392680"/>
                  </a:lnTo>
                  <a:cubicBezTo>
                    <a:pt x="0" y="2691130"/>
                    <a:pt x="242570" y="2933700"/>
                    <a:pt x="542290" y="2933700"/>
                  </a:cubicBezTo>
                  <a:lnTo>
                    <a:pt x="1148080" y="2933700"/>
                  </a:lnTo>
                  <a:cubicBezTo>
                    <a:pt x="1447800" y="2933700"/>
                    <a:pt x="1690370" y="3176270"/>
                    <a:pt x="1690370" y="3475990"/>
                  </a:cubicBezTo>
                  <a:lnTo>
                    <a:pt x="1690370" y="5199380"/>
                  </a:lnTo>
                  <a:cubicBezTo>
                    <a:pt x="1690370" y="5499100"/>
                    <a:pt x="1932940" y="5741670"/>
                    <a:pt x="2232660" y="5741670"/>
                  </a:cubicBezTo>
                  <a:lnTo>
                    <a:pt x="3599180" y="5741670"/>
                  </a:lnTo>
                  <a:cubicBezTo>
                    <a:pt x="3735070" y="5741670"/>
                    <a:pt x="3867150" y="5689600"/>
                    <a:pt x="3967480" y="5598160"/>
                  </a:cubicBezTo>
                  <a:lnTo>
                    <a:pt x="6177280" y="3553460"/>
                  </a:lnTo>
                  <a:cubicBezTo>
                    <a:pt x="6287770" y="3450590"/>
                    <a:pt x="6351270" y="3307080"/>
                    <a:pt x="6351270" y="3155950"/>
                  </a:cubicBezTo>
                  <a:lnTo>
                    <a:pt x="6351270" y="542290"/>
                  </a:lnTo>
                  <a:cubicBezTo>
                    <a:pt x="6350000" y="242570"/>
                    <a:pt x="6107430" y="0"/>
                    <a:pt x="5807710" y="0"/>
                  </a:cubicBezTo>
                  <a:lnTo>
                    <a:pt x="542290" y="0"/>
                  </a:lnTo>
                  <a:cubicBezTo>
                    <a:pt x="242570" y="0"/>
                    <a:pt x="0" y="242570"/>
                    <a:pt x="0" y="542290"/>
                  </a:cubicBezTo>
                  <a:close/>
                </a:path>
              </a:pathLst>
            </a:custGeom>
            <a:blipFill>
              <a:blip r:embed="rId3"/>
              <a:stretch>
                <a:fillRect l="-54779" r="-29244"/>
              </a:stretch>
            </a:blipFill>
          </p:spPr>
        </p:sp>
      </p:grpSp>
      <p:sp>
        <p:nvSpPr>
          <p:cNvPr id="8" name="TextBox 8"/>
          <p:cNvSpPr txBox="1"/>
          <p:nvPr/>
        </p:nvSpPr>
        <p:spPr>
          <a:xfrm>
            <a:off x="10689628" y="2000369"/>
            <a:ext cx="4479478" cy="1255342"/>
          </a:xfrm>
          <a:prstGeom prst="rect">
            <a:avLst/>
          </a:prstGeom>
        </p:spPr>
        <p:txBody>
          <a:bodyPr lIns="0" tIns="0" rIns="0" bIns="0" rtlCol="0" anchor="t">
            <a:spAutoFit/>
          </a:bodyPr>
          <a:lstStyle/>
          <a:p>
            <a:pPr algn="l">
              <a:lnSpc>
                <a:spcPts val="4962"/>
              </a:lnSpc>
            </a:pPr>
            <a:r>
              <a:rPr lang="en-US" sz="4135" spc="-82" dirty="0">
                <a:solidFill>
                  <a:srgbClr val="F4C01E"/>
                </a:solidFill>
                <a:latin typeface="Anton Italics"/>
                <a:ea typeface="Anton Italics"/>
                <a:cs typeface="Anton Italics"/>
                <a:sym typeface="Anton Italics"/>
              </a:rPr>
              <a:t>WHAT’S NEXT IN </a:t>
            </a:r>
          </a:p>
          <a:p>
            <a:pPr algn="l">
              <a:lnSpc>
                <a:spcPts val="4962"/>
              </a:lnSpc>
            </a:pPr>
            <a:r>
              <a:rPr lang="en-US" sz="4135" spc="-82" dirty="0">
                <a:solidFill>
                  <a:srgbClr val="F4C01E"/>
                </a:solidFill>
                <a:latin typeface="Anton Italics"/>
                <a:ea typeface="Anton Italics"/>
                <a:cs typeface="Anton Italics"/>
                <a:sym typeface="Anton Italics"/>
              </a:rPr>
              <a:t>MAZE GAME....</a:t>
            </a:r>
          </a:p>
        </p:txBody>
      </p:sp>
      <p:sp>
        <p:nvSpPr>
          <p:cNvPr id="9" name="Freeform 9"/>
          <p:cNvSpPr/>
          <p:nvPr/>
        </p:nvSpPr>
        <p:spPr>
          <a:xfrm>
            <a:off x="14805701" y="2892306"/>
            <a:ext cx="726809" cy="726809"/>
          </a:xfrm>
          <a:custGeom>
            <a:avLst/>
            <a:gdLst/>
            <a:ahLst/>
            <a:cxnLst/>
            <a:rect l="l" t="t" r="r" b="b"/>
            <a:pathLst>
              <a:path w="726809" h="726809">
                <a:moveTo>
                  <a:pt x="0" y="0"/>
                </a:moveTo>
                <a:lnTo>
                  <a:pt x="726809" y="0"/>
                </a:lnTo>
                <a:lnTo>
                  <a:pt x="726809" y="726809"/>
                </a:lnTo>
                <a:lnTo>
                  <a:pt x="0" y="726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TextBox 10"/>
          <p:cNvSpPr txBox="1"/>
          <p:nvPr/>
        </p:nvSpPr>
        <p:spPr>
          <a:xfrm>
            <a:off x="1134436" y="1957982"/>
            <a:ext cx="8009564" cy="2657004"/>
          </a:xfrm>
          <a:prstGeom prst="rect">
            <a:avLst/>
          </a:prstGeom>
        </p:spPr>
        <p:txBody>
          <a:bodyPr lIns="0" tIns="0" rIns="0" bIns="0" rtlCol="0" anchor="t">
            <a:spAutoFit/>
          </a:bodyPr>
          <a:lstStyle/>
          <a:p>
            <a:pPr algn="l">
              <a:lnSpc>
                <a:spcPts val="10167"/>
              </a:lnSpc>
            </a:pPr>
            <a:r>
              <a:rPr lang="en-US" sz="10702" spc="-428" dirty="0">
                <a:solidFill>
                  <a:schemeClr val="bg1"/>
                </a:solidFill>
                <a:latin typeface="Anton Italics"/>
                <a:ea typeface="Anton Italics"/>
                <a:cs typeface="Anton Italics"/>
                <a:sym typeface="Anton Italics"/>
              </a:rPr>
              <a:t>FUTURE ENHANCEMENTS</a:t>
            </a:r>
          </a:p>
        </p:txBody>
      </p:sp>
      <p:grpSp>
        <p:nvGrpSpPr>
          <p:cNvPr id="11" name="Group 11"/>
          <p:cNvGrpSpPr/>
          <p:nvPr/>
        </p:nvGrpSpPr>
        <p:grpSpPr>
          <a:xfrm>
            <a:off x="10689628" y="4108232"/>
            <a:ext cx="5024045" cy="5468464"/>
            <a:chOff x="0" y="0"/>
            <a:chExt cx="6698726" cy="7291286"/>
          </a:xfrm>
        </p:grpSpPr>
        <p:grpSp>
          <p:nvGrpSpPr>
            <p:cNvPr id="12" name="Group 12"/>
            <p:cNvGrpSpPr/>
            <p:nvPr/>
          </p:nvGrpSpPr>
          <p:grpSpPr>
            <a:xfrm>
              <a:off x="0" y="0"/>
              <a:ext cx="6698726" cy="1688577"/>
              <a:chOff x="0" y="0"/>
              <a:chExt cx="1176095" cy="296463"/>
            </a:xfrm>
          </p:grpSpPr>
          <p:sp>
            <p:nvSpPr>
              <p:cNvPr id="13" name="Freeform 13"/>
              <p:cNvSpPr/>
              <p:nvPr/>
            </p:nvSpPr>
            <p:spPr>
              <a:xfrm>
                <a:off x="0" y="0"/>
                <a:ext cx="1176095" cy="296463"/>
              </a:xfrm>
              <a:custGeom>
                <a:avLst/>
                <a:gdLst/>
                <a:ahLst/>
                <a:cxnLst/>
                <a:rect l="l" t="t" r="r" b="b"/>
                <a:pathLst>
                  <a:path w="1176095" h="296463">
                    <a:moveTo>
                      <a:pt x="1176095" y="47770"/>
                    </a:moveTo>
                    <a:lnTo>
                      <a:pt x="1176095" y="248693"/>
                    </a:lnTo>
                    <a:cubicBezTo>
                      <a:pt x="1176095" y="261362"/>
                      <a:pt x="1171062" y="273513"/>
                      <a:pt x="1162103" y="282471"/>
                    </a:cubicBezTo>
                    <a:cubicBezTo>
                      <a:pt x="1153145" y="291430"/>
                      <a:pt x="1140994" y="296463"/>
                      <a:pt x="1128325" y="296463"/>
                    </a:cubicBezTo>
                    <a:lnTo>
                      <a:pt x="47770" y="296463"/>
                    </a:lnTo>
                    <a:cubicBezTo>
                      <a:pt x="35101" y="296463"/>
                      <a:pt x="22950" y="291430"/>
                      <a:pt x="13992" y="282471"/>
                    </a:cubicBezTo>
                    <a:cubicBezTo>
                      <a:pt x="5033" y="273513"/>
                      <a:pt x="0" y="261362"/>
                      <a:pt x="0" y="248693"/>
                    </a:cubicBezTo>
                    <a:lnTo>
                      <a:pt x="0" y="47770"/>
                    </a:lnTo>
                    <a:cubicBezTo>
                      <a:pt x="0" y="35101"/>
                      <a:pt x="5033" y="22950"/>
                      <a:pt x="13992" y="13992"/>
                    </a:cubicBezTo>
                    <a:cubicBezTo>
                      <a:pt x="22950" y="5033"/>
                      <a:pt x="35101" y="0"/>
                      <a:pt x="47770" y="0"/>
                    </a:cubicBezTo>
                    <a:lnTo>
                      <a:pt x="1128325" y="0"/>
                    </a:lnTo>
                    <a:cubicBezTo>
                      <a:pt x="1154708" y="0"/>
                      <a:pt x="1176095" y="21387"/>
                      <a:pt x="1176095" y="47770"/>
                    </a:cubicBezTo>
                    <a:close/>
                  </a:path>
                </a:pathLst>
              </a:custGeom>
              <a:solidFill>
                <a:srgbClr val="000000">
                  <a:alpha val="0"/>
                </a:srgbClr>
              </a:solidFill>
              <a:ln w="19050" cap="rnd">
                <a:solidFill>
                  <a:srgbClr val="8AB2A6"/>
                </a:solidFill>
                <a:prstDash val="solid"/>
                <a:round/>
              </a:ln>
            </p:spPr>
          </p:sp>
          <p:sp>
            <p:nvSpPr>
              <p:cNvPr id="14" name="TextBox 14"/>
              <p:cNvSpPr txBox="1"/>
              <p:nvPr/>
            </p:nvSpPr>
            <p:spPr>
              <a:xfrm>
                <a:off x="0" y="0"/>
                <a:ext cx="1176095" cy="296463"/>
              </a:xfrm>
              <a:prstGeom prst="rect">
                <a:avLst/>
              </a:prstGeom>
            </p:spPr>
            <p:txBody>
              <a:bodyPr lIns="50800" tIns="50800" rIns="50800" bIns="50800" rtlCol="0" anchor="ctr"/>
              <a:lstStyle/>
              <a:p>
                <a:pPr algn="ctr">
                  <a:lnSpc>
                    <a:spcPts val="1680"/>
                  </a:lnSpc>
                </a:pPr>
                <a:endParaRPr/>
              </a:p>
            </p:txBody>
          </p:sp>
        </p:grpSp>
        <p:sp>
          <p:nvSpPr>
            <p:cNvPr id="15" name="TextBox 15"/>
            <p:cNvSpPr txBox="1"/>
            <p:nvPr/>
          </p:nvSpPr>
          <p:spPr>
            <a:xfrm>
              <a:off x="2670666" y="370155"/>
              <a:ext cx="3592297" cy="910167"/>
            </a:xfrm>
            <a:prstGeom prst="rect">
              <a:avLst/>
            </a:prstGeom>
          </p:spPr>
          <p:txBody>
            <a:bodyPr lIns="0" tIns="0" rIns="0" bIns="0" rtlCol="0" anchor="t">
              <a:spAutoFit/>
            </a:bodyPr>
            <a:lstStyle/>
            <a:p>
              <a:pPr algn="l">
                <a:lnSpc>
                  <a:spcPts val="2799"/>
                </a:lnSpc>
              </a:pPr>
              <a:r>
                <a:rPr lang="en-US" sz="1999" spc="-39">
                  <a:solidFill>
                    <a:srgbClr val="FFFFFF"/>
                  </a:solidFill>
                  <a:latin typeface="Open Sauce"/>
                  <a:ea typeface="Open Sauce"/>
                  <a:cs typeface="Open Sauce"/>
                  <a:sym typeface="Open Sauce"/>
                </a:rPr>
                <a:t>A* pathfinding algorithm</a:t>
              </a:r>
            </a:p>
          </p:txBody>
        </p:sp>
        <p:sp>
          <p:nvSpPr>
            <p:cNvPr id="16" name="TextBox 16"/>
            <p:cNvSpPr txBox="1"/>
            <p:nvPr/>
          </p:nvSpPr>
          <p:spPr>
            <a:xfrm>
              <a:off x="667430" y="27890"/>
              <a:ext cx="378716" cy="1499446"/>
            </a:xfrm>
            <a:prstGeom prst="rect">
              <a:avLst/>
            </a:prstGeom>
          </p:spPr>
          <p:txBody>
            <a:bodyPr lIns="0" tIns="0" rIns="0" bIns="0" rtlCol="0" anchor="t">
              <a:spAutoFit/>
            </a:bodyPr>
            <a:lstStyle/>
            <a:p>
              <a:pPr algn="ctr">
                <a:lnSpc>
                  <a:spcPts val="9459"/>
                </a:lnSpc>
              </a:pPr>
              <a:r>
                <a:rPr lang="en-US" sz="6756">
                  <a:solidFill>
                    <a:srgbClr val="F4C01E"/>
                  </a:solidFill>
                  <a:latin typeface="Anton"/>
                  <a:ea typeface="Anton"/>
                  <a:cs typeface="Anton"/>
                  <a:sym typeface="Anton"/>
                </a:rPr>
                <a:t>1</a:t>
              </a:r>
            </a:p>
          </p:txBody>
        </p:sp>
        <p:grpSp>
          <p:nvGrpSpPr>
            <p:cNvPr id="17" name="Group 17"/>
            <p:cNvGrpSpPr/>
            <p:nvPr/>
          </p:nvGrpSpPr>
          <p:grpSpPr>
            <a:xfrm>
              <a:off x="0" y="1869955"/>
              <a:ext cx="6698726" cy="1688577"/>
              <a:chOff x="0" y="0"/>
              <a:chExt cx="1176095" cy="296463"/>
            </a:xfrm>
          </p:grpSpPr>
          <p:sp>
            <p:nvSpPr>
              <p:cNvPr id="18" name="Freeform 18"/>
              <p:cNvSpPr/>
              <p:nvPr/>
            </p:nvSpPr>
            <p:spPr>
              <a:xfrm>
                <a:off x="0" y="0"/>
                <a:ext cx="1176095" cy="296463"/>
              </a:xfrm>
              <a:custGeom>
                <a:avLst/>
                <a:gdLst/>
                <a:ahLst/>
                <a:cxnLst/>
                <a:rect l="l" t="t" r="r" b="b"/>
                <a:pathLst>
                  <a:path w="1176095" h="296463">
                    <a:moveTo>
                      <a:pt x="1176095" y="47770"/>
                    </a:moveTo>
                    <a:lnTo>
                      <a:pt x="1176095" y="248693"/>
                    </a:lnTo>
                    <a:cubicBezTo>
                      <a:pt x="1176095" y="261362"/>
                      <a:pt x="1171062" y="273513"/>
                      <a:pt x="1162103" y="282471"/>
                    </a:cubicBezTo>
                    <a:cubicBezTo>
                      <a:pt x="1153145" y="291430"/>
                      <a:pt x="1140994" y="296463"/>
                      <a:pt x="1128325" y="296463"/>
                    </a:cubicBezTo>
                    <a:lnTo>
                      <a:pt x="47770" y="296463"/>
                    </a:lnTo>
                    <a:cubicBezTo>
                      <a:pt x="35101" y="296463"/>
                      <a:pt x="22950" y="291430"/>
                      <a:pt x="13992" y="282471"/>
                    </a:cubicBezTo>
                    <a:cubicBezTo>
                      <a:pt x="5033" y="273513"/>
                      <a:pt x="0" y="261362"/>
                      <a:pt x="0" y="248693"/>
                    </a:cubicBezTo>
                    <a:lnTo>
                      <a:pt x="0" y="47770"/>
                    </a:lnTo>
                    <a:cubicBezTo>
                      <a:pt x="0" y="35101"/>
                      <a:pt x="5033" y="22950"/>
                      <a:pt x="13992" y="13992"/>
                    </a:cubicBezTo>
                    <a:cubicBezTo>
                      <a:pt x="22950" y="5033"/>
                      <a:pt x="35101" y="0"/>
                      <a:pt x="47770" y="0"/>
                    </a:cubicBezTo>
                    <a:lnTo>
                      <a:pt x="1128325" y="0"/>
                    </a:lnTo>
                    <a:cubicBezTo>
                      <a:pt x="1154708" y="0"/>
                      <a:pt x="1176095" y="21387"/>
                      <a:pt x="1176095" y="47770"/>
                    </a:cubicBezTo>
                    <a:close/>
                  </a:path>
                </a:pathLst>
              </a:custGeom>
              <a:solidFill>
                <a:srgbClr val="000000">
                  <a:alpha val="0"/>
                </a:srgbClr>
              </a:solidFill>
              <a:ln w="19050" cap="rnd">
                <a:solidFill>
                  <a:srgbClr val="8AB2A6"/>
                </a:solidFill>
                <a:prstDash val="solid"/>
                <a:round/>
              </a:ln>
            </p:spPr>
          </p:sp>
          <p:sp>
            <p:nvSpPr>
              <p:cNvPr id="19" name="TextBox 19"/>
              <p:cNvSpPr txBox="1"/>
              <p:nvPr/>
            </p:nvSpPr>
            <p:spPr>
              <a:xfrm>
                <a:off x="0" y="0"/>
                <a:ext cx="1176095" cy="296463"/>
              </a:xfrm>
              <a:prstGeom prst="rect">
                <a:avLst/>
              </a:prstGeom>
            </p:spPr>
            <p:txBody>
              <a:bodyPr lIns="50800" tIns="50800" rIns="50800" bIns="50800" rtlCol="0" anchor="ctr"/>
              <a:lstStyle/>
              <a:p>
                <a:pPr algn="ctr">
                  <a:lnSpc>
                    <a:spcPts val="1680"/>
                  </a:lnSpc>
                </a:pPr>
                <a:endParaRPr/>
              </a:p>
            </p:txBody>
          </p:sp>
        </p:grpSp>
        <p:sp>
          <p:nvSpPr>
            <p:cNvPr id="20" name="TextBox 20"/>
            <p:cNvSpPr txBox="1"/>
            <p:nvPr/>
          </p:nvSpPr>
          <p:spPr>
            <a:xfrm>
              <a:off x="2670666" y="2240110"/>
              <a:ext cx="3001085" cy="910167"/>
            </a:xfrm>
            <a:prstGeom prst="rect">
              <a:avLst/>
            </a:prstGeom>
          </p:spPr>
          <p:txBody>
            <a:bodyPr lIns="0" tIns="0" rIns="0" bIns="0" rtlCol="0" anchor="t">
              <a:spAutoFit/>
            </a:bodyPr>
            <a:lstStyle/>
            <a:p>
              <a:pPr algn="l">
                <a:lnSpc>
                  <a:spcPts val="2799"/>
                </a:lnSpc>
              </a:pPr>
              <a:r>
                <a:rPr lang="en-US" sz="1999" spc="-39">
                  <a:solidFill>
                    <a:srgbClr val="FFFFFF"/>
                  </a:solidFill>
                  <a:latin typeface="Open Sauce"/>
                  <a:ea typeface="Open Sauce"/>
                  <a:cs typeface="Open Sauce"/>
                  <a:sym typeface="Open Sauce"/>
                </a:rPr>
                <a:t>Dynamic maze size</a:t>
              </a:r>
            </a:p>
          </p:txBody>
        </p:sp>
        <p:sp>
          <p:nvSpPr>
            <p:cNvPr id="21" name="TextBox 21"/>
            <p:cNvSpPr txBox="1"/>
            <p:nvPr/>
          </p:nvSpPr>
          <p:spPr>
            <a:xfrm>
              <a:off x="574160" y="1897845"/>
              <a:ext cx="565256" cy="1499446"/>
            </a:xfrm>
            <a:prstGeom prst="rect">
              <a:avLst/>
            </a:prstGeom>
          </p:spPr>
          <p:txBody>
            <a:bodyPr lIns="0" tIns="0" rIns="0" bIns="0" rtlCol="0" anchor="t">
              <a:spAutoFit/>
            </a:bodyPr>
            <a:lstStyle/>
            <a:p>
              <a:pPr algn="ctr">
                <a:lnSpc>
                  <a:spcPts val="9459"/>
                </a:lnSpc>
              </a:pPr>
              <a:r>
                <a:rPr lang="en-US" sz="6756">
                  <a:solidFill>
                    <a:srgbClr val="F4C01E"/>
                  </a:solidFill>
                  <a:latin typeface="Anton"/>
                  <a:ea typeface="Anton"/>
                  <a:cs typeface="Anton"/>
                  <a:sym typeface="Anton"/>
                </a:rPr>
                <a:t>2</a:t>
              </a:r>
            </a:p>
          </p:txBody>
        </p:sp>
        <p:grpSp>
          <p:nvGrpSpPr>
            <p:cNvPr id="22" name="Group 22"/>
            <p:cNvGrpSpPr/>
            <p:nvPr/>
          </p:nvGrpSpPr>
          <p:grpSpPr>
            <a:xfrm>
              <a:off x="0" y="3736332"/>
              <a:ext cx="6698726" cy="1688577"/>
              <a:chOff x="0" y="0"/>
              <a:chExt cx="1176095" cy="296463"/>
            </a:xfrm>
          </p:grpSpPr>
          <p:sp>
            <p:nvSpPr>
              <p:cNvPr id="23" name="Freeform 23"/>
              <p:cNvSpPr/>
              <p:nvPr/>
            </p:nvSpPr>
            <p:spPr>
              <a:xfrm>
                <a:off x="0" y="0"/>
                <a:ext cx="1176095" cy="296463"/>
              </a:xfrm>
              <a:custGeom>
                <a:avLst/>
                <a:gdLst/>
                <a:ahLst/>
                <a:cxnLst/>
                <a:rect l="l" t="t" r="r" b="b"/>
                <a:pathLst>
                  <a:path w="1176095" h="296463">
                    <a:moveTo>
                      <a:pt x="1176095" y="47770"/>
                    </a:moveTo>
                    <a:lnTo>
                      <a:pt x="1176095" y="248693"/>
                    </a:lnTo>
                    <a:cubicBezTo>
                      <a:pt x="1176095" y="261362"/>
                      <a:pt x="1171062" y="273513"/>
                      <a:pt x="1162103" y="282471"/>
                    </a:cubicBezTo>
                    <a:cubicBezTo>
                      <a:pt x="1153145" y="291430"/>
                      <a:pt x="1140994" y="296463"/>
                      <a:pt x="1128325" y="296463"/>
                    </a:cubicBezTo>
                    <a:lnTo>
                      <a:pt x="47770" y="296463"/>
                    </a:lnTo>
                    <a:cubicBezTo>
                      <a:pt x="35101" y="296463"/>
                      <a:pt x="22950" y="291430"/>
                      <a:pt x="13992" y="282471"/>
                    </a:cubicBezTo>
                    <a:cubicBezTo>
                      <a:pt x="5033" y="273513"/>
                      <a:pt x="0" y="261362"/>
                      <a:pt x="0" y="248693"/>
                    </a:cubicBezTo>
                    <a:lnTo>
                      <a:pt x="0" y="47770"/>
                    </a:lnTo>
                    <a:cubicBezTo>
                      <a:pt x="0" y="35101"/>
                      <a:pt x="5033" y="22950"/>
                      <a:pt x="13992" y="13992"/>
                    </a:cubicBezTo>
                    <a:cubicBezTo>
                      <a:pt x="22950" y="5033"/>
                      <a:pt x="35101" y="0"/>
                      <a:pt x="47770" y="0"/>
                    </a:cubicBezTo>
                    <a:lnTo>
                      <a:pt x="1128325" y="0"/>
                    </a:lnTo>
                    <a:cubicBezTo>
                      <a:pt x="1154708" y="0"/>
                      <a:pt x="1176095" y="21387"/>
                      <a:pt x="1176095" y="47770"/>
                    </a:cubicBezTo>
                    <a:close/>
                  </a:path>
                </a:pathLst>
              </a:custGeom>
              <a:solidFill>
                <a:srgbClr val="000000">
                  <a:alpha val="0"/>
                </a:srgbClr>
              </a:solidFill>
              <a:ln w="19050" cap="rnd">
                <a:solidFill>
                  <a:srgbClr val="8AB2A6"/>
                </a:solidFill>
                <a:prstDash val="solid"/>
                <a:round/>
              </a:ln>
            </p:spPr>
          </p:sp>
          <p:sp>
            <p:nvSpPr>
              <p:cNvPr id="24" name="TextBox 24"/>
              <p:cNvSpPr txBox="1"/>
              <p:nvPr/>
            </p:nvSpPr>
            <p:spPr>
              <a:xfrm>
                <a:off x="0" y="0"/>
                <a:ext cx="1176095" cy="296463"/>
              </a:xfrm>
              <a:prstGeom prst="rect">
                <a:avLst/>
              </a:prstGeom>
            </p:spPr>
            <p:txBody>
              <a:bodyPr lIns="50800" tIns="50800" rIns="50800" bIns="50800" rtlCol="0" anchor="ctr"/>
              <a:lstStyle/>
              <a:p>
                <a:pPr algn="ctr">
                  <a:lnSpc>
                    <a:spcPts val="1680"/>
                  </a:lnSpc>
                </a:pPr>
                <a:endParaRPr/>
              </a:p>
            </p:txBody>
          </p:sp>
        </p:grpSp>
        <p:sp>
          <p:nvSpPr>
            <p:cNvPr id="25" name="TextBox 25"/>
            <p:cNvSpPr txBox="1"/>
            <p:nvPr/>
          </p:nvSpPr>
          <p:spPr>
            <a:xfrm>
              <a:off x="2670666" y="4106487"/>
              <a:ext cx="3592297" cy="910167"/>
            </a:xfrm>
            <a:prstGeom prst="rect">
              <a:avLst/>
            </a:prstGeom>
          </p:spPr>
          <p:txBody>
            <a:bodyPr lIns="0" tIns="0" rIns="0" bIns="0" rtlCol="0" anchor="t">
              <a:spAutoFit/>
            </a:bodyPr>
            <a:lstStyle/>
            <a:p>
              <a:pPr algn="l">
                <a:lnSpc>
                  <a:spcPts val="2799"/>
                </a:lnSpc>
              </a:pPr>
              <a:r>
                <a:rPr lang="en-US" sz="1999" spc="-39">
                  <a:solidFill>
                    <a:srgbClr val="FFFFFF"/>
                  </a:solidFill>
                  <a:latin typeface="Open Sauce"/>
                  <a:ea typeface="Open Sauce"/>
                  <a:cs typeface="Open Sauce"/>
                  <a:sym typeface="Open Sauce"/>
                </a:rPr>
                <a:t>Graphical UI (SFML/SDL)</a:t>
              </a:r>
            </a:p>
          </p:txBody>
        </p:sp>
        <p:sp>
          <p:nvSpPr>
            <p:cNvPr id="26" name="TextBox 26"/>
            <p:cNvSpPr txBox="1"/>
            <p:nvPr/>
          </p:nvSpPr>
          <p:spPr>
            <a:xfrm>
              <a:off x="574160" y="3764222"/>
              <a:ext cx="565256" cy="1499446"/>
            </a:xfrm>
            <a:prstGeom prst="rect">
              <a:avLst/>
            </a:prstGeom>
          </p:spPr>
          <p:txBody>
            <a:bodyPr lIns="0" tIns="0" rIns="0" bIns="0" rtlCol="0" anchor="t">
              <a:spAutoFit/>
            </a:bodyPr>
            <a:lstStyle/>
            <a:p>
              <a:pPr algn="ctr">
                <a:lnSpc>
                  <a:spcPts val="9459"/>
                </a:lnSpc>
              </a:pPr>
              <a:r>
                <a:rPr lang="en-US" sz="6756">
                  <a:solidFill>
                    <a:srgbClr val="F4C01E"/>
                  </a:solidFill>
                  <a:latin typeface="Anton"/>
                  <a:ea typeface="Anton"/>
                  <a:cs typeface="Anton"/>
                  <a:sym typeface="Anton"/>
                </a:rPr>
                <a:t>3</a:t>
              </a:r>
            </a:p>
          </p:txBody>
        </p:sp>
        <p:grpSp>
          <p:nvGrpSpPr>
            <p:cNvPr id="27" name="Group 27"/>
            <p:cNvGrpSpPr/>
            <p:nvPr/>
          </p:nvGrpSpPr>
          <p:grpSpPr>
            <a:xfrm>
              <a:off x="0" y="5602709"/>
              <a:ext cx="6698726" cy="1688577"/>
              <a:chOff x="0" y="0"/>
              <a:chExt cx="1176095" cy="296463"/>
            </a:xfrm>
          </p:grpSpPr>
          <p:sp>
            <p:nvSpPr>
              <p:cNvPr id="28" name="Freeform 28"/>
              <p:cNvSpPr/>
              <p:nvPr/>
            </p:nvSpPr>
            <p:spPr>
              <a:xfrm>
                <a:off x="0" y="0"/>
                <a:ext cx="1176095" cy="296463"/>
              </a:xfrm>
              <a:custGeom>
                <a:avLst/>
                <a:gdLst/>
                <a:ahLst/>
                <a:cxnLst/>
                <a:rect l="l" t="t" r="r" b="b"/>
                <a:pathLst>
                  <a:path w="1176095" h="296463">
                    <a:moveTo>
                      <a:pt x="1176095" y="47770"/>
                    </a:moveTo>
                    <a:lnTo>
                      <a:pt x="1176095" y="248693"/>
                    </a:lnTo>
                    <a:cubicBezTo>
                      <a:pt x="1176095" y="261362"/>
                      <a:pt x="1171062" y="273513"/>
                      <a:pt x="1162103" y="282471"/>
                    </a:cubicBezTo>
                    <a:cubicBezTo>
                      <a:pt x="1153145" y="291430"/>
                      <a:pt x="1140994" y="296463"/>
                      <a:pt x="1128325" y="296463"/>
                    </a:cubicBezTo>
                    <a:lnTo>
                      <a:pt x="47770" y="296463"/>
                    </a:lnTo>
                    <a:cubicBezTo>
                      <a:pt x="35101" y="296463"/>
                      <a:pt x="22950" y="291430"/>
                      <a:pt x="13992" y="282471"/>
                    </a:cubicBezTo>
                    <a:cubicBezTo>
                      <a:pt x="5033" y="273513"/>
                      <a:pt x="0" y="261362"/>
                      <a:pt x="0" y="248693"/>
                    </a:cubicBezTo>
                    <a:lnTo>
                      <a:pt x="0" y="47770"/>
                    </a:lnTo>
                    <a:cubicBezTo>
                      <a:pt x="0" y="35101"/>
                      <a:pt x="5033" y="22950"/>
                      <a:pt x="13992" y="13992"/>
                    </a:cubicBezTo>
                    <a:cubicBezTo>
                      <a:pt x="22950" y="5033"/>
                      <a:pt x="35101" y="0"/>
                      <a:pt x="47770" y="0"/>
                    </a:cubicBezTo>
                    <a:lnTo>
                      <a:pt x="1128325" y="0"/>
                    </a:lnTo>
                    <a:cubicBezTo>
                      <a:pt x="1154708" y="0"/>
                      <a:pt x="1176095" y="21387"/>
                      <a:pt x="1176095" y="47770"/>
                    </a:cubicBezTo>
                    <a:close/>
                  </a:path>
                </a:pathLst>
              </a:custGeom>
              <a:solidFill>
                <a:srgbClr val="000000">
                  <a:alpha val="0"/>
                </a:srgbClr>
              </a:solidFill>
              <a:ln w="19050" cap="rnd">
                <a:solidFill>
                  <a:srgbClr val="8AB2A6"/>
                </a:solidFill>
                <a:prstDash val="solid"/>
                <a:round/>
              </a:ln>
            </p:spPr>
          </p:sp>
          <p:sp>
            <p:nvSpPr>
              <p:cNvPr id="29" name="TextBox 29"/>
              <p:cNvSpPr txBox="1"/>
              <p:nvPr/>
            </p:nvSpPr>
            <p:spPr>
              <a:xfrm>
                <a:off x="0" y="0"/>
                <a:ext cx="1176095" cy="296463"/>
              </a:xfrm>
              <a:prstGeom prst="rect">
                <a:avLst/>
              </a:prstGeom>
            </p:spPr>
            <p:txBody>
              <a:bodyPr lIns="50800" tIns="50800" rIns="50800" bIns="50800" rtlCol="0" anchor="ctr"/>
              <a:lstStyle/>
              <a:p>
                <a:pPr algn="ctr">
                  <a:lnSpc>
                    <a:spcPts val="1680"/>
                  </a:lnSpc>
                </a:pPr>
                <a:endParaRPr/>
              </a:p>
            </p:txBody>
          </p:sp>
        </p:grpSp>
        <p:sp>
          <p:nvSpPr>
            <p:cNvPr id="30" name="TextBox 30"/>
            <p:cNvSpPr txBox="1"/>
            <p:nvPr/>
          </p:nvSpPr>
          <p:spPr>
            <a:xfrm>
              <a:off x="2670666" y="5972864"/>
              <a:ext cx="3592297" cy="910167"/>
            </a:xfrm>
            <a:prstGeom prst="rect">
              <a:avLst/>
            </a:prstGeom>
          </p:spPr>
          <p:txBody>
            <a:bodyPr lIns="0" tIns="0" rIns="0" bIns="0" rtlCol="0" anchor="t">
              <a:spAutoFit/>
            </a:bodyPr>
            <a:lstStyle/>
            <a:p>
              <a:pPr algn="l">
                <a:lnSpc>
                  <a:spcPts val="2799"/>
                </a:lnSpc>
              </a:pPr>
              <a:r>
                <a:rPr lang="en-US" sz="1999" spc="-39">
                  <a:solidFill>
                    <a:srgbClr val="FFFFFF"/>
                  </a:solidFill>
                  <a:latin typeface="Open Sauce"/>
                  <a:ea typeface="Open Sauce"/>
                  <a:cs typeface="Open Sauce"/>
                  <a:sym typeface="Open Sauce"/>
                </a:rPr>
                <a:t>AI-based player behavior</a:t>
              </a:r>
            </a:p>
          </p:txBody>
        </p:sp>
        <p:sp>
          <p:nvSpPr>
            <p:cNvPr id="31" name="TextBox 31"/>
            <p:cNvSpPr txBox="1"/>
            <p:nvPr/>
          </p:nvSpPr>
          <p:spPr>
            <a:xfrm>
              <a:off x="574160" y="5630599"/>
              <a:ext cx="565256" cy="1499446"/>
            </a:xfrm>
            <a:prstGeom prst="rect">
              <a:avLst/>
            </a:prstGeom>
          </p:spPr>
          <p:txBody>
            <a:bodyPr lIns="0" tIns="0" rIns="0" bIns="0" rtlCol="0" anchor="t">
              <a:spAutoFit/>
            </a:bodyPr>
            <a:lstStyle/>
            <a:p>
              <a:pPr algn="ctr">
                <a:lnSpc>
                  <a:spcPts val="9459"/>
                </a:lnSpc>
              </a:pPr>
              <a:r>
                <a:rPr lang="en-US" sz="6756">
                  <a:solidFill>
                    <a:srgbClr val="F4C01E"/>
                  </a:solidFill>
                  <a:latin typeface="Anton"/>
                  <a:ea typeface="Anton"/>
                  <a:cs typeface="Anton"/>
                  <a:sym typeface="Anton"/>
                </a:rPr>
                <a:t>4</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1028700" y="1028700"/>
            <a:ext cx="16230600" cy="3146795"/>
            <a:chOff x="0" y="0"/>
            <a:chExt cx="2696887" cy="522873"/>
          </a:xfrm>
        </p:grpSpPr>
        <p:sp>
          <p:nvSpPr>
            <p:cNvPr id="4" name="Freeform 4"/>
            <p:cNvSpPr/>
            <p:nvPr/>
          </p:nvSpPr>
          <p:spPr>
            <a:xfrm>
              <a:off x="0" y="0"/>
              <a:ext cx="2696887" cy="522873"/>
            </a:xfrm>
            <a:custGeom>
              <a:avLst/>
              <a:gdLst/>
              <a:ahLst/>
              <a:cxnLst/>
              <a:rect l="l" t="t" r="r" b="b"/>
              <a:pathLst>
                <a:path w="2696887" h="522873">
                  <a:moveTo>
                    <a:pt x="2696887" y="24327"/>
                  </a:moveTo>
                  <a:lnTo>
                    <a:pt x="2696887" y="498546"/>
                  </a:lnTo>
                  <a:cubicBezTo>
                    <a:pt x="2696887" y="511981"/>
                    <a:pt x="2685995" y="522873"/>
                    <a:pt x="2672560" y="522873"/>
                  </a:cubicBezTo>
                  <a:lnTo>
                    <a:pt x="24327" y="522873"/>
                  </a:lnTo>
                  <a:cubicBezTo>
                    <a:pt x="10891" y="522873"/>
                    <a:pt x="0" y="511981"/>
                    <a:pt x="0" y="498546"/>
                  </a:cubicBezTo>
                  <a:lnTo>
                    <a:pt x="0" y="24327"/>
                  </a:lnTo>
                  <a:cubicBezTo>
                    <a:pt x="0" y="10891"/>
                    <a:pt x="10891" y="0"/>
                    <a:pt x="24327" y="0"/>
                  </a:cubicBezTo>
                  <a:lnTo>
                    <a:pt x="2672560" y="0"/>
                  </a:lnTo>
                  <a:cubicBezTo>
                    <a:pt x="2685995" y="0"/>
                    <a:pt x="2696887" y="10891"/>
                    <a:pt x="2696887" y="24327"/>
                  </a:cubicBezTo>
                  <a:close/>
                </a:path>
              </a:pathLst>
            </a:custGeom>
            <a:solidFill>
              <a:srgbClr val="000000">
                <a:alpha val="0"/>
              </a:srgbClr>
            </a:solidFill>
            <a:ln w="19050" cap="rnd">
              <a:solidFill>
                <a:srgbClr val="8AB2A6"/>
              </a:solidFill>
              <a:prstDash val="solid"/>
              <a:round/>
            </a:ln>
          </p:spPr>
        </p:sp>
        <p:sp>
          <p:nvSpPr>
            <p:cNvPr id="5" name="TextBox 5"/>
            <p:cNvSpPr txBox="1"/>
            <p:nvPr/>
          </p:nvSpPr>
          <p:spPr>
            <a:xfrm>
              <a:off x="0" y="0"/>
              <a:ext cx="2696887" cy="522873"/>
            </a:xfrm>
            <a:prstGeom prst="rect">
              <a:avLst/>
            </a:prstGeom>
          </p:spPr>
          <p:txBody>
            <a:bodyPr lIns="50800" tIns="50800" rIns="50800" bIns="50800" rtlCol="0" anchor="ctr"/>
            <a:lstStyle/>
            <a:p>
              <a:pPr algn="ctr">
                <a:lnSpc>
                  <a:spcPts val="1680"/>
                </a:lnSpc>
              </a:pPr>
              <a:endParaRPr/>
            </a:p>
          </p:txBody>
        </p:sp>
      </p:grpSp>
      <p:grpSp>
        <p:nvGrpSpPr>
          <p:cNvPr id="6" name="Group 6"/>
          <p:cNvGrpSpPr/>
          <p:nvPr/>
        </p:nvGrpSpPr>
        <p:grpSpPr>
          <a:xfrm>
            <a:off x="1028700" y="1523340"/>
            <a:ext cx="2556436" cy="2157516"/>
            <a:chOff x="0" y="0"/>
            <a:chExt cx="673300" cy="568235"/>
          </a:xfrm>
        </p:grpSpPr>
        <p:sp>
          <p:nvSpPr>
            <p:cNvPr id="7" name="Freeform 7"/>
            <p:cNvSpPr/>
            <p:nvPr/>
          </p:nvSpPr>
          <p:spPr>
            <a:xfrm>
              <a:off x="0" y="0"/>
              <a:ext cx="673300" cy="568235"/>
            </a:xfrm>
            <a:custGeom>
              <a:avLst/>
              <a:gdLst/>
              <a:ahLst/>
              <a:cxnLst/>
              <a:rect l="l" t="t" r="r" b="b"/>
              <a:pathLst>
                <a:path w="673300" h="568235">
                  <a:moveTo>
                    <a:pt x="0" y="0"/>
                  </a:moveTo>
                  <a:lnTo>
                    <a:pt x="673300" y="0"/>
                  </a:lnTo>
                  <a:lnTo>
                    <a:pt x="673300" y="568235"/>
                  </a:lnTo>
                  <a:lnTo>
                    <a:pt x="0" y="568235"/>
                  </a:lnTo>
                  <a:close/>
                </a:path>
              </a:pathLst>
            </a:custGeom>
            <a:gradFill rotWithShape="1">
              <a:gsLst>
                <a:gs pos="0">
                  <a:srgbClr val="F5D739">
                    <a:alpha val="100000"/>
                  </a:srgbClr>
                </a:gs>
                <a:gs pos="100000">
                  <a:srgbClr val="3E9D81">
                    <a:alpha val="0"/>
                  </a:srgbClr>
                </a:gs>
              </a:gsLst>
              <a:lin ang="0"/>
            </a:gradFill>
          </p:spPr>
        </p:sp>
        <p:sp>
          <p:nvSpPr>
            <p:cNvPr id="8" name="TextBox 8"/>
            <p:cNvSpPr txBox="1"/>
            <p:nvPr/>
          </p:nvSpPr>
          <p:spPr>
            <a:xfrm>
              <a:off x="0" y="-28575"/>
              <a:ext cx="673300" cy="596810"/>
            </a:xfrm>
            <a:prstGeom prst="rect">
              <a:avLst/>
            </a:prstGeom>
          </p:spPr>
          <p:txBody>
            <a:bodyPr lIns="50800" tIns="50800" rIns="50800" bIns="50800" rtlCol="0" anchor="ctr"/>
            <a:lstStyle/>
            <a:p>
              <a:pPr algn="ctr">
                <a:lnSpc>
                  <a:spcPts val="1960"/>
                </a:lnSpc>
              </a:pPr>
              <a:endParaRPr/>
            </a:p>
          </p:txBody>
        </p:sp>
      </p:grpSp>
      <p:sp>
        <p:nvSpPr>
          <p:cNvPr id="9" name="TextBox 9"/>
          <p:cNvSpPr txBox="1"/>
          <p:nvPr/>
        </p:nvSpPr>
        <p:spPr>
          <a:xfrm>
            <a:off x="3024339" y="1973726"/>
            <a:ext cx="11850772" cy="2125931"/>
          </a:xfrm>
          <a:prstGeom prst="rect">
            <a:avLst/>
          </a:prstGeom>
        </p:spPr>
        <p:txBody>
          <a:bodyPr lIns="0" tIns="0" rIns="0" bIns="0" rtlCol="0" anchor="t">
            <a:spAutoFit/>
          </a:bodyPr>
          <a:lstStyle/>
          <a:p>
            <a:pPr algn="ctr">
              <a:lnSpc>
                <a:spcPts val="15870"/>
              </a:lnSpc>
            </a:pPr>
            <a:r>
              <a:rPr lang="en-US" sz="16706" spc="-668" dirty="0">
                <a:solidFill>
                  <a:schemeClr val="bg1"/>
                </a:solidFill>
                <a:latin typeface="Anton Italics"/>
                <a:ea typeface="Anton Italics"/>
                <a:cs typeface="Anton Italics"/>
                <a:sym typeface="Anton Italics"/>
              </a:rPr>
              <a:t>CONCLUSION</a:t>
            </a:r>
          </a:p>
        </p:txBody>
      </p:sp>
      <p:sp>
        <p:nvSpPr>
          <p:cNvPr id="10" name="Freeform 10"/>
          <p:cNvSpPr/>
          <p:nvPr/>
        </p:nvSpPr>
        <p:spPr>
          <a:xfrm>
            <a:off x="1028700" y="8852693"/>
            <a:ext cx="392115" cy="392115"/>
          </a:xfrm>
          <a:custGeom>
            <a:avLst/>
            <a:gdLst/>
            <a:ahLst/>
            <a:cxnLst/>
            <a:rect l="l" t="t" r="r" b="b"/>
            <a:pathLst>
              <a:path w="392115" h="392115">
                <a:moveTo>
                  <a:pt x="0" y="0"/>
                </a:moveTo>
                <a:lnTo>
                  <a:pt x="392115" y="0"/>
                </a:lnTo>
                <a:lnTo>
                  <a:pt x="392115" y="392114"/>
                </a:lnTo>
                <a:lnTo>
                  <a:pt x="0" y="39211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11"/>
          <p:cNvSpPr/>
          <p:nvPr/>
        </p:nvSpPr>
        <p:spPr>
          <a:xfrm>
            <a:off x="3221732" y="2238693"/>
            <a:ext cx="726809" cy="726809"/>
          </a:xfrm>
          <a:custGeom>
            <a:avLst/>
            <a:gdLst/>
            <a:ahLst/>
            <a:cxnLst/>
            <a:rect l="l" t="t" r="r" b="b"/>
            <a:pathLst>
              <a:path w="726809" h="726809">
                <a:moveTo>
                  <a:pt x="0" y="0"/>
                </a:moveTo>
                <a:lnTo>
                  <a:pt x="726808" y="0"/>
                </a:lnTo>
                <a:lnTo>
                  <a:pt x="726808" y="726809"/>
                </a:lnTo>
                <a:lnTo>
                  <a:pt x="0" y="7268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2" name="Freeform 12"/>
          <p:cNvSpPr/>
          <p:nvPr/>
        </p:nvSpPr>
        <p:spPr>
          <a:xfrm>
            <a:off x="10078941" y="4675321"/>
            <a:ext cx="726809" cy="726809"/>
          </a:xfrm>
          <a:custGeom>
            <a:avLst/>
            <a:gdLst/>
            <a:ahLst/>
            <a:cxnLst/>
            <a:rect l="l" t="t" r="r" b="b"/>
            <a:pathLst>
              <a:path w="726809" h="726809">
                <a:moveTo>
                  <a:pt x="0" y="0"/>
                </a:moveTo>
                <a:lnTo>
                  <a:pt x="726809" y="0"/>
                </a:lnTo>
                <a:lnTo>
                  <a:pt x="726809" y="726808"/>
                </a:lnTo>
                <a:lnTo>
                  <a:pt x="0" y="72680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13" name="Group 13"/>
          <p:cNvGrpSpPr/>
          <p:nvPr/>
        </p:nvGrpSpPr>
        <p:grpSpPr>
          <a:xfrm rot="-10800000">
            <a:off x="14675165" y="1523340"/>
            <a:ext cx="2556436" cy="2157516"/>
            <a:chOff x="0" y="0"/>
            <a:chExt cx="673300" cy="568235"/>
          </a:xfrm>
        </p:grpSpPr>
        <p:sp>
          <p:nvSpPr>
            <p:cNvPr id="14" name="Freeform 14"/>
            <p:cNvSpPr/>
            <p:nvPr/>
          </p:nvSpPr>
          <p:spPr>
            <a:xfrm>
              <a:off x="0" y="0"/>
              <a:ext cx="673300" cy="568235"/>
            </a:xfrm>
            <a:custGeom>
              <a:avLst/>
              <a:gdLst/>
              <a:ahLst/>
              <a:cxnLst/>
              <a:rect l="l" t="t" r="r" b="b"/>
              <a:pathLst>
                <a:path w="673300" h="568235">
                  <a:moveTo>
                    <a:pt x="0" y="0"/>
                  </a:moveTo>
                  <a:lnTo>
                    <a:pt x="673300" y="0"/>
                  </a:lnTo>
                  <a:lnTo>
                    <a:pt x="673300" y="568235"/>
                  </a:lnTo>
                  <a:lnTo>
                    <a:pt x="0" y="568235"/>
                  </a:lnTo>
                  <a:close/>
                </a:path>
              </a:pathLst>
            </a:custGeom>
            <a:gradFill rotWithShape="1">
              <a:gsLst>
                <a:gs pos="0">
                  <a:srgbClr val="F5D739">
                    <a:alpha val="100000"/>
                  </a:srgbClr>
                </a:gs>
                <a:gs pos="100000">
                  <a:srgbClr val="3E9D81">
                    <a:alpha val="0"/>
                  </a:srgbClr>
                </a:gs>
              </a:gsLst>
              <a:lin ang="0"/>
            </a:gradFill>
          </p:spPr>
        </p:sp>
        <p:sp>
          <p:nvSpPr>
            <p:cNvPr id="15" name="TextBox 15"/>
            <p:cNvSpPr txBox="1"/>
            <p:nvPr/>
          </p:nvSpPr>
          <p:spPr>
            <a:xfrm>
              <a:off x="0" y="-28575"/>
              <a:ext cx="673300" cy="596810"/>
            </a:xfrm>
            <a:prstGeom prst="rect">
              <a:avLst/>
            </a:prstGeom>
          </p:spPr>
          <p:txBody>
            <a:bodyPr lIns="50800" tIns="50800" rIns="50800" bIns="50800" rtlCol="0" anchor="ctr"/>
            <a:lstStyle/>
            <a:p>
              <a:pPr algn="ctr">
                <a:lnSpc>
                  <a:spcPts val="1960"/>
                </a:lnSpc>
              </a:pPr>
              <a:endParaRPr/>
            </a:p>
          </p:txBody>
        </p:sp>
      </p:grpSp>
      <p:sp>
        <p:nvSpPr>
          <p:cNvPr id="16" name="Freeform 16"/>
          <p:cNvSpPr/>
          <p:nvPr/>
        </p:nvSpPr>
        <p:spPr>
          <a:xfrm flipH="1">
            <a:off x="14345694" y="2238693"/>
            <a:ext cx="726809" cy="726809"/>
          </a:xfrm>
          <a:custGeom>
            <a:avLst/>
            <a:gdLst/>
            <a:ahLst/>
            <a:cxnLst/>
            <a:rect l="l" t="t" r="r" b="b"/>
            <a:pathLst>
              <a:path w="726809" h="726809">
                <a:moveTo>
                  <a:pt x="726809" y="0"/>
                </a:moveTo>
                <a:lnTo>
                  <a:pt x="0" y="0"/>
                </a:lnTo>
                <a:lnTo>
                  <a:pt x="0" y="726809"/>
                </a:lnTo>
                <a:lnTo>
                  <a:pt x="726809" y="726809"/>
                </a:lnTo>
                <a:lnTo>
                  <a:pt x="726809"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7" name="Group 17"/>
          <p:cNvGrpSpPr/>
          <p:nvPr/>
        </p:nvGrpSpPr>
        <p:grpSpPr>
          <a:xfrm>
            <a:off x="-272999" y="5237252"/>
            <a:ext cx="8868150" cy="3994063"/>
            <a:chOff x="0" y="0"/>
            <a:chExt cx="8459470" cy="3810000"/>
          </a:xfrm>
        </p:grpSpPr>
        <p:sp>
          <p:nvSpPr>
            <p:cNvPr id="18" name="Freeform 18"/>
            <p:cNvSpPr/>
            <p:nvPr/>
          </p:nvSpPr>
          <p:spPr>
            <a:xfrm>
              <a:off x="0" y="0"/>
              <a:ext cx="8459470" cy="3808730"/>
            </a:xfrm>
            <a:custGeom>
              <a:avLst/>
              <a:gdLst/>
              <a:ahLst/>
              <a:cxnLst/>
              <a:rect l="l" t="t" r="r" b="b"/>
              <a:pathLst>
                <a:path w="8459470" h="3808730">
                  <a:moveTo>
                    <a:pt x="458470" y="0"/>
                  </a:moveTo>
                  <a:lnTo>
                    <a:pt x="8001000" y="0"/>
                  </a:lnTo>
                  <a:cubicBezTo>
                    <a:pt x="8255000" y="0"/>
                    <a:pt x="8459470" y="205740"/>
                    <a:pt x="8459470" y="458470"/>
                  </a:cubicBezTo>
                  <a:lnTo>
                    <a:pt x="8459470" y="2320290"/>
                  </a:lnTo>
                  <a:cubicBezTo>
                    <a:pt x="8459470" y="2451100"/>
                    <a:pt x="8403590" y="2576830"/>
                    <a:pt x="8304530" y="2663190"/>
                  </a:cubicBezTo>
                  <a:lnTo>
                    <a:pt x="7141210" y="3693160"/>
                  </a:lnTo>
                  <a:cubicBezTo>
                    <a:pt x="7057390" y="3768090"/>
                    <a:pt x="6949440" y="3808730"/>
                    <a:pt x="6836410" y="3808730"/>
                  </a:cubicBezTo>
                  <a:lnTo>
                    <a:pt x="3760470" y="3808730"/>
                  </a:lnTo>
                  <a:cubicBezTo>
                    <a:pt x="3506470" y="3808730"/>
                    <a:pt x="3302000" y="3602990"/>
                    <a:pt x="3302000" y="3350260"/>
                  </a:cubicBezTo>
                  <a:lnTo>
                    <a:pt x="3302000" y="3227070"/>
                  </a:lnTo>
                  <a:cubicBezTo>
                    <a:pt x="3302000" y="2973070"/>
                    <a:pt x="3096260" y="2768600"/>
                    <a:pt x="2843530" y="2768600"/>
                  </a:cubicBezTo>
                  <a:lnTo>
                    <a:pt x="458470" y="2768600"/>
                  </a:lnTo>
                  <a:cubicBezTo>
                    <a:pt x="205740" y="2768600"/>
                    <a:pt x="0" y="2562860"/>
                    <a:pt x="0" y="2310130"/>
                  </a:cubicBezTo>
                  <a:lnTo>
                    <a:pt x="0" y="458470"/>
                  </a:lnTo>
                  <a:cubicBezTo>
                    <a:pt x="0" y="205740"/>
                    <a:pt x="205740" y="0"/>
                    <a:pt x="458470" y="0"/>
                  </a:cubicBezTo>
                  <a:close/>
                </a:path>
              </a:pathLst>
            </a:custGeom>
            <a:blipFill>
              <a:blip r:embed="rId9"/>
              <a:stretch>
                <a:fillRect t="-29230" b="-18748"/>
              </a:stretch>
            </a:blipFill>
          </p:spPr>
        </p:sp>
      </p:grpSp>
      <p:sp>
        <p:nvSpPr>
          <p:cNvPr id="19" name="TextBox 19"/>
          <p:cNvSpPr txBox="1"/>
          <p:nvPr/>
        </p:nvSpPr>
        <p:spPr>
          <a:xfrm>
            <a:off x="10078941" y="5792654"/>
            <a:ext cx="7242437" cy="1257300"/>
          </a:xfrm>
          <a:prstGeom prst="rect">
            <a:avLst/>
          </a:prstGeom>
        </p:spPr>
        <p:txBody>
          <a:bodyPr lIns="0" tIns="0" rIns="0" bIns="0" rtlCol="0" anchor="t">
            <a:spAutoFit/>
          </a:bodyPr>
          <a:lstStyle/>
          <a:p>
            <a:pPr algn="l">
              <a:lnSpc>
                <a:spcPts val="4962"/>
              </a:lnSpc>
            </a:pPr>
            <a:r>
              <a:rPr lang="en-US" sz="4135" spc="165" dirty="0">
                <a:solidFill>
                  <a:srgbClr val="F4C01E"/>
                </a:solidFill>
                <a:latin typeface="Anton Italics"/>
                <a:ea typeface="Anton Italics"/>
                <a:cs typeface="Anton Italics"/>
                <a:sym typeface="Anton Italics"/>
              </a:rPr>
              <a:t>MAZE EXPLORER A GRAPH-BASED ADVENTURE GAME</a:t>
            </a:r>
          </a:p>
        </p:txBody>
      </p:sp>
      <p:sp>
        <p:nvSpPr>
          <p:cNvPr id="20" name="TextBox 20"/>
          <p:cNvSpPr txBox="1"/>
          <p:nvPr/>
        </p:nvSpPr>
        <p:spPr>
          <a:xfrm>
            <a:off x="10031316" y="7345229"/>
            <a:ext cx="6804617" cy="1907623"/>
          </a:xfrm>
          <a:prstGeom prst="rect">
            <a:avLst/>
          </a:prstGeom>
        </p:spPr>
        <p:txBody>
          <a:bodyPr lIns="0" tIns="0" rIns="0" bIns="0" rtlCol="0" anchor="t">
            <a:spAutoFit/>
          </a:bodyPr>
          <a:lstStyle/>
          <a:p>
            <a:pPr algn="just">
              <a:lnSpc>
                <a:spcPts val="2521"/>
              </a:lnSpc>
            </a:pPr>
            <a:r>
              <a:rPr lang="en-US" sz="2100" spc="-42">
                <a:solidFill>
                  <a:srgbClr val="FFFFFF"/>
                </a:solidFill>
                <a:latin typeface="Open Sauce"/>
                <a:ea typeface="Open Sauce"/>
                <a:cs typeface="Open Sauce"/>
                <a:sym typeface="Open Sauce"/>
              </a:rPr>
              <a:t>The Maze Explorer effectively combines theory and practice by using DFS for maze generation and BFS for shortest path finding, while its modular C++ design ensures smooth game management, real-time rendering, and leaderboard handling, delivering a polished and engaging user experience.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1028700" y="3570103"/>
            <a:ext cx="16230600" cy="3146795"/>
            <a:chOff x="0" y="0"/>
            <a:chExt cx="21640800" cy="4195726"/>
          </a:xfrm>
        </p:grpSpPr>
        <p:grpSp>
          <p:nvGrpSpPr>
            <p:cNvPr id="4" name="Group 4"/>
            <p:cNvGrpSpPr/>
            <p:nvPr/>
          </p:nvGrpSpPr>
          <p:grpSpPr>
            <a:xfrm>
              <a:off x="0" y="0"/>
              <a:ext cx="21640800" cy="4195726"/>
              <a:chOff x="0" y="0"/>
              <a:chExt cx="2696887" cy="522873"/>
            </a:xfrm>
          </p:grpSpPr>
          <p:sp>
            <p:nvSpPr>
              <p:cNvPr id="5" name="Freeform 5"/>
              <p:cNvSpPr/>
              <p:nvPr/>
            </p:nvSpPr>
            <p:spPr>
              <a:xfrm>
                <a:off x="0" y="0"/>
                <a:ext cx="2696887" cy="522873"/>
              </a:xfrm>
              <a:custGeom>
                <a:avLst/>
                <a:gdLst/>
                <a:ahLst/>
                <a:cxnLst/>
                <a:rect l="l" t="t" r="r" b="b"/>
                <a:pathLst>
                  <a:path w="2696887" h="522873">
                    <a:moveTo>
                      <a:pt x="2696887" y="24327"/>
                    </a:moveTo>
                    <a:lnTo>
                      <a:pt x="2696887" y="498546"/>
                    </a:lnTo>
                    <a:cubicBezTo>
                      <a:pt x="2696887" y="511981"/>
                      <a:pt x="2685995" y="522873"/>
                      <a:pt x="2672560" y="522873"/>
                    </a:cubicBezTo>
                    <a:lnTo>
                      <a:pt x="24327" y="522873"/>
                    </a:lnTo>
                    <a:cubicBezTo>
                      <a:pt x="10891" y="522873"/>
                      <a:pt x="0" y="511981"/>
                      <a:pt x="0" y="498546"/>
                    </a:cubicBezTo>
                    <a:lnTo>
                      <a:pt x="0" y="24327"/>
                    </a:lnTo>
                    <a:cubicBezTo>
                      <a:pt x="0" y="10891"/>
                      <a:pt x="10891" y="0"/>
                      <a:pt x="24327" y="0"/>
                    </a:cubicBezTo>
                    <a:lnTo>
                      <a:pt x="2672560" y="0"/>
                    </a:lnTo>
                    <a:cubicBezTo>
                      <a:pt x="2685995" y="0"/>
                      <a:pt x="2696887" y="10891"/>
                      <a:pt x="2696887" y="24327"/>
                    </a:cubicBezTo>
                    <a:close/>
                  </a:path>
                </a:pathLst>
              </a:custGeom>
              <a:solidFill>
                <a:srgbClr val="000000">
                  <a:alpha val="0"/>
                </a:srgbClr>
              </a:solidFill>
              <a:ln w="19050" cap="rnd">
                <a:solidFill>
                  <a:srgbClr val="8AB2A6"/>
                </a:solidFill>
                <a:prstDash val="solid"/>
                <a:round/>
              </a:ln>
            </p:spPr>
            <p:txBody>
              <a:bodyPr/>
              <a:lstStyle/>
              <a:p>
                <a:endParaRPr lang="en-US" dirty="0"/>
              </a:p>
            </p:txBody>
          </p:sp>
          <p:sp>
            <p:nvSpPr>
              <p:cNvPr id="6" name="TextBox 6"/>
              <p:cNvSpPr txBox="1"/>
              <p:nvPr/>
            </p:nvSpPr>
            <p:spPr>
              <a:xfrm>
                <a:off x="0" y="0"/>
                <a:ext cx="2696887" cy="522873"/>
              </a:xfrm>
              <a:prstGeom prst="rect">
                <a:avLst/>
              </a:prstGeom>
            </p:spPr>
            <p:txBody>
              <a:bodyPr lIns="50800" tIns="50800" rIns="50800" bIns="50800" rtlCol="0" anchor="ctr"/>
              <a:lstStyle/>
              <a:p>
                <a:pPr algn="ctr">
                  <a:lnSpc>
                    <a:spcPts val="1680"/>
                  </a:lnSpc>
                </a:pPr>
                <a:endParaRPr/>
              </a:p>
            </p:txBody>
          </p:sp>
        </p:grpSp>
        <p:grpSp>
          <p:nvGrpSpPr>
            <p:cNvPr id="7" name="Group 7"/>
            <p:cNvGrpSpPr/>
            <p:nvPr/>
          </p:nvGrpSpPr>
          <p:grpSpPr>
            <a:xfrm>
              <a:off x="0" y="659519"/>
              <a:ext cx="3408581" cy="2876688"/>
              <a:chOff x="0" y="0"/>
              <a:chExt cx="673300" cy="568235"/>
            </a:xfrm>
          </p:grpSpPr>
          <p:sp>
            <p:nvSpPr>
              <p:cNvPr id="8" name="Freeform 8"/>
              <p:cNvSpPr/>
              <p:nvPr/>
            </p:nvSpPr>
            <p:spPr>
              <a:xfrm>
                <a:off x="0" y="0"/>
                <a:ext cx="673300" cy="568235"/>
              </a:xfrm>
              <a:custGeom>
                <a:avLst/>
                <a:gdLst/>
                <a:ahLst/>
                <a:cxnLst/>
                <a:rect l="l" t="t" r="r" b="b"/>
                <a:pathLst>
                  <a:path w="673300" h="568235">
                    <a:moveTo>
                      <a:pt x="0" y="0"/>
                    </a:moveTo>
                    <a:lnTo>
                      <a:pt x="673300" y="0"/>
                    </a:lnTo>
                    <a:lnTo>
                      <a:pt x="673300" y="568235"/>
                    </a:lnTo>
                    <a:lnTo>
                      <a:pt x="0" y="568235"/>
                    </a:lnTo>
                    <a:close/>
                  </a:path>
                </a:pathLst>
              </a:custGeom>
              <a:gradFill rotWithShape="1">
                <a:gsLst>
                  <a:gs pos="0">
                    <a:srgbClr val="F5D739">
                      <a:alpha val="100000"/>
                    </a:srgbClr>
                  </a:gs>
                  <a:gs pos="100000">
                    <a:srgbClr val="3E9D81">
                      <a:alpha val="0"/>
                    </a:srgbClr>
                  </a:gs>
                </a:gsLst>
                <a:lin ang="0"/>
              </a:gradFill>
            </p:spPr>
          </p:sp>
          <p:sp>
            <p:nvSpPr>
              <p:cNvPr id="9" name="TextBox 9"/>
              <p:cNvSpPr txBox="1"/>
              <p:nvPr/>
            </p:nvSpPr>
            <p:spPr>
              <a:xfrm>
                <a:off x="0" y="-28575"/>
                <a:ext cx="673300" cy="596810"/>
              </a:xfrm>
              <a:prstGeom prst="rect">
                <a:avLst/>
              </a:prstGeom>
            </p:spPr>
            <p:txBody>
              <a:bodyPr lIns="50800" tIns="50800" rIns="50800" bIns="50800" rtlCol="0" anchor="ctr"/>
              <a:lstStyle/>
              <a:p>
                <a:pPr algn="ctr">
                  <a:lnSpc>
                    <a:spcPts val="1960"/>
                  </a:lnSpc>
                </a:pPr>
                <a:endParaRPr/>
              </a:p>
            </p:txBody>
          </p:sp>
        </p:grpSp>
        <p:sp>
          <p:nvSpPr>
            <p:cNvPr id="10" name="TextBox 10"/>
            <p:cNvSpPr txBox="1"/>
            <p:nvPr/>
          </p:nvSpPr>
          <p:spPr>
            <a:xfrm>
              <a:off x="2562237" y="1262693"/>
              <a:ext cx="15801029" cy="2788370"/>
            </a:xfrm>
            <a:prstGeom prst="rect">
              <a:avLst/>
            </a:prstGeom>
          </p:spPr>
          <p:txBody>
            <a:bodyPr lIns="0" tIns="0" rIns="0" bIns="0" rtlCol="0" anchor="t">
              <a:spAutoFit/>
            </a:bodyPr>
            <a:lstStyle/>
            <a:p>
              <a:pPr algn="ctr">
                <a:lnSpc>
                  <a:spcPts val="15870"/>
                </a:lnSpc>
              </a:pPr>
              <a:r>
                <a:rPr lang="en-US" sz="16706" spc="-668" dirty="0">
                  <a:solidFill>
                    <a:schemeClr val="bg1"/>
                  </a:solidFill>
                  <a:latin typeface="Anton Italics"/>
                  <a:ea typeface="Anton Italics"/>
                  <a:cs typeface="Anton Italics"/>
                  <a:sym typeface="Anton Italics"/>
                </a:rPr>
                <a:t>THANK  YOU</a:t>
              </a:r>
            </a:p>
          </p:txBody>
        </p:sp>
        <p:sp>
          <p:nvSpPr>
            <p:cNvPr id="11" name="Freeform 11"/>
            <p:cNvSpPr/>
            <p:nvPr/>
          </p:nvSpPr>
          <p:spPr>
            <a:xfrm>
              <a:off x="2924042" y="1613324"/>
              <a:ext cx="969078" cy="969078"/>
            </a:xfrm>
            <a:custGeom>
              <a:avLst/>
              <a:gdLst/>
              <a:ahLst/>
              <a:cxnLst/>
              <a:rect l="l" t="t" r="r" b="b"/>
              <a:pathLst>
                <a:path w="969078" h="969078">
                  <a:moveTo>
                    <a:pt x="0" y="0"/>
                  </a:moveTo>
                  <a:lnTo>
                    <a:pt x="969078" y="0"/>
                  </a:lnTo>
                  <a:lnTo>
                    <a:pt x="969078" y="969078"/>
                  </a:lnTo>
                  <a:lnTo>
                    <a:pt x="0" y="96907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2" name="Group 12"/>
            <p:cNvGrpSpPr/>
            <p:nvPr/>
          </p:nvGrpSpPr>
          <p:grpSpPr>
            <a:xfrm rot="-10800000">
              <a:off x="18195287" y="659519"/>
              <a:ext cx="3408581" cy="2876688"/>
              <a:chOff x="0" y="0"/>
              <a:chExt cx="673300" cy="568235"/>
            </a:xfrm>
          </p:grpSpPr>
          <p:sp>
            <p:nvSpPr>
              <p:cNvPr id="13" name="Freeform 13"/>
              <p:cNvSpPr/>
              <p:nvPr/>
            </p:nvSpPr>
            <p:spPr>
              <a:xfrm>
                <a:off x="0" y="0"/>
                <a:ext cx="673300" cy="568235"/>
              </a:xfrm>
              <a:custGeom>
                <a:avLst/>
                <a:gdLst/>
                <a:ahLst/>
                <a:cxnLst/>
                <a:rect l="l" t="t" r="r" b="b"/>
                <a:pathLst>
                  <a:path w="673300" h="568235">
                    <a:moveTo>
                      <a:pt x="0" y="0"/>
                    </a:moveTo>
                    <a:lnTo>
                      <a:pt x="673300" y="0"/>
                    </a:lnTo>
                    <a:lnTo>
                      <a:pt x="673300" y="568235"/>
                    </a:lnTo>
                    <a:lnTo>
                      <a:pt x="0" y="568235"/>
                    </a:lnTo>
                    <a:close/>
                  </a:path>
                </a:pathLst>
              </a:custGeom>
              <a:gradFill rotWithShape="1">
                <a:gsLst>
                  <a:gs pos="0">
                    <a:srgbClr val="F5D739">
                      <a:alpha val="100000"/>
                    </a:srgbClr>
                  </a:gs>
                  <a:gs pos="100000">
                    <a:srgbClr val="3E9D81">
                      <a:alpha val="0"/>
                    </a:srgbClr>
                  </a:gs>
                </a:gsLst>
                <a:lin ang="0"/>
              </a:gradFill>
            </p:spPr>
          </p:sp>
          <p:sp>
            <p:nvSpPr>
              <p:cNvPr id="14" name="TextBox 14"/>
              <p:cNvSpPr txBox="1"/>
              <p:nvPr/>
            </p:nvSpPr>
            <p:spPr>
              <a:xfrm>
                <a:off x="0" y="-28575"/>
                <a:ext cx="673300" cy="596810"/>
              </a:xfrm>
              <a:prstGeom prst="rect">
                <a:avLst/>
              </a:prstGeom>
            </p:spPr>
            <p:txBody>
              <a:bodyPr lIns="50800" tIns="50800" rIns="50800" bIns="50800" rtlCol="0" anchor="ctr"/>
              <a:lstStyle/>
              <a:p>
                <a:pPr algn="ctr">
                  <a:lnSpc>
                    <a:spcPts val="1960"/>
                  </a:lnSpc>
                </a:pPr>
                <a:endParaRPr/>
              </a:p>
            </p:txBody>
          </p:sp>
        </p:grpSp>
        <p:sp>
          <p:nvSpPr>
            <p:cNvPr id="15" name="Freeform 15"/>
            <p:cNvSpPr/>
            <p:nvPr/>
          </p:nvSpPr>
          <p:spPr>
            <a:xfrm flipH="1">
              <a:off x="17755993" y="1613324"/>
              <a:ext cx="969078" cy="969078"/>
            </a:xfrm>
            <a:custGeom>
              <a:avLst/>
              <a:gdLst/>
              <a:ahLst/>
              <a:cxnLst/>
              <a:rect l="l" t="t" r="r" b="b"/>
              <a:pathLst>
                <a:path w="969078" h="969078">
                  <a:moveTo>
                    <a:pt x="969078" y="0"/>
                  </a:moveTo>
                  <a:lnTo>
                    <a:pt x="0" y="0"/>
                  </a:lnTo>
                  <a:lnTo>
                    <a:pt x="0" y="969078"/>
                  </a:lnTo>
                  <a:lnTo>
                    <a:pt x="969078" y="969078"/>
                  </a:lnTo>
                  <a:lnTo>
                    <a:pt x="969078" y="0"/>
                  </a:lnTo>
                  <a:close/>
                </a:path>
              </a:pathLst>
            </a:custGeom>
            <a:blipFill>
              <a:blip r:embed="rId3">
                <a:extLst>
                  <a:ext uri="{96DAC541-7B7A-43D3-8B79-37D633B846F1}">
                    <asvg:svgBlip xmlns:asvg="http://schemas.microsoft.com/office/drawing/2016/SVG/main" r:embed="rId4"/>
                  </a:ext>
                </a:extLst>
              </a:blip>
              <a:stretch>
                <a:fillRect/>
              </a:stretch>
            </a:blipFill>
          </p:spPr>
        </p:sp>
      </p:grpSp>
      <p:sp>
        <p:nvSpPr>
          <p:cNvPr id="16" name="Freeform 16"/>
          <p:cNvSpPr/>
          <p:nvPr/>
        </p:nvSpPr>
        <p:spPr>
          <a:xfrm>
            <a:off x="426422" y="7003734"/>
            <a:ext cx="2378562" cy="3466028"/>
          </a:xfrm>
          <a:custGeom>
            <a:avLst/>
            <a:gdLst/>
            <a:ahLst/>
            <a:cxnLst/>
            <a:rect l="l" t="t" r="r" b="b"/>
            <a:pathLst>
              <a:path w="2378562" h="3466028">
                <a:moveTo>
                  <a:pt x="0" y="0"/>
                </a:moveTo>
                <a:lnTo>
                  <a:pt x="2378562" y="0"/>
                </a:lnTo>
                <a:lnTo>
                  <a:pt x="2378562" y="3466028"/>
                </a:lnTo>
                <a:lnTo>
                  <a:pt x="0" y="3466028"/>
                </a:lnTo>
                <a:lnTo>
                  <a:pt x="0" y="0"/>
                </a:lnTo>
                <a:close/>
              </a:path>
            </a:pathLst>
          </a:custGeom>
          <a:blipFill>
            <a:blip r:embed="rId5"/>
            <a:stretch>
              <a:fillRect/>
            </a:stretch>
          </a:blipFill>
        </p:spPr>
      </p:sp>
      <p:sp>
        <p:nvSpPr>
          <p:cNvPr id="17" name="Freeform 17"/>
          <p:cNvSpPr/>
          <p:nvPr/>
        </p:nvSpPr>
        <p:spPr>
          <a:xfrm>
            <a:off x="14784821" y="1327561"/>
            <a:ext cx="2474479" cy="2911152"/>
          </a:xfrm>
          <a:custGeom>
            <a:avLst/>
            <a:gdLst/>
            <a:ahLst/>
            <a:cxnLst/>
            <a:rect l="l" t="t" r="r" b="b"/>
            <a:pathLst>
              <a:path w="2474479" h="2911152">
                <a:moveTo>
                  <a:pt x="0" y="0"/>
                </a:moveTo>
                <a:lnTo>
                  <a:pt x="2474479" y="0"/>
                </a:lnTo>
                <a:lnTo>
                  <a:pt x="2474479" y="2911151"/>
                </a:lnTo>
                <a:lnTo>
                  <a:pt x="0" y="2911151"/>
                </a:lnTo>
                <a:lnTo>
                  <a:pt x="0" y="0"/>
                </a:lnTo>
                <a:close/>
              </a:path>
            </a:pathLst>
          </a:custGeom>
          <a:blipFill>
            <a:blip r:embed="rId6">
              <a:alphaModFix amt="86000"/>
              <a:extLst>
                <a:ext uri="{96DAC541-7B7A-43D3-8B79-37D633B846F1}">
                  <asvg:svgBlip xmlns:asvg="http://schemas.microsoft.com/office/drawing/2016/SVG/main" r:embed="rId7"/>
                </a:ext>
              </a:extLst>
            </a:blip>
            <a:stretch>
              <a:fillRect/>
            </a:stretch>
          </a:blipFill>
        </p:spPr>
      </p:sp>
      <p:sp>
        <p:nvSpPr>
          <p:cNvPr id="18" name="TextBox 18"/>
          <p:cNvSpPr txBox="1"/>
          <p:nvPr/>
        </p:nvSpPr>
        <p:spPr>
          <a:xfrm>
            <a:off x="2804984" y="6956109"/>
            <a:ext cx="12678033" cy="628650"/>
          </a:xfrm>
          <a:prstGeom prst="rect">
            <a:avLst/>
          </a:prstGeom>
        </p:spPr>
        <p:txBody>
          <a:bodyPr lIns="0" tIns="0" rIns="0" bIns="0" rtlCol="0" anchor="t">
            <a:spAutoFit/>
          </a:bodyPr>
          <a:lstStyle/>
          <a:p>
            <a:pPr algn="l">
              <a:lnSpc>
                <a:spcPts val="4962"/>
              </a:lnSpc>
            </a:pPr>
            <a:r>
              <a:rPr lang="en-US" sz="4135" spc="165" dirty="0">
                <a:solidFill>
                  <a:srgbClr val="F4C01E"/>
                </a:solidFill>
                <a:latin typeface="Anton Italics"/>
                <a:ea typeface="Anton Italics"/>
                <a:cs typeface="Anton Italics"/>
                <a:sym typeface="Anton Italics"/>
              </a:rPr>
              <a:t>GRATEFUL FOR YOUR ATTENTION — QUESTIONS ARE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393</Words>
  <Application>Microsoft Office PowerPoint</Application>
  <PresentationFormat>Custom</PresentationFormat>
  <Paragraphs>99</Paragraphs>
  <Slides>11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Anton Italics</vt:lpstr>
      <vt:lpstr>Barlow Condensed</vt:lpstr>
      <vt:lpstr>Open Sauce Bold</vt:lpstr>
      <vt:lpstr>Open Sauce</vt:lpstr>
      <vt:lpstr>Glacial Indifference</vt:lpstr>
      <vt:lpstr>Calibri</vt:lpstr>
      <vt:lpstr>Anton</vt:lpstr>
      <vt:lpstr>Arial</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cp:lastModifiedBy>Jawad Mustafa</cp:lastModifiedBy>
  <cp:revision>2</cp:revision>
  <dcterms:created xsi:type="dcterms:W3CDTF">2006-08-16T00:00:00Z</dcterms:created>
  <dcterms:modified xsi:type="dcterms:W3CDTF">2025-12-27T18:11:13Z</dcterms:modified>
  <dc:identifier>DAG6KIZFruI</dc:identifier>
</cp:coreProperties>
</file>