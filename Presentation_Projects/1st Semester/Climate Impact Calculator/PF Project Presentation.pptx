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7" r:id="rId4"/>
    <p:sldId id="258" r:id="rId5"/>
    <p:sldId id="274" r:id="rId6"/>
    <p:sldId id="276" r:id="rId7"/>
    <p:sldId id="267" r:id="rId8"/>
    <p:sldId id="259" r:id="rId9"/>
    <p:sldId id="269" r:id="rId10"/>
    <p:sldId id="260" r:id="rId11"/>
    <p:sldId id="264" r:id="rId12"/>
    <p:sldId id="261" r:id="rId13"/>
    <p:sldId id="277" r:id="rId14"/>
    <p:sldId id="263" r:id="rId15"/>
    <p:sldId id="265" r:id="rId16"/>
    <p:sldId id="278" r:id="rId17"/>
    <p:sldId id="266" r:id="rId18"/>
  </p:sldIdLst>
  <p:sldSz cx="18288000" cy="10287000"/>
  <p:notesSz cx="6858000" cy="9144000"/>
  <p:embeddedFontLst>
    <p:embeddedFont>
      <p:font typeface="Canva Sans Bold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Bahnschrift" panose="020B0502040204020203" pitchFamily="34" charset="0"/>
      <p:regular r:id="rId25"/>
      <p:bold r:id="rId26"/>
    </p:embeddedFont>
    <p:embeddedFont>
      <p:font typeface="Open Sauce Bold" panose="020B0604020202020204" charset="0"/>
      <p:regular r:id="rId27"/>
    </p:embeddedFont>
    <p:embeddedFont>
      <p:font typeface="Open Sauce" panose="020B0604020202020204" charset="0"/>
      <p:regular r:id="rId28"/>
    </p:embeddedFont>
    <p:embeddedFont>
      <p:font typeface="Anton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1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622" autoAdjust="0"/>
  </p:normalViewPr>
  <p:slideViewPr>
    <p:cSldViewPr>
      <p:cViewPr varScale="1">
        <p:scale>
          <a:sx n="46" d="100"/>
          <a:sy n="46" d="100"/>
        </p:scale>
        <p:origin x="72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E7A87-5DD7-4ABC-A377-17E6D9E8B9F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93A66-63EF-474E-8876-1DAB7E955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1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93A66-63EF-474E-8876-1DAB7E9552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85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93A66-63EF-474E-8876-1DAB7E9552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5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svg"/><Relationship Id="rId7" Type="http://schemas.microsoft.com/office/2007/relationships/hdphoto" Target="../media/hdphoto1.wdp"/><Relationship Id="rId12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microsoft.com/office/2007/relationships/hdphoto" Target="../media/hdphoto3.wdp"/><Relationship Id="rId5" Type="http://schemas.openxmlformats.org/officeDocument/2006/relationships/image" Target="../media/image14.sv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12" Type="http://schemas.microsoft.com/office/2007/relationships/hdphoto" Target="../media/hdphoto5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0" Type="http://schemas.microsoft.com/office/2007/relationships/hdphoto" Target="../media/hdphoto4.wdp"/><Relationship Id="rId4" Type="http://schemas.openxmlformats.org/officeDocument/2006/relationships/image" Target="../media/image8.sv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8.svg"/><Relationship Id="rId7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microsoft.com/office/2007/relationships/hdphoto" Target="../media/hdphoto6.wdp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microsoft.com/office/2007/relationships/hdphoto" Target="../media/hdphoto8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microsoft.com/office/2007/relationships/hdphoto" Target="../media/hdphoto9.wdp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microsoft.com/office/2007/relationships/hdphoto" Target="../media/hdphoto13.wdp"/><Relationship Id="rId3" Type="http://schemas.openxmlformats.org/officeDocument/2006/relationships/image" Target="../media/image8.svg"/><Relationship Id="rId21" Type="http://schemas.openxmlformats.org/officeDocument/2006/relationships/image" Target="../media/image58.png"/><Relationship Id="rId7" Type="http://schemas.microsoft.com/office/2007/relationships/hdphoto" Target="../media/hdphoto12.wdp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10.png"/><Relationship Id="rId16" Type="http://schemas.openxmlformats.org/officeDocument/2006/relationships/image" Target="../media/image55.png"/><Relationship Id="rId20" Type="http://schemas.microsoft.com/office/2007/relationships/hdphoto" Target="../media/hdphoto14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microsoft.com/office/2007/relationships/hdphoto" Target="../media/hdphoto11.wdp"/><Relationship Id="rId15" Type="http://schemas.openxmlformats.org/officeDocument/2006/relationships/image" Target="../media/image54.png"/><Relationship Id="rId23" Type="http://schemas.openxmlformats.org/officeDocument/2006/relationships/image" Target="../media/image60.png"/><Relationship Id="rId10" Type="http://schemas.openxmlformats.org/officeDocument/2006/relationships/image" Target="../media/image49.png"/><Relationship Id="rId19" Type="http://schemas.openxmlformats.org/officeDocument/2006/relationships/image" Target="../media/image57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2700000">
            <a:off x="15789442" y="-1255276"/>
            <a:ext cx="729312" cy="3480217"/>
            <a:chOff x="0" y="0"/>
            <a:chExt cx="192082" cy="916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2082" cy="916600"/>
            </a:xfrm>
            <a:custGeom>
              <a:avLst/>
              <a:gdLst/>
              <a:ahLst/>
              <a:cxnLst/>
              <a:rect l="l" t="t" r="r" b="b"/>
              <a:pathLst>
                <a:path w="192082" h="916600">
                  <a:moveTo>
                    <a:pt x="0" y="0"/>
                  </a:moveTo>
                  <a:lnTo>
                    <a:pt x="192082" y="0"/>
                  </a:lnTo>
                  <a:lnTo>
                    <a:pt x="192082" y="916600"/>
                  </a:lnTo>
                  <a:lnTo>
                    <a:pt x="0" y="916600"/>
                  </a:lnTo>
                  <a:close/>
                </a:path>
              </a:pathLst>
            </a:custGeom>
            <a:gradFill rotWithShape="1">
              <a:gsLst>
                <a:gs pos="0">
                  <a:srgbClr val="192B45">
                    <a:alpha val="100000"/>
                  </a:srgbClr>
                </a:gs>
                <a:gs pos="20000">
                  <a:srgbClr val="192B45">
                    <a:alpha val="83500"/>
                  </a:srgbClr>
                </a:gs>
                <a:gs pos="40000">
                  <a:srgbClr val="192B45">
                    <a:alpha val="61500"/>
                  </a:srgbClr>
                </a:gs>
                <a:gs pos="60000">
                  <a:srgbClr val="192B45">
                    <a:alpha val="36000"/>
                  </a:srgbClr>
                </a:gs>
                <a:gs pos="80000">
                  <a:srgbClr val="192B45">
                    <a:alpha val="15000"/>
                  </a:srgbClr>
                </a:gs>
                <a:gs pos="100000">
                  <a:srgbClr val="192B45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2082" cy="95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624029" y="-1427595"/>
            <a:ext cx="460171" cy="5306648"/>
            <a:chOff x="0" y="0"/>
            <a:chExt cx="121197" cy="1397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197" cy="1397636"/>
            </a:xfrm>
            <a:custGeom>
              <a:avLst/>
              <a:gdLst/>
              <a:ahLst/>
              <a:cxnLst/>
              <a:rect l="l" t="t" r="r" b="b"/>
              <a:pathLst>
                <a:path w="121197" h="1397636">
                  <a:moveTo>
                    <a:pt x="0" y="0"/>
                  </a:moveTo>
                  <a:lnTo>
                    <a:pt x="121197" y="0"/>
                  </a:lnTo>
                  <a:lnTo>
                    <a:pt x="121197" y="1397636"/>
                  </a:lnTo>
                  <a:lnTo>
                    <a:pt x="0" y="1397636"/>
                  </a:lnTo>
                  <a:close/>
                </a:path>
              </a:pathLst>
            </a:custGeom>
            <a:gradFill rotWithShape="1">
              <a:gsLst>
                <a:gs pos="0">
                  <a:srgbClr val="192B45">
                    <a:alpha val="100000"/>
                  </a:srgbClr>
                </a:gs>
                <a:gs pos="20000">
                  <a:srgbClr val="192B45">
                    <a:alpha val="83500"/>
                  </a:srgbClr>
                </a:gs>
                <a:gs pos="40000">
                  <a:srgbClr val="192B45">
                    <a:alpha val="61500"/>
                  </a:srgbClr>
                </a:gs>
                <a:gs pos="60000">
                  <a:srgbClr val="192B45">
                    <a:alpha val="36000"/>
                  </a:srgbClr>
                </a:gs>
                <a:gs pos="80000">
                  <a:srgbClr val="192B45">
                    <a:alpha val="15000"/>
                  </a:srgbClr>
                </a:gs>
                <a:gs pos="100000">
                  <a:srgbClr val="192B45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1197" cy="14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8100000">
            <a:off x="7905480" y="5773524"/>
            <a:ext cx="729312" cy="6273471"/>
            <a:chOff x="0" y="0"/>
            <a:chExt cx="192082" cy="16522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82" cy="1652272"/>
            </a:xfrm>
            <a:custGeom>
              <a:avLst/>
              <a:gdLst/>
              <a:ahLst/>
              <a:cxnLst/>
              <a:rect l="l" t="t" r="r" b="b"/>
              <a:pathLst>
                <a:path w="192082" h="1652272">
                  <a:moveTo>
                    <a:pt x="0" y="0"/>
                  </a:moveTo>
                  <a:lnTo>
                    <a:pt x="192082" y="0"/>
                  </a:lnTo>
                  <a:lnTo>
                    <a:pt x="192082" y="1652272"/>
                  </a:lnTo>
                  <a:lnTo>
                    <a:pt x="0" y="1652272"/>
                  </a:lnTo>
                  <a:close/>
                </a:path>
              </a:pathLst>
            </a:custGeom>
            <a:gradFill rotWithShape="1">
              <a:gsLst>
                <a:gs pos="0">
                  <a:srgbClr val="192B45">
                    <a:alpha val="100000"/>
                  </a:srgbClr>
                </a:gs>
                <a:gs pos="20000">
                  <a:srgbClr val="192B45">
                    <a:alpha val="83500"/>
                  </a:srgbClr>
                </a:gs>
                <a:gs pos="40000">
                  <a:srgbClr val="192B45">
                    <a:alpha val="61500"/>
                  </a:srgbClr>
                </a:gs>
                <a:gs pos="60000">
                  <a:srgbClr val="192B45">
                    <a:alpha val="36000"/>
                  </a:srgbClr>
                </a:gs>
                <a:gs pos="80000">
                  <a:srgbClr val="192B45">
                    <a:alpha val="15000"/>
                  </a:srgbClr>
                </a:gs>
                <a:gs pos="100000">
                  <a:srgbClr val="192B45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2082" cy="1690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700000">
            <a:off x="12040043" y="-1489086"/>
            <a:ext cx="729312" cy="7788103"/>
            <a:chOff x="0" y="0"/>
            <a:chExt cx="192082" cy="20511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76002" y="2756079"/>
            <a:ext cx="6778300" cy="6775156"/>
            <a:chOff x="0" y="0"/>
            <a:chExt cx="9037733" cy="90335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37733" cy="9033541"/>
            </a:xfrm>
            <a:custGeom>
              <a:avLst/>
              <a:gdLst/>
              <a:ahLst/>
              <a:cxnLst/>
              <a:rect l="l" t="t" r="r" b="b"/>
              <a:pathLst>
                <a:path w="9037733" h="9033541">
                  <a:moveTo>
                    <a:pt x="0" y="0"/>
                  </a:moveTo>
                  <a:lnTo>
                    <a:pt x="9037733" y="0"/>
                  </a:lnTo>
                  <a:lnTo>
                    <a:pt x="9037733" y="9033541"/>
                  </a:lnTo>
                  <a:lnTo>
                    <a:pt x="0" y="9033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169775" y="167679"/>
              <a:ext cx="8698183" cy="8698183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98046" y="495950"/>
              <a:ext cx="8041642" cy="804164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32318" b="-17681"/>
                </a:stretch>
              </a:blipFill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-1364990" y="800592"/>
            <a:ext cx="8915199" cy="1291482"/>
            <a:chOff x="0" y="0"/>
            <a:chExt cx="1393155" cy="2018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3155" cy="201816"/>
            </a:xfrm>
            <a:custGeom>
              <a:avLst/>
              <a:gdLst/>
              <a:ahLst/>
              <a:cxnLst/>
              <a:rect l="l" t="t" r="r" b="b"/>
              <a:pathLst>
                <a:path w="1393155" h="201816">
                  <a:moveTo>
                    <a:pt x="203200" y="0"/>
                  </a:moveTo>
                  <a:lnTo>
                    <a:pt x="1393155" y="0"/>
                  </a:lnTo>
                  <a:lnTo>
                    <a:pt x="1189955" y="201816"/>
                  </a:lnTo>
                  <a:lnTo>
                    <a:pt x="0" y="201816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162E">
                    <a:alpha val="100000"/>
                  </a:srgbClr>
                </a:gs>
                <a:gs pos="100000">
                  <a:srgbClr val="D63DA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101600" y="-38100"/>
              <a:ext cx="1189955" cy="239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009650" y="5372100"/>
            <a:ext cx="6336127" cy="352889"/>
            <a:chOff x="1009650" y="5790768"/>
            <a:chExt cx="6336127" cy="352889"/>
          </a:xfrm>
        </p:grpSpPr>
        <p:sp>
          <p:nvSpPr>
            <p:cNvPr id="25" name="AutoShape 25"/>
            <p:cNvSpPr/>
            <p:nvPr/>
          </p:nvSpPr>
          <p:spPr>
            <a:xfrm>
              <a:off x="1126121" y="5981700"/>
              <a:ext cx="6219656" cy="0"/>
            </a:xfrm>
            <a:prstGeom prst="line">
              <a:avLst/>
            </a:prstGeom>
            <a:ln w="76200" cap="flat">
              <a:gradFill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09650" y="5790768"/>
              <a:ext cx="352889" cy="352889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510246" y="5790768"/>
              <a:ext cx="352889" cy="352889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006042" y="5790768"/>
              <a:ext cx="352889" cy="352889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964964" y="2679879"/>
            <a:ext cx="672518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dirty="0">
                <a:solidFill>
                  <a:srgbClr val="711662"/>
                </a:solidFill>
                <a:latin typeface="Anton"/>
                <a:ea typeface="Anton"/>
                <a:cs typeface="Anton"/>
                <a:sym typeface="Anton"/>
              </a:rPr>
              <a:t>CLIMATE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3771900"/>
            <a:ext cx="8945011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8800" dirty="0">
                <a:solidFill>
                  <a:srgbClr val="00162E"/>
                </a:solidFill>
                <a:latin typeface="Anton"/>
                <a:ea typeface="Anton"/>
                <a:cs typeface="Anton"/>
                <a:sym typeface="Anton"/>
              </a:rPr>
              <a:t>IMPACT </a:t>
            </a:r>
            <a:r>
              <a:rPr lang="en-US" sz="8800" dirty="0" smtClean="0">
                <a:solidFill>
                  <a:srgbClr val="00162E"/>
                </a:solidFill>
                <a:latin typeface="Anton"/>
                <a:ea typeface="Anton"/>
                <a:cs typeface="Anton"/>
                <a:sym typeface="Anton"/>
              </a:rPr>
              <a:t>CALCULATOR</a:t>
            </a:r>
            <a:endParaRPr lang="en-US" sz="8800" dirty="0">
              <a:solidFill>
                <a:srgbClr val="00162E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028700" y="1028700"/>
            <a:ext cx="1020173" cy="835267"/>
          </a:xfrm>
          <a:custGeom>
            <a:avLst/>
            <a:gdLst/>
            <a:ahLst/>
            <a:cxnLst/>
            <a:rect l="l" t="t" r="r" b="b"/>
            <a:pathLst>
              <a:path w="1020173" h="835267">
                <a:moveTo>
                  <a:pt x="0" y="0"/>
                </a:moveTo>
                <a:lnTo>
                  <a:pt x="1020173" y="0"/>
                </a:lnTo>
                <a:lnTo>
                  <a:pt x="1020173" y="835267"/>
                </a:lnTo>
                <a:lnTo>
                  <a:pt x="0" y="835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641291" y="5676900"/>
            <a:ext cx="6521509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Wasif Ali (245187)</a:t>
            </a:r>
          </a:p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Jawad Mustafa (245195)</a:t>
            </a:r>
          </a:p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Mubashir Ali (245185)</a:t>
            </a:r>
          </a:p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Anisa Khan (245215)</a:t>
            </a:r>
          </a:p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Faiqa Umer (245161)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01537" y="1165400"/>
            <a:ext cx="419661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1" spc="-7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PF 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bg1"/>
            </a:gs>
            <a:gs pos="100000">
              <a:schemeClr val="accent4">
                <a:lumMod val="40000"/>
                <a:lumOff val="6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441" y="2500423"/>
            <a:ext cx="9368559" cy="5995877"/>
          </a:xfrm>
          <a:prstGeom prst="rect">
            <a:avLst/>
          </a:prstGeom>
        </p:spPr>
      </p:pic>
      <p:sp>
        <p:nvSpPr>
          <p:cNvPr id="4" name="TextBox 16"/>
          <p:cNvSpPr txBox="1"/>
          <p:nvPr/>
        </p:nvSpPr>
        <p:spPr>
          <a:xfrm>
            <a:off x="411887" y="499880"/>
            <a:ext cx="9485075" cy="14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320"/>
              </a:lnSpc>
            </a:pPr>
            <a:r>
              <a:rPr lang="en-US" sz="8800" dirty="0" smtClean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OBJECTIVES</a:t>
            </a:r>
            <a:endParaRPr lang="en-US" sz="8800" dirty="0">
              <a:solidFill>
                <a:srgbClr val="71166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anose="020B0604020202020204" charset="0"/>
              <a:ea typeface="Anton"/>
              <a:cs typeface="Anton"/>
              <a:sym typeface="Anton"/>
            </a:endParaRPr>
          </a:p>
        </p:txBody>
      </p:sp>
      <p:grpSp>
        <p:nvGrpSpPr>
          <p:cNvPr id="6" name="Group 3"/>
          <p:cNvGrpSpPr/>
          <p:nvPr/>
        </p:nvGrpSpPr>
        <p:grpSpPr>
          <a:xfrm>
            <a:off x="706582" y="1974359"/>
            <a:ext cx="1349281" cy="352889"/>
            <a:chOff x="0" y="0"/>
            <a:chExt cx="1799041" cy="470519"/>
          </a:xfrm>
        </p:grpSpPr>
        <p:grpSp>
          <p:nvGrpSpPr>
            <p:cNvPr id="7" name="Group 4"/>
            <p:cNvGrpSpPr/>
            <p:nvPr/>
          </p:nvGrpSpPr>
          <p:grpSpPr>
            <a:xfrm>
              <a:off x="0" y="0"/>
              <a:ext cx="470519" cy="470519"/>
              <a:chOff x="0" y="0"/>
              <a:chExt cx="812800" cy="812800"/>
            </a:xfrm>
          </p:grpSpPr>
          <p:sp>
            <p:nvSpPr>
              <p:cNvPr id="14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5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667461" y="0"/>
              <a:ext cx="470519" cy="470519"/>
              <a:chOff x="0" y="0"/>
              <a:chExt cx="812800" cy="812800"/>
            </a:xfrm>
          </p:grpSpPr>
          <p:sp>
            <p:nvSpPr>
              <p:cNvPr id="12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3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10"/>
            <p:cNvGrpSpPr/>
            <p:nvPr/>
          </p:nvGrpSpPr>
          <p:grpSpPr>
            <a:xfrm>
              <a:off x="1328523" y="0"/>
              <a:ext cx="470519" cy="470519"/>
              <a:chOff x="0" y="0"/>
              <a:chExt cx="812800" cy="812800"/>
            </a:xfrm>
          </p:grpSpPr>
          <p:sp>
            <p:nvSpPr>
              <p:cNvPr id="10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266947" y="2327248"/>
            <a:ext cx="11582400" cy="827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711662"/>
                </a:solidFill>
                <a:effectLst/>
                <a:latin typeface="Open Sauce" panose="020B0604020202020204" charset="0"/>
              </a:rPr>
              <a:t>Main Objective: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Develop a tool that calculates carbon emissions and provides actionable insights to mitigate climate change impact.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800" dirty="0">
              <a:latin typeface="Open Sauce" panose="020B060402020202020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en Sauce" panose="020B060402020202020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711662"/>
                </a:solidFill>
                <a:effectLst/>
                <a:latin typeface="Open Sauce" panose="020B0604020202020204" charset="0"/>
              </a:rPr>
              <a:t>Specific Goals: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711662"/>
              </a:solidFill>
              <a:effectLst/>
              <a:latin typeface="Open Sauce" panose="020B0604020202020204" charset="0"/>
            </a:endParaRPr>
          </a:p>
          <a:p>
            <a:pPr marL="914400" lvl="1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Accurately estimate carbon emissions from daily activities.</a:t>
            </a:r>
          </a:p>
          <a:p>
            <a:pPr marL="914400" lvl="1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Calculate the Air Quality Index (AQI).</a:t>
            </a:r>
          </a:p>
          <a:p>
            <a:pPr marL="914400" lvl="1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Suggest carbon offset methods (e.g., trees, solar panels).</a:t>
            </a:r>
          </a:p>
          <a:p>
            <a:pPr marL="914400" lvl="1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Compare transportation modes for emissions.</a:t>
            </a:r>
          </a:p>
          <a:p>
            <a:pPr marL="914400" lvl="1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Predict future emissions based on current data.</a:t>
            </a:r>
          </a:p>
          <a:p>
            <a:pPr marL="914400" lvl="1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rPr>
              <a:t>Save reports for future reference.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105" y="0"/>
            <a:ext cx="3882912" cy="2912184"/>
          </a:xfrm>
          <a:prstGeom prst="rect">
            <a:avLst/>
          </a:prstGeom>
        </p:spPr>
      </p:pic>
      <p:sp>
        <p:nvSpPr>
          <p:cNvPr id="2" name="Isosceles Triangle 1"/>
          <p:cNvSpPr/>
          <p:nvPr/>
        </p:nvSpPr>
        <p:spPr>
          <a:xfrm rot="16200000">
            <a:off x="15487649" y="-171452"/>
            <a:ext cx="2628901" cy="2971800"/>
          </a:xfrm>
          <a:prstGeom prst="triangle">
            <a:avLst>
              <a:gd name="adj" fmla="val 100000"/>
            </a:avLst>
          </a:prstGeom>
          <a:solidFill>
            <a:srgbClr val="71166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1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2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0907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81000" y="3467100"/>
            <a:ext cx="8191237" cy="602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218" lvl="1" indent="-356609" algn="just">
              <a:lnSpc>
                <a:spcPct val="150000"/>
              </a:lnSpc>
              <a:buFont typeface="Arial"/>
              <a:buChar char="•"/>
            </a:pP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Develop a program to assess human activities' </a:t>
            </a:r>
            <a:r>
              <a:rPr lang="en-US" sz="2400" b="1" spc="-66" dirty="0">
                <a:solidFill>
                  <a:srgbClr val="00162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impact on climate change</a:t>
            </a: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00" spc="-66" dirty="0">
              <a:solidFill>
                <a:srgbClr val="00162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  <a:p>
            <a:pPr marL="713218" lvl="1" indent="-356609" algn="just">
              <a:lnSpc>
                <a:spcPct val="150000"/>
              </a:lnSpc>
              <a:buFont typeface="Arial"/>
              <a:buChar char="•"/>
            </a:pP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Measure </a:t>
            </a:r>
            <a:r>
              <a:rPr lang="en-US" sz="2400" b="1" spc="-66" dirty="0">
                <a:solidFill>
                  <a:srgbClr val="00162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carbon emissions</a:t>
            </a: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 from daily actions.</a:t>
            </a:r>
          </a:p>
          <a:p>
            <a:pPr algn="just">
              <a:lnSpc>
                <a:spcPct val="150000"/>
              </a:lnSpc>
            </a:pPr>
            <a:endParaRPr lang="en-US" sz="2400" spc="-66" dirty="0">
              <a:solidFill>
                <a:srgbClr val="00162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  <a:p>
            <a:pPr marL="713218" lvl="1" indent="-356609" algn="just">
              <a:lnSpc>
                <a:spcPct val="150000"/>
              </a:lnSpc>
              <a:buFont typeface="Arial"/>
              <a:buChar char="•"/>
            </a:pP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Provide </a:t>
            </a:r>
            <a:r>
              <a:rPr lang="en-US" sz="2400" b="1" spc="-66" dirty="0">
                <a:solidFill>
                  <a:srgbClr val="00162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insights</a:t>
            </a: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 on activities contributing to </a:t>
            </a:r>
            <a:r>
              <a:rPr lang="en-US" sz="2400" b="1" spc="-66" dirty="0">
                <a:solidFill>
                  <a:srgbClr val="00162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environmental harm</a:t>
            </a: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00" spc="-66" dirty="0">
              <a:solidFill>
                <a:srgbClr val="00162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  <a:p>
            <a:pPr marL="713218" lvl="1" indent="-356609" algn="just">
              <a:lnSpc>
                <a:spcPct val="150000"/>
              </a:lnSpc>
              <a:buFont typeface="Arial"/>
              <a:buChar char="•"/>
            </a:pP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Offer data-driven </a:t>
            </a:r>
            <a:r>
              <a:rPr lang="en-US" sz="2400" b="1" spc="-66" dirty="0">
                <a:solidFill>
                  <a:srgbClr val="00162E"/>
                </a:solidFill>
                <a:latin typeface="Open Sauce" panose="020B0604020202020204" charset="0"/>
                <a:ea typeface="Open Sauce Bold"/>
                <a:cs typeface="Open Sauce Bold"/>
                <a:sym typeface="Open Sauce Bold"/>
              </a:rPr>
              <a:t>suggestions</a:t>
            </a:r>
            <a:r>
              <a: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 for reducing carbon footprints.</a:t>
            </a:r>
          </a:p>
          <a:p>
            <a:pPr algn="just">
              <a:lnSpc>
                <a:spcPct val="150000"/>
              </a:lnSpc>
            </a:pPr>
            <a:endParaRPr lang="en-US" sz="2400" spc="-66" dirty="0">
              <a:solidFill>
                <a:srgbClr val="00162E"/>
              </a:solidFill>
              <a:latin typeface="Open Sauce" panose="020B0604020202020204" charset="0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83656" y="857250"/>
            <a:ext cx="9485075" cy="1966888"/>
            <a:chOff x="1028700" y="857250"/>
            <a:chExt cx="9485075" cy="1966888"/>
          </a:xfrm>
        </p:grpSpPr>
        <p:grpSp>
          <p:nvGrpSpPr>
            <p:cNvPr id="3" name="Group 3"/>
            <p:cNvGrpSpPr/>
            <p:nvPr/>
          </p:nvGrpSpPr>
          <p:grpSpPr>
            <a:xfrm>
              <a:off x="1028700" y="2471249"/>
              <a:ext cx="1349281" cy="352889"/>
              <a:chOff x="0" y="0"/>
              <a:chExt cx="1799041" cy="470519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0" y="0"/>
                <a:ext cx="470519" cy="470519"/>
                <a:chOff x="0" y="0"/>
                <a:chExt cx="812800" cy="81280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7" name="Group 7"/>
              <p:cNvGrpSpPr/>
              <p:nvPr/>
            </p:nvGrpSpPr>
            <p:grpSpPr>
              <a:xfrm>
                <a:off x="667461" y="0"/>
                <a:ext cx="470519" cy="470519"/>
                <a:chOff x="0" y="0"/>
                <a:chExt cx="812800" cy="8128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>
                <a:off x="1328523" y="0"/>
                <a:ext cx="470519" cy="470519"/>
                <a:chOff x="0" y="0"/>
                <a:chExt cx="812800" cy="8128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dirty="0"/>
                </a:p>
              </p:txBody>
            </p:sp>
          </p:grpSp>
        </p:grpSp>
        <p:sp>
          <p:nvSpPr>
            <p:cNvPr id="16" name="TextBox 16"/>
            <p:cNvSpPr txBox="1"/>
            <p:nvPr/>
          </p:nvSpPr>
          <p:spPr>
            <a:xfrm>
              <a:off x="1028700" y="857250"/>
              <a:ext cx="9485075" cy="1479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20"/>
                </a:lnSpc>
              </a:pPr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rPr>
                <a:t>PROBLEM STATEMENT</a:t>
              </a:r>
              <a:endParaRPr lang="en-US" sz="88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525177" y="-415653"/>
            <a:ext cx="8077200" cy="10325699"/>
            <a:chOff x="10525177" y="-415653"/>
            <a:chExt cx="8077200" cy="10325699"/>
          </a:xfrm>
        </p:grpSpPr>
        <p:sp>
          <p:nvSpPr>
            <p:cNvPr id="2" name="Arc 1"/>
            <p:cNvSpPr/>
            <p:nvPr/>
          </p:nvSpPr>
          <p:spPr>
            <a:xfrm rot="12777177">
              <a:off x="10525177" y="-415653"/>
              <a:ext cx="8077200" cy="10198591"/>
            </a:xfrm>
            <a:prstGeom prst="arc">
              <a:avLst/>
            </a:prstGeom>
            <a:ln>
              <a:solidFill>
                <a:srgbClr val="7116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744200" y="26590"/>
              <a:ext cx="7543800" cy="4659710"/>
            </a:xfrm>
            <a:custGeom>
              <a:avLst/>
              <a:gdLst/>
              <a:ahLst/>
              <a:cxnLst/>
              <a:rect l="l" t="t" r="r" b="b"/>
              <a:pathLst>
                <a:path w="6718739" h="4476360">
                  <a:moveTo>
                    <a:pt x="0" y="0"/>
                  </a:moveTo>
                  <a:lnTo>
                    <a:pt x="6718739" y="0"/>
                  </a:lnTo>
                  <a:lnTo>
                    <a:pt x="6718739" y="4476360"/>
                  </a:lnTo>
                  <a:lnTo>
                    <a:pt x="0" y="4476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20" name="Group 19"/>
            <p:cNvGrpSpPr/>
            <p:nvPr/>
          </p:nvGrpSpPr>
          <p:grpSpPr>
            <a:xfrm>
              <a:off x="11485608" y="4683642"/>
              <a:ext cx="5964192" cy="378270"/>
              <a:chOff x="10175819" y="8508055"/>
              <a:chExt cx="5964192" cy="37827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175819" y="8508055"/>
                <a:ext cx="252231" cy="328106"/>
              </a:xfrm>
              <a:custGeom>
                <a:avLst/>
                <a:gdLst/>
                <a:ahLst/>
                <a:cxnLst/>
                <a:rect l="l" t="t" r="r" b="b"/>
                <a:pathLst>
                  <a:path w="252231" h="328106">
                    <a:moveTo>
                      <a:pt x="0" y="0"/>
                    </a:moveTo>
                    <a:lnTo>
                      <a:pt x="252231" y="0"/>
                    </a:lnTo>
                    <a:lnTo>
                      <a:pt x="252231" y="328105"/>
                    </a:lnTo>
                    <a:lnTo>
                      <a:pt x="0" y="3281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alphaModFix amt="88000"/>
                  <a:extLst>
                    <a:ext uri="{96DAC541-7B7A-43D3-8B79-37D633B846F1}">
                      <asvg:svgBlip xmlns=""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636545" y="8546600"/>
                <a:ext cx="5503466" cy="33972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sz="1999" b="1" dirty="0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human activities' impact on climate change. </a:t>
                </a:r>
              </a:p>
            </p:txBody>
          </p:sp>
        </p:grp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84433" y="5372100"/>
              <a:ext cx="5503466" cy="4537946"/>
            </a:xfrm>
            <a:prstGeom prst="rect">
              <a:avLst/>
            </a:prstGeom>
          </p:spPr>
        </p:pic>
      </p:grpSp>
      <p:grpSp>
        <p:nvGrpSpPr>
          <p:cNvPr id="21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2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3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14877" y="647700"/>
            <a:ext cx="9895507" cy="11729288"/>
            <a:chOff x="146769" y="-171450"/>
            <a:chExt cx="13194008" cy="15639050"/>
          </a:xfrm>
        </p:grpSpPr>
        <p:grpSp>
          <p:nvGrpSpPr>
            <p:cNvPr id="4" name="Group 4"/>
            <p:cNvGrpSpPr/>
            <p:nvPr/>
          </p:nvGrpSpPr>
          <p:grpSpPr>
            <a:xfrm>
              <a:off x="420391" y="1923399"/>
              <a:ext cx="470519" cy="470519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087853" y="1923399"/>
              <a:ext cx="470519" cy="470519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748914" y="1923399"/>
              <a:ext cx="470519" cy="470519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46769" y="2158658"/>
              <a:ext cx="13194008" cy="133089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ct val="250000"/>
                </a:lnSpc>
                <a:buFont typeface="Wingdings" panose="05000000000000000000" pitchFamily="2" charset="2"/>
                <a:buChar char="Ø"/>
              </a:pPr>
              <a:r>
                <a:rPr lang="en-US" sz="2800" b="1" dirty="0">
                  <a:solidFill>
                    <a:srgbClr val="711662"/>
                  </a:solidFill>
                  <a:latin typeface="Open Sauce" panose="020B0604020202020204" charset="0"/>
                </a:rPr>
                <a:t>Climate Challenge:</a:t>
              </a:r>
              <a:endParaRPr lang="en-US" sz="2800" dirty="0">
                <a:solidFill>
                  <a:srgbClr val="711662"/>
                </a:solidFill>
                <a:latin typeface="Open Sauce" panose="020B0604020202020204" charset="0"/>
              </a:endParaRPr>
            </a:p>
            <a:p>
              <a:pPr marL="914400" lvl="1" indent="-45720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Open Sauce" panose="020B0604020202020204" charset="0"/>
                </a:rPr>
                <a:t>Carbon emissions significantly contribute to environmental degradation and climate change.</a:t>
              </a:r>
            </a:p>
            <a:p>
              <a:pPr marL="914400" lvl="1" indent="-45720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Open Sauce" panose="020B0604020202020204" charset="0"/>
                </a:rPr>
                <a:t>Need for accessible tools to quantify individual contributions to global emissions.</a:t>
              </a:r>
            </a:p>
            <a:p>
              <a:pPr marL="457200" indent="-457200">
                <a:lnSpc>
                  <a:spcPct val="250000"/>
                </a:lnSpc>
                <a:buFont typeface="Wingdings" panose="05000000000000000000" pitchFamily="2" charset="2"/>
                <a:buChar char="Ø"/>
              </a:pPr>
              <a:r>
                <a:rPr lang="en-US" sz="2800" b="1" dirty="0">
                  <a:solidFill>
                    <a:srgbClr val="711662"/>
                  </a:solidFill>
                  <a:latin typeface="Open Sauce" panose="020B0604020202020204" charset="0"/>
                </a:rPr>
                <a:t>Solution:</a:t>
              </a:r>
              <a:endParaRPr lang="en-US" sz="2800" dirty="0">
                <a:solidFill>
                  <a:srgbClr val="711662"/>
                </a:solidFill>
                <a:latin typeface="Open Sauce" panose="020B0604020202020204" charset="0"/>
              </a:endParaRPr>
            </a:p>
            <a:p>
              <a:pPr marL="914400" lvl="1" indent="-45720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Open Sauce" panose="020B0604020202020204" charset="0"/>
                </a:rPr>
                <a:t>A user-friendly program to calculate and analyze carbon footprints and provide actionable insights.</a:t>
              </a:r>
            </a:p>
            <a:p>
              <a:pPr algn="just">
                <a:lnSpc>
                  <a:spcPct val="200000"/>
                </a:lnSpc>
              </a:pPr>
              <a:endParaRPr lang="en-US" sz="3303" spc="-66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  <a:p>
              <a:pPr algn="just">
                <a:lnSpc>
                  <a:spcPct val="250000"/>
                </a:lnSpc>
              </a:pPr>
              <a:endParaRPr lang="en-US" sz="3303" spc="-66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0391" y="-171450"/>
              <a:ext cx="12646767" cy="200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599"/>
                </a:lnSpc>
              </a:pPr>
              <a:r>
                <a:rPr lang="en-US" sz="9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rPr>
                <a:t>INTRODUCTION</a:t>
              </a:r>
              <a:endParaRPr lang="en-US" sz="90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2" name="Freeform 2"/>
          <p:cNvSpPr/>
          <p:nvPr/>
        </p:nvSpPr>
        <p:spPr>
          <a:xfrm flipH="1" flipV="1">
            <a:off x="13335000" y="0"/>
            <a:ext cx="4953000" cy="4381500"/>
          </a:xfrm>
          <a:custGeom>
            <a:avLst/>
            <a:gdLst/>
            <a:ahLst/>
            <a:cxnLst/>
            <a:rect l="l" t="t" r="r" b="b"/>
            <a:pathLst>
              <a:path w="6815416" h="5648276">
                <a:moveTo>
                  <a:pt x="6815416" y="5648276"/>
                </a:moveTo>
                <a:lnTo>
                  <a:pt x="0" y="5648276"/>
                </a:lnTo>
                <a:lnTo>
                  <a:pt x="0" y="0"/>
                </a:lnTo>
                <a:lnTo>
                  <a:pt x="6815416" y="0"/>
                </a:lnTo>
                <a:lnTo>
                  <a:pt x="6815416" y="5648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4"/>
          <p:cNvGrpSpPr/>
          <p:nvPr/>
        </p:nvGrpSpPr>
        <p:grpSpPr>
          <a:xfrm>
            <a:off x="8493284" y="568282"/>
            <a:ext cx="9489915" cy="13086623"/>
            <a:chOff x="8493284" y="568282"/>
            <a:chExt cx="9489915" cy="13086623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9400" y="3467100"/>
              <a:ext cx="7543799" cy="10187805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93284" y="568282"/>
              <a:ext cx="1946116" cy="194611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1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9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0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30199" y="0"/>
            <a:ext cx="5257799" cy="4714590"/>
          </a:xfrm>
          <a:custGeom>
            <a:avLst/>
            <a:gdLst/>
            <a:ahLst/>
            <a:cxnLst/>
            <a:rect l="l" t="t" r="r" b="b"/>
            <a:pathLst>
              <a:path w="6206335" h="5143500">
                <a:moveTo>
                  <a:pt x="6206335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206335" y="0"/>
                </a:lnTo>
                <a:lnTo>
                  <a:pt x="6206335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/>
          <p:cNvGrpSpPr/>
          <p:nvPr/>
        </p:nvGrpSpPr>
        <p:grpSpPr>
          <a:xfrm>
            <a:off x="457200" y="647700"/>
            <a:ext cx="13868400" cy="1905000"/>
            <a:chOff x="457200" y="647700"/>
            <a:chExt cx="13868400" cy="1905000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647700"/>
              <a:ext cx="138684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FEATURES</a:t>
              </a:r>
              <a:r>
                <a:rPr lang="en-US" sz="8800" i="1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 </a:t>
              </a:r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AND</a:t>
              </a:r>
              <a:r>
                <a:rPr lang="en-US" sz="8800" i="1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 </a:t>
              </a:r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FUNCTIONALITIES</a:t>
              </a:r>
              <a:endParaRPr lang="en-US" sz="88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endParaRPr>
            </a:p>
          </p:txBody>
        </p:sp>
        <p:sp>
          <p:nvSpPr>
            <p:cNvPr id="4" name="Freeform 5"/>
            <p:cNvSpPr/>
            <p:nvPr/>
          </p:nvSpPr>
          <p:spPr>
            <a:xfrm>
              <a:off x="533400" y="2199811"/>
              <a:ext cx="352889" cy="35288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62E">
                    <a:alpha val="100000"/>
                  </a:srgbClr>
                </a:gs>
                <a:gs pos="100000">
                  <a:srgbClr val="D63DA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Freeform 8"/>
            <p:cNvSpPr/>
            <p:nvPr/>
          </p:nvSpPr>
          <p:spPr>
            <a:xfrm>
              <a:off x="1033996" y="2199811"/>
              <a:ext cx="352889" cy="35288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62E">
                    <a:alpha val="100000"/>
                  </a:srgbClr>
                </a:gs>
                <a:gs pos="100000">
                  <a:srgbClr val="D63DA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Freeform 11"/>
            <p:cNvSpPr/>
            <p:nvPr/>
          </p:nvSpPr>
          <p:spPr>
            <a:xfrm>
              <a:off x="1529792" y="2199811"/>
              <a:ext cx="352889" cy="35288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62E">
                    <a:alpha val="100000"/>
                  </a:srgbClr>
                </a:gs>
                <a:gs pos="100000">
                  <a:srgbClr val="D63DA0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7" name="TextBox 6"/>
          <p:cNvSpPr txBox="1"/>
          <p:nvPr/>
        </p:nvSpPr>
        <p:spPr>
          <a:xfrm>
            <a:off x="533400" y="2741950"/>
            <a:ext cx="15849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711662"/>
                </a:solidFill>
                <a:latin typeface="Open Sauce" panose="020B0604020202020204" charset="0"/>
              </a:rPr>
              <a:t>Key Features: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Activity-wise </a:t>
            </a:r>
            <a:r>
              <a:rPr lang="en-US" sz="2400" dirty="0">
                <a:latin typeface="Open Sauce" panose="020B0604020202020204" charset="0"/>
              </a:rPr>
              <a:t>carbon emission calculations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Air </a:t>
            </a:r>
            <a:r>
              <a:rPr lang="en-US" sz="2400" dirty="0">
                <a:latin typeface="Open Sauce" panose="020B0604020202020204" charset="0"/>
              </a:rPr>
              <a:t>Quality Index (AQI) determination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Carbon </a:t>
            </a:r>
            <a:r>
              <a:rPr lang="en-US" sz="2400" dirty="0">
                <a:latin typeface="Open Sauce" panose="020B0604020202020204" charset="0"/>
              </a:rPr>
              <a:t>offset recommendations (trees, solar panels</a:t>
            </a:r>
            <a:r>
              <a:rPr lang="en-US" sz="2400" dirty="0" smtClean="0">
                <a:latin typeface="Open Sauce" panose="020B0604020202020204" charset="0"/>
              </a:rPr>
              <a:t>).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Transportation </a:t>
            </a:r>
            <a:r>
              <a:rPr lang="en-US" sz="2400" dirty="0">
                <a:latin typeface="Open Sauce" panose="020B0604020202020204" charset="0"/>
              </a:rPr>
              <a:t>mode comparison (car vs. bus</a:t>
            </a:r>
            <a:r>
              <a:rPr lang="en-US" sz="2400" dirty="0" smtClean="0">
                <a:latin typeface="Open Sauce" panose="020B0604020202020204" charset="0"/>
              </a:rPr>
              <a:t>).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Future </a:t>
            </a:r>
            <a:r>
              <a:rPr lang="en-US" sz="2400" dirty="0">
                <a:latin typeface="Open Sauce" panose="020B0604020202020204" charset="0"/>
              </a:rPr>
              <a:t>emissions prediction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Bar </a:t>
            </a:r>
            <a:r>
              <a:rPr lang="en-US" sz="2400" dirty="0">
                <a:latin typeface="Open Sauce" panose="020B0604020202020204" charset="0"/>
              </a:rPr>
              <a:t>chart visualization of emissions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File-saving </a:t>
            </a:r>
            <a:r>
              <a:rPr lang="en-US" sz="2400" dirty="0">
                <a:latin typeface="Open Sauce" panose="020B0604020202020204" charset="0"/>
              </a:rPr>
              <a:t>for reports and results.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8763000" y="1811808"/>
            <a:ext cx="9220200" cy="8322006"/>
            <a:chOff x="8763000" y="1811808"/>
            <a:chExt cx="9220200" cy="832200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63000" y="5981700"/>
              <a:ext cx="9220200" cy="415211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34896" y="1811808"/>
              <a:ext cx="3952907" cy="3979392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846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57200" y="647700"/>
            <a:ext cx="13868400" cy="1877599"/>
            <a:chOff x="457200" y="647700"/>
            <a:chExt cx="13868400" cy="1877599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647700"/>
              <a:ext cx="138684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ALGORITHM AND FLOWCHART</a:t>
              </a:r>
              <a:endParaRPr lang="en-US" sz="88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171700"/>
              <a:ext cx="1347333" cy="353599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57200" y="2346277"/>
            <a:ext cx="11125200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Algorithm Overview: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Take </a:t>
            </a:r>
            <a:r>
              <a:rPr lang="en-US" sz="2400" dirty="0">
                <a:latin typeface="Open Sauce" panose="020B0604020202020204" charset="0"/>
              </a:rPr>
              <a:t>user inputs for various activities (e.g., car travel, electricity usage</a:t>
            </a:r>
            <a:r>
              <a:rPr lang="en-US" sz="2400" dirty="0" smtClean="0">
                <a:latin typeface="Open Sauce" panose="020B0604020202020204" charset="0"/>
              </a:rPr>
              <a:t>).</a:t>
            </a:r>
            <a:endParaRPr lang="en-US" sz="2400" dirty="0">
              <a:latin typeface="Open Sauce" panose="020B0604020202020204" charset="0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Validate inputs (handle invalid or negative values).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Calculate emissions and AQI.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Provide carbon offset suggestions.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Visualize results through bar charts.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Save results to a file.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Allow additional menu-based interactions.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010400" y="342900"/>
            <a:ext cx="11277600" cy="9563100"/>
            <a:chOff x="7010400" y="342900"/>
            <a:chExt cx="11277600" cy="95631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0400" y="342900"/>
              <a:ext cx="11277600" cy="9563100"/>
            </a:xfrm>
            <a:prstGeom prst="rect">
              <a:avLst/>
            </a:prstGeom>
          </p:spPr>
        </p:pic>
        <p:grpSp>
          <p:nvGrpSpPr>
            <p:cNvPr id="11" name="Group 10"/>
            <p:cNvGrpSpPr/>
            <p:nvPr/>
          </p:nvGrpSpPr>
          <p:grpSpPr>
            <a:xfrm>
              <a:off x="10363200" y="6422447"/>
              <a:ext cx="5029200" cy="369332"/>
              <a:chOff x="9372600" y="5886860"/>
              <a:chExt cx="5029200" cy="369332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9372600" y="5886860"/>
                <a:ext cx="5029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SIMPLIFIED FLOWCHAT </a:t>
                </a:r>
                <a:endParaRPr lang="en-US" b="1" dirty="0"/>
              </a:p>
            </p:txBody>
          </p:sp>
          <p:sp>
            <p:nvSpPr>
              <p:cNvPr id="10" name="Right Arrow 9"/>
              <p:cNvSpPr/>
              <p:nvPr/>
            </p:nvSpPr>
            <p:spPr>
              <a:xfrm>
                <a:off x="11887200" y="5938859"/>
                <a:ext cx="762000" cy="2286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7116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6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106399" y="0"/>
            <a:ext cx="5181600" cy="4457700"/>
          </a:xfrm>
          <a:custGeom>
            <a:avLst/>
            <a:gdLst/>
            <a:ahLst/>
            <a:cxnLst/>
            <a:rect l="l" t="t" r="r" b="b"/>
            <a:pathLst>
              <a:path w="6206335" h="5143500">
                <a:moveTo>
                  <a:pt x="6206335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206335" y="0"/>
                </a:lnTo>
                <a:lnTo>
                  <a:pt x="6206335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9C3688-2374-49C1-A0A8-3D80BA7A7499}"/>
              </a:ext>
            </a:extLst>
          </p:cNvPr>
          <p:cNvGrpSpPr/>
          <p:nvPr/>
        </p:nvGrpSpPr>
        <p:grpSpPr>
          <a:xfrm>
            <a:off x="681002" y="571500"/>
            <a:ext cx="10444401" cy="1533609"/>
            <a:chOff x="681001" y="1290529"/>
            <a:chExt cx="10444401" cy="1533609"/>
          </a:xfrm>
        </p:grpSpPr>
        <p:grpSp>
          <p:nvGrpSpPr>
            <p:cNvPr id="3" name="Group 3"/>
            <p:cNvGrpSpPr/>
            <p:nvPr/>
          </p:nvGrpSpPr>
          <p:grpSpPr>
            <a:xfrm>
              <a:off x="681001" y="2471249"/>
              <a:ext cx="388580" cy="352889"/>
              <a:chOff x="0" y="0"/>
              <a:chExt cx="89500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32227" y="2471249"/>
              <a:ext cx="388580" cy="352889"/>
              <a:chOff x="0" y="0"/>
              <a:chExt cx="89500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78168" y="2471249"/>
              <a:ext cx="388580" cy="352889"/>
              <a:chOff x="0" y="0"/>
              <a:chExt cx="89500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81001" y="1290529"/>
              <a:ext cx="10444401" cy="1123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75"/>
                </a:lnSpc>
              </a:pPr>
              <a:r>
                <a:rPr lang="en-US" sz="75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rPr>
                <a:t>CODE DESIGN </a:t>
              </a:r>
              <a:endParaRPr lang="en-US" sz="75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62925" y="2072026"/>
            <a:ext cx="12425398" cy="7786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Modularity</a:t>
            </a: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: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Input Module: Collects user data and validates it.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Processing Module: Calculates emissions, AQI, and offsets.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Visualization Module: Creates bar charts for emissions.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File Management Module: Saves results to a text file.</a:t>
            </a:r>
          </a:p>
          <a:p>
            <a:pPr marL="457200" lvl="0" indent="-4572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Header Files: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&lt;thread&gt; and &lt;chrono&gt; for progress bars and delays.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&lt;iostream&gt; and &lt;fstream&gt; for input/output and file handling.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9416486" y="248574"/>
            <a:ext cx="7459292" cy="10038426"/>
            <a:chOff x="9416486" y="248574"/>
            <a:chExt cx="7459292" cy="10038426"/>
          </a:xfrm>
        </p:grpSpPr>
        <p:sp>
          <p:nvSpPr>
            <p:cNvPr id="12" name="Freeform 12"/>
            <p:cNvSpPr/>
            <p:nvPr/>
          </p:nvSpPr>
          <p:spPr>
            <a:xfrm>
              <a:off x="12649200" y="6206431"/>
              <a:ext cx="4226578" cy="4080569"/>
            </a:xfrm>
            <a:custGeom>
              <a:avLst/>
              <a:gdLst/>
              <a:ahLst/>
              <a:cxnLst/>
              <a:rect l="l" t="t" r="r" b="b"/>
              <a:pathLst>
                <a:path w="4226578" h="4080569">
                  <a:moveTo>
                    <a:pt x="0" y="0"/>
                  </a:moveTo>
                  <a:lnTo>
                    <a:pt x="4226578" y="0"/>
                  </a:lnTo>
                  <a:lnTo>
                    <a:pt x="4226578" y="4080569"/>
                  </a:lnTo>
                  <a:lnTo>
                    <a:pt x="0" y="4080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5" name="Group 24"/>
            <p:cNvGrpSpPr/>
            <p:nvPr/>
          </p:nvGrpSpPr>
          <p:grpSpPr>
            <a:xfrm>
              <a:off x="9416486" y="248574"/>
              <a:ext cx="2637470" cy="1856535"/>
              <a:chOff x="10286065" y="2782627"/>
              <a:chExt cx="5287139" cy="3516634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449" b="89744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409359" y="2848657"/>
                <a:ext cx="5163845" cy="3450604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0000" b="100000" l="8941" r="889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409359" y="2782627"/>
                <a:ext cx="5128802" cy="3426229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31231" b="100000" l="48201" r="93834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286065" y="2782627"/>
                <a:ext cx="5225257" cy="3431149"/>
              </a:xfrm>
              <a:prstGeom prst="rect">
                <a:avLst/>
              </a:prstGeom>
            </p:spPr>
          </p:pic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733641" y="2582142"/>
              <a:ext cx="5677306" cy="319606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24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7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9256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081665" y="-76200"/>
            <a:ext cx="6206335" cy="5143500"/>
          </a:xfrm>
          <a:custGeom>
            <a:avLst/>
            <a:gdLst/>
            <a:ahLst/>
            <a:cxnLst/>
            <a:rect l="l" t="t" r="r" b="b"/>
            <a:pathLst>
              <a:path w="6206335" h="5143500">
                <a:moveTo>
                  <a:pt x="6206335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206335" y="0"/>
                </a:lnTo>
                <a:lnTo>
                  <a:pt x="6206335" y="51435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90034" y="2828420"/>
            <a:ext cx="12257759" cy="7458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spc="-68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Data </a:t>
            </a:r>
            <a:r>
              <a:rPr lang="en-US" sz="2800" b="1" spc="-68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Collection</a:t>
            </a:r>
            <a:endParaRPr lang="en-US" sz="3403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spc="-68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Mathematical Calculations</a:t>
            </a:r>
            <a:endParaRPr lang="en-US" sz="2800" b="1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spc="-68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Interactive Features</a:t>
            </a:r>
            <a:endParaRPr lang="en-US" sz="2800" b="1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spc="-68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File Handling</a:t>
            </a:r>
            <a:endParaRPr lang="en-US" sz="2400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spc="-68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Visual </a:t>
            </a:r>
            <a:r>
              <a:rPr lang="en-US" sz="2800" b="1" spc="-68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Enhancements</a:t>
            </a:r>
            <a:endParaRPr lang="en-US" sz="2400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spc="-68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Comparative </a:t>
            </a:r>
            <a:r>
              <a:rPr lang="en-US" sz="2800" b="1" spc="-68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Insights</a:t>
            </a:r>
            <a:endParaRPr lang="en-US" sz="2800" b="1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ct val="250000"/>
              </a:lnSpc>
            </a:pPr>
            <a:endParaRPr lang="en-US" sz="2400" spc="-68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9600" y="961941"/>
            <a:ext cx="14478000" cy="1563358"/>
            <a:chOff x="609600" y="961941"/>
            <a:chExt cx="14478000" cy="15633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8925D7B-61DB-4A3C-87B2-2BF236B87265}"/>
                </a:ext>
              </a:extLst>
            </p:cNvPr>
            <p:cNvGrpSpPr/>
            <p:nvPr/>
          </p:nvGrpSpPr>
          <p:grpSpPr>
            <a:xfrm>
              <a:off x="609600" y="961941"/>
              <a:ext cx="14478000" cy="1500526"/>
              <a:chOff x="681001" y="1290529"/>
              <a:chExt cx="10444401" cy="1500526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717431" y="2487791"/>
                <a:ext cx="315721" cy="3032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sz="80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68656" y="2487791"/>
                <a:ext cx="315721" cy="3032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sz="80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814597" y="2487791"/>
                <a:ext cx="315721" cy="3032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sz="80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81001" y="1290529"/>
                <a:ext cx="10444401" cy="11285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8775"/>
                  </a:lnSpc>
                </a:pPr>
                <a:r>
                  <a:rPr lang="en-US" sz="8000" dirty="0" smtClean="0">
                    <a:solidFill>
                      <a:srgbClr val="71166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nton"/>
                    <a:ea typeface="Anton"/>
                    <a:cs typeface="Anton"/>
                    <a:sym typeface="Anton"/>
                  </a:rPr>
                  <a:t>IMPLEMENTATION HIGHLIGHTS</a:t>
                </a:r>
                <a:endParaRPr lang="en-US" sz="8000" dirty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3867" y="2171700"/>
              <a:ext cx="1347333" cy="353599"/>
            </a:xfrm>
            <a:prstGeom prst="rect">
              <a:avLst/>
            </a:prstGeom>
          </p:spPr>
        </p:pic>
      </p:grpSp>
      <p:grpSp>
        <p:nvGrpSpPr>
          <p:cNvPr id="20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1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2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396938" y="2456408"/>
            <a:ext cx="10737032" cy="8220790"/>
            <a:chOff x="7396938" y="2456408"/>
            <a:chExt cx="10737032" cy="8220790"/>
          </a:xfrm>
        </p:grpSpPr>
        <p:grpSp>
          <p:nvGrpSpPr>
            <p:cNvPr id="13" name="Group 13"/>
            <p:cNvGrpSpPr/>
            <p:nvPr/>
          </p:nvGrpSpPr>
          <p:grpSpPr>
            <a:xfrm>
              <a:off x="12649200" y="6273994"/>
              <a:ext cx="5484770" cy="4403204"/>
              <a:chOff x="0" y="0"/>
              <a:chExt cx="8343850" cy="669848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4379594"/>
                <a:ext cx="8343850" cy="2318895"/>
              </a:xfrm>
              <a:custGeom>
                <a:avLst/>
                <a:gdLst/>
                <a:ahLst/>
                <a:cxnLst/>
                <a:rect l="l" t="t" r="r" b="b"/>
                <a:pathLst>
                  <a:path w="8343850" h="2318895">
                    <a:moveTo>
                      <a:pt x="0" y="0"/>
                    </a:moveTo>
                    <a:lnTo>
                      <a:pt x="8343850" y="0"/>
                    </a:lnTo>
                    <a:lnTo>
                      <a:pt x="8343850" y="2318895"/>
                    </a:lnTo>
                    <a:lnTo>
                      <a:pt x="0" y="231889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alphaModFix amt="41000"/>
                </a:blip>
                <a:stretch>
                  <a:fillRect/>
                </a:stretch>
              </a:blipFill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626988" y="0"/>
                <a:ext cx="5483161" cy="5423345"/>
              </a:xfrm>
              <a:custGeom>
                <a:avLst/>
                <a:gdLst/>
                <a:ahLst/>
                <a:cxnLst/>
                <a:rect l="l" t="t" r="r" b="b"/>
                <a:pathLst>
                  <a:path w="5483161" h="5423345">
                    <a:moveTo>
                      <a:pt x="0" y="0"/>
                    </a:moveTo>
                    <a:lnTo>
                      <a:pt x="5483161" y="0"/>
                    </a:lnTo>
                    <a:lnTo>
                      <a:pt x="5483161" y="5423345"/>
                    </a:lnTo>
                    <a:lnTo>
                      <a:pt x="0" y="542334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=""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</p:sp>
        </p:grpSp>
        <p:grpSp>
          <p:nvGrpSpPr>
            <p:cNvPr id="23" name="Group 22"/>
            <p:cNvGrpSpPr/>
            <p:nvPr/>
          </p:nvGrpSpPr>
          <p:grpSpPr>
            <a:xfrm>
              <a:off x="7396938" y="2456408"/>
              <a:ext cx="7273158" cy="4090771"/>
              <a:chOff x="7132018" y="3104242"/>
              <a:chExt cx="7273158" cy="4090771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7132018" y="3104242"/>
                <a:ext cx="7273158" cy="4090771"/>
                <a:chOff x="7132018" y="3104242"/>
                <a:chExt cx="7273158" cy="4090771"/>
              </a:xfrm>
            </p:grpSpPr>
            <p:pic>
              <p:nvPicPr>
                <p:cNvPr id="4" name="Picture 3"/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0" b="100000" l="0" r="99688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32018" y="3104248"/>
                  <a:ext cx="7272471" cy="4090765"/>
                </a:xfrm>
                <a:prstGeom prst="rect">
                  <a:avLst/>
                </a:prstGeom>
              </p:spPr>
            </p:pic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backgroundRemoval t="61997" b="95231" l="53227" r="71752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32018" y="3104242"/>
                  <a:ext cx="7273158" cy="4090771"/>
                </a:xfrm>
                <a:prstGeom prst="rect">
                  <a:avLst/>
                </a:prstGeom>
              </p:spPr>
            </p:pic>
          </p:grpSp>
          <p:sp>
            <p:nvSpPr>
              <p:cNvPr id="12" name="TextBox 11"/>
              <p:cNvSpPr txBox="1"/>
              <p:nvPr/>
            </p:nvSpPr>
            <p:spPr>
              <a:xfrm>
                <a:off x="9943828" y="4374802"/>
                <a:ext cx="185755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 smtClean="0">
                    <a:latin typeface="Bahnschrift" panose="020B0502040204020203" pitchFamily="34" charset="0"/>
                  </a:rPr>
                  <a:t>2,400</a:t>
                </a:r>
              </a:p>
              <a:p>
                <a:pPr algn="ctr"/>
                <a:r>
                  <a:rPr lang="en-US" sz="2000" b="1" dirty="0" smtClean="0">
                    <a:latin typeface="Bahnschrift" panose="020B0502040204020203" pitchFamily="34" charset="0"/>
                  </a:rPr>
                  <a:t>kg CO</a:t>
                </a:r>
                <a:r>
                  <a:rPr lang="en-US" sz="1600" b="1" dirty="0" smtClean="0">
                    <a:latin typeface="Bahnschrift" panose="020B0502040204020203" pitchFamily="34" charset="0"/>
                  </a:rPr>
                  <a:t>2</a:t>
                </a:r>
              </a:p>
              <a:p>
                <a:pPr algn="ctr"/>
                <a:r>
                  <a:rPr lang="en-US" sz="1600" b="1" dirty="0" smtClean="0">
                    <a:latin typeface="Bahnschrift" panose="020B0502040204020203" pitchFamily="34" charset="0"/>
                  </a:rPr>
                  <a:t>Estimated</a:t>
                </a:r>
                <a:endParaRPr lang="en-US" sz="2000" b="1" dirty="0">
                  <a:latin typeface="Bahnschrift" panose="020B0502040204020203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239999" y="0"/>
            <a:ext cx="3048000" cy="2933700"/>
          </a:xfrm>
          <a:custGeom>
            <a:avLst/>
            <a:gdLst/>
            <a:ahLst/>
            <a:cxnLst/>
            <a:rect l="l" t="t" r="r" b="b"/>
            <a:pathLst>
              <a:path w="6206335" h="5143500">
                <a:moveTo>
                  <a:pt x="6206335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206335" y="0"/>
                </a:lnTo>
                <a:lnTo>
                  <a:pt x="6206335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9C3688-2374-49C1-A0A8-3D80BA7A7499}"/>
              </a:ext>
            </a:extLst>
          </p:cNvPr>
          <p:cNvGrpSpPr/>
          <p:nvPr/>
        </p:nvGrpSpPr>
        <p:grpSpPr>
          <a:xfrm>
            <a:off x="685800" y="1081210"/>
            <a:ext cx="12730198" cy="1533609"/>
            <a:chOff x="681001" y="1290529"/>
            <a:chExt cx="12730198" cy="1533609"/>
          </a:xfrm>
        </p:grpSpPr>
        <p:grpSp>
          <p:nvGrpSpPr>
            <p:cNvPr id="3" name="Group 3"/>
            <p:cNvGrpSpPr/>
            <p:nvPr/>
          </p:nvGrpSpPr>
          <p:grpSpPr>
            <a:xfrm>
              <a:off x="681001" y="2471249"/>
              <a:ext cx="388580" cy="352889"/>
              <a:chOff x="0" y="0"/>
              <a:chExt cx="89500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3906" y="38101"/>
                <a:ext cx="811101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88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32227" y="2471249"/>
              <a:ext cx="388580" cy="352889"/>
              <a:chOff x="0" y="0"/>
              <a:chExt cx="89500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88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78168" y="2471249"/>
              <a:ext cx="388580" cy="352889"/>
              <a:chOff x="0" y="0"/>
              <a:chExt cx="89500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880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81001" y="1290529"/>
              <a:ext cx="12730198" cy="11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775"/>
                </a:lnSpc>
              </a:pPr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rPr>
                <a:t>USER INTERACTION</a:t>
              </a:r>
              <a:endParaRPr lang="en-US" sz="88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85800" y="2230582"/>
            <a:ext cx="17536318" cy="7387882"/>
            <a:chOff x="685800" y="2230582"/>
            <a:chExt cx="17536318" cy="7387882"/>
          </a:xfrm>
        </p:grpSpPr>
        <p:grpSp>
          <p:nvGrpSpPr>
            <p:cNvPr id="12" name="Group 11"/>
            <p:cNvGrpSpPr/>
            <p:nvPr/>
          </p:nvGrpSpPr>
          <p:grpSpPr>
            <a:xfrm>
              <a:off x="685800" y="2230582"/>
              <a:ext cx="17536318" cy="7387882"/>
              <a:chOff x="685800" y="2230582"/>
              <a:chExt cx="17536318" cy="7387882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685800" y="2933700"/>
                <a:ext cx="12730198" cy="393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lvl="0" indent="-457200" eaLnBrk="0" fontAlgn="base" hangingPunct="0">
                  <a:lnSpc>
                    <a:spcPct val="2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lang="en-US" altLang="en-US" sz="2800" b="1" dirty="0">
                    <a:solidFill>
                      <a:srgbClr val="711662"/>
                    </a:solidFill>
                    <a:latin typeface="Open Sauce" panose="020B0604020202020204" charset="0"/>
                  </a:rPr>
                  <a:t>Interactive Features:</a:t>
                </a:r>
                <a:endParaRPr lang="en-US" altLang="en-US" sz="2800" dirty="0">
                  <a:solidFill>
                    <a:srgbClr val="711662"/>
                  </a:solidFill>
                  <a:latin typeface="Open Sauce" panose="020B0604020202020204" charset="0"/>
                </a:endParaRPr>
              </a:p>
              <a:p>
                <a:pPr marL="914400" lvl="1" indent="-457200" eaLnBrk="0" fontAlgn="base" hangingPunct="0">
                  <a:lnSpc>
                    <a:spcPct val="2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Open Sauce" panose="020B0604020202020204" charset="0"/>
                  </a:rPr>
                  <a:t>Menu-driven interface for selecting program options.</a:t>
                </a:r>
              </a:p>
              <a:p>
                <a:pPr marL="914400" lvl="1" indent="-457200" eaLnBrk="0" fontAlgn="base" hangingPunct="0">
                  <a:lnSpc>
                    <a:spcPct val="2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Open Sauce" panose="020B0604020202020204" charset="0"/>
                  </a:rPr>
                  <a:t>Progress bars simulate real-time processing.</a:t>
                </a:r>
              </a:p>
              <a:p>
                <a:pPr marL="914400" lvl="1" indent="-457200" eaLnBrk="0" fontAlgn="base" hangingPunct="0">
                  <a:lnSpc>
                    <a:spcPct val="2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400" dirty="0">
                    <a:latin typeface="Open Sauce" panose="020B0604020202020204" charset="0"/>
                  </a:rPr>
                  <a:t>Error messages ensure valid user input</a:t>
                </a:r>
                <a:r>
                  <a:rPr lang="en-US" altLang="en-US" sz="2400" dirty="0" smtClean="0">
                    <a:latin typeface="Open Sauce" panose="020B0604020202020204" charset="0"/>
                  </a:rPr>
                  <a:t>.</a:t>
                </a:r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10043" y="2230582"/>
                <a:ext cx="6291329" cy="3971224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19" name="Right Arrow 18"/>
              <p:cNvSpPr/>
              <p:nvPr/>
            </p:nvSpPr>
            <p:spPr>
              <a:xfrm>
                <a:off x="9677400" y="4457700"/>
                <a:ext cx="1295400" cy="228600"/>
              </a:xfrm>
              <a:prstGeom prst="rightArrow">
                <a:avLst/>
              </a:prstGeom>
              <a:solidFill>
                <a:srgbClr val="71166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94274" y="8475393"/>
                <a:ext cx="8627844" cy="849725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24" name="Right Arrow 23"/>
              <p:cNvSpPr/>
              <p:nvPr/>
            </p:nvSpPr>
            <p:spPr>
              <a:xfrm rot="2632971">
                <a:off x="8275345" y="6247047"/>
                <a:ext cx="1720357" cy="214356"/>
              </a:xfrm>
              <a:prstGeom prst="rightArrow">
                <a:avLst/>
              </a:prstGeom>
              <a:solidFill>
                <a:srgbClr val="71166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5800" y="7581900"/>
                <a:ext cx="8482732" cy="2036564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28" name="Right Arrow 27"/>
              <p:cNvSpPr/>
              <p:nvPr/>
            </p:nvSpPr>
            <p:spPr>
              <a:xfrm rot="5400000">
                <a:off x="3771086" y="6971584"/>
                <a:ext cx="978867" cy="190708"/>
              </a:xfrm>
              <a:prstGeom prst="rightArrow">
                <a:avLst/>
              </a:prstGeom>
              <a:solidFill>
                <a:srgbClr val="71166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01201" y="7057504"/>
              <a:ext cx="8620917" cy="72561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3" name="Right Arrow 22"/>
            <p:cNvSpPr/>
            <p:nvPr/>
          </p:nvSpPr>
          <p:spPr>
            <a:xfrm rot="5400000">
              <a:off x="13623960" y="7949189"/>
              <a:ext cx="639150" cy="302671"/>
            </a:xfrm>
            <a:prstGeom prst="rightArrow">
              <a:avLst/>
            </a:prstGeom>
            <a:solidFill>
              <a:srgbClr val="71166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7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9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5450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46524" y="2357329"/>
            <a:ext cx="12420600" cy="3160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Testing Objectives:</a:t>
            </a:r>
            <a:endParaRPr lang="en-US" altLang="en-US" sz="2800" dirty="0">
              <a:solidFill>
                <a:srgbClr val="711662"/>
              </a:solidFill>
              <a:latin typeface="Open Sauce" panose="020B0604020202020204" charset="0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Validate correct calculations for emissions and AQI.</a:t>
            </a: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Test robustness with invalid and edge-case inputs.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Example Test Cases</a:t>
            </a: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:</a:t>
            </a:r>
            <a:endParaRPr lang="en-US" altLang="en-US" sz="2800" dirty="0">
              <a:solidFill>
                <a:srgbClr val="711662"/>
              </a:solidFill>
              <a:latin typeface="Open Sauce" panose="020B0604020202020204" charset="0"/>
            </a:endParaRPr>
          </a:p>
        </p:txBody>
      </p:sp>
      <p:cxnSp>
        <p:nvCxnSpPr>
          <p:cNvPr id="30" name="Elbow Connector 29"/>
          <p:cNvCxnSpPr/>
          <p:nvPr/>
        </p:nvCxnSpPr>
        <p:spPr>
          <a:xfrm rot="5400000">
            <a:off x="9690826" y="3967570"/>
            <a:ext cx="2084510" cy="1681401"/>
          </a:xfrm>
          <a:prstGeom prst="bentConnector3">
            <a:avLst>
              <a:gd name="adj1" fmla="val 152"/>
            </a:avLst>
          </a:prstGeom>
          <a:ln>
            <a:solidFill>
              <a:srgbClr val="71166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Freeform 2"/>
          <p:cNvSpPr/>
          <p:nvPr/>
        </p:nvSpPr>
        <p:spPr>
          <a:xfrm flipH="1" flipV="1">
            <a:off x="12081665" y="0"/>
            <a:ext cx="6206335" cy="5143500"/>
          </a:xfrm>
          <a:custGeom>
            <a:avLst/>
            <a:gdLst/>
            <a:ahLst/>
            <a:cxnLst/>
            <a:rect l="l" t="t" r="r" b="b"/>
            <a:pathLst>
              <a:path w="6206335" h="5143500">
                <a:moveTo>
                  <a:pt x="6206335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206335" y="0"/>
                </a:lnTo>
                <a:lnTo>
                  <a:pt x="6206335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85800" y="633327"/>
            <a:ext cx="10444401" cy="1538373"/>
            <a:chOff x="0" y="19050"/>
            <a:chExt cx="13925868" cy="205116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1599694"/>
              <a:ext cx="518107" cy="470519"/>
              <a:chOff x="0" y="0"/>
              <a:chExt cx="895007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sz="8800" dirty="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734969" y="1599694"/>
              <a:ext cx="518107" cy="470519"/>
              <a:chOff x="0" y="0"/>
              <a:chExt cx="895007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sz="8800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462890" y="1599694"/>
              <a:ext cx="518107" cy="470519"/>
              <a:chOff x="0" y="0"/>
              <a:chExt cx="895007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sz="8800" dirty="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19050"/>
              <a:ext cx="13925868" cy="152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75"/>
                </a:lnSpc>
              </a:pPr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rPr>
                <a:t>TESTING</a:t>
              </a:r>
              <a:endParaRPr lang="en-US" sz="88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62000" y="8755440"/>
            <a:ext cx="647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Results:</a:t>
            </a:r>
            <a:r>
              <a:rPr lang="en-US" altLang="en-US" sz="2800" dirty="0">
                <a:solidFill>
                  <a:srgbClr val="711662"/>
                </a:solidFill>
                <a:latin typeface="Open Sauce" panose="020B0604020202020204" charset="0"/>
              </a:rPr>
              <a:t>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All test cases passed successfully. </a:t>
            </a:r>
          </a:p>
          <a:p>
            <a:endParaRPr lang="en-US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663144"/>
              </p:ext>
            </p:extLst>
          </p:nvPr>
        </p:nvGraphicFramePr>
        <p:xfrm>
          <a:off x="1819397" y="5857316"/>
          <a:ext cx="13039603" cy="286758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697849">
                  <a:extLst>
                    <a:ext uri="{9D8B030D-6E8A-4147-A177-3AD203B41FA5}">
                      <a16:colId xmlns:a16="http://schemas.microsoft.com/office/drawing/2014/main" val="179185112"/>
                    </a:ext>
                  </a:extLst>
                </a:gridCol>
                <a:gridCol w="3203017">
                  <a:extLst>
                    <a:ext uri="{9D8B030D-6E8A-4147-A177-3AD203B41FA5}">
                      <a16:colId xmlns:a16="http://schemas.microsoft.com/office/drawing/2014/main" val="1545015654"/>
                    </a:ext>
                  </a:extLst>
                </a:gridCol>
                <a:gridCol w="3878836">
                  <a:extLst>
                    <a:ext uri="{9D8B030D-6E8A-4147-A177-3AD203B41FA5}">
                      <a16:colId xmlns:a16="http://schemas.microsoft.com/office/drawing/2014/main" val="2634084172"/>
                    </a:ext>
                  </a:extLst>
                </a:gridCol>
                <a:gridCol w="3259901">
                  <a:extLst>
                    <a:ext uri="{9D8B030D-6E8A-4147-A177-3AD203B41FA5}">
                      <a16:colId xmlns:a16="http://schemas.microsoft.com/office/drawing/2014/main" val="1827535359"/>
                    </a:ext>
                  </a:extLst>
                </a:gridCol>
              </a:tblGrid>
              <a:tr h="49015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Open Sauce" panose="020B0604020202020204" charset="0"/>
                        </a:rPr>
                        <a:t>TEST CASE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Open Sauce" panose="020B060402020202020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Open Sauce" panose="020B0604020202020204" charset="0"/>
                        </a:rPr>
                        <a:t>EXPECTED OUTPUT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Open Sauce" panose="020B0604020202020204" charset="0"/>
                        </a:rPr>
                        <a:t>RESULT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04850"/>
                  </a:ext>
                </a:extLst>
              </a:tr>
              <a:tr h="628955"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Open Sauce" panose="020B0604020202020204" charset="0"/>
                        </a:rPr>
                        <a:t>Valid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Car: 100 km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Correct emissions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Open Sauce" panose="020B0604020202020204" charset="0"/>
                        </a:rPr>
                        <a:t>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626530"/>
                  </a:ext>
                </a:extLst>
              </a:tr>
              <a:tr h="628955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Invalid Input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Car: "abc"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Error message shown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latin typeface="Open Sauce" panose="020B0604020202020204" charset="0"/>
                        </a:rPr>
                        <a:t>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419790"/>
                  </a:ext>
                </a:extLst>
              </a:tr>
              <a:tr h="628955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Zero Input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All: 0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Total emissions = 0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Open Sauce" panose="020B0604020202020204" charset="0"/>
                        </a:rPr>
                        <a:t>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821317"/>
                  </a:ext>
                </a:extLst>
              </a:tr>
              <a:tr h="490569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Large Emissions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Car: 10,000 km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Open Sauce" panose="020B0604020202020204" charset="0"/>
                        </a:rPr>
                        <a:t>AQI = 500 (max)</a:t>
                      </a:r>
                      <a:endParaRPr lang="en-US" sz="2000" b="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Open Sauce" panose="020B0604020202020204" charset="0"/>
                        </a:rPr>
                        <a:t>Passed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875277"/>
                  </a:ext>
                </a:extLst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10733081" y="1699332"/>
            <a:ext cx="3593662" cy="3489050"/>
            <a:chOff x="12523520" y="1748928"/>
            <a:chExt cx="3593662" cy="3489050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867" b="30070" l="9199" r="31857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523520" y="1748928"/>
              <a:ext cx="3578662" cy="3487214"/>
            </a:xfrm>
            <a:prstGeom prst="rect">
              <a:avLst/>
            </a:prstGeom>
          </p:spPr>
        </p:pic>
        <p:grpSp>
          <p:nvGrpSpPr>
            <p:cNvPr id="26" name="Group 25"/>
            <p:cNvGrpSpPr/>
            <p:nvPr/>
          </p:nvGrpSpPr>
          <p:grpSpPr>
            <a:xfrm>
              <a:off x="12534345" y="1749846"/>
              <a:ext cx="3582837" cy="3488132"/>
              <a:chOff x="10987751" y="876300"/>
              <a:chExt cx="3582837" cy="3488132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10991926" y="876300"/>
                <a:ext cx="3578662" cy="3488132"/>
                <a:chOff x="10991926" y="876300"/>
                <a:chExt cx="3578662" cy="3488132"/>
              </a:xfrm>
            </p:grpSpPr>
            <p:pic>
              <p:nvPicPr>
                <p:cNvPr id="21" name="Picture 20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96" b="82904" l="0" r="91248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91926" y="876300"/>
                  <a:ext cx="3578084" cy="3488132"/>
                </a:xfrm>
                <a:prstGeom prst="rect">
                  <a:avLst/>
                </a:prstGeom>
              </p:spPr>
            </p:pic>
            <p:pic>
              <p:nvPicPr>
                <p:cNvPr id="22" name="Picture 21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ackgroundRemoval t="80420" b="98427" l="5622" r="98467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91926" y="877218"/>
                  <a:ext cx="3578662" cy="3487214"/>
                </a:xfrm>
                <a:prstGeom prst="rect">
                  <a:avLst/>
                </a:prstGeom>
              </p:spPr>
            </p:pic>
          </p:grpSp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0" b="46329" l="0" r="43612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987751" y="876300"/>
                <a:ext cx="3578662" cy="3487214"/>
              </a:xfrm>
              <a:prstGeom prst="rect">
                <a:avLst/>
              </a:prstGeom>
            </p:spPr>
          </p:pic>
        </p:grpSp>
      </p:grpSp>
      <p:grpSp>
        <p:nvGrpSpPr>
          <p:cNvPr id="2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9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585788"/>
            <a:ext cx="10444401" cy="1538372"/>
            <a:chOff x="0" y="19050"/>
            <a:chExt cx="13925868" cy="205116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99694"/>
              <a:ext cx="518107" cy="470519"/>
              <a:chOff x="0" y="0"/>
              <a:chExt cx="89500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969" y="1599694"/>
              <a:ext cx="518107" cy="470519"/>
              <a:chOff x="0" y="0"/>
              <a:chExt cx="89500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2890" y="1599694"/>
              <a:ext cx="518107" cy="470519"/>
              <a:chOff x="0" y="0"/>
              <a:chExt cx="89500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19050"/>
              <a:ext cx="13925868" cy="1504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75"/>
                </a:lnSpc>
              </a:pPr>
              <a:r>
                <a:rPr lang="en-US" sz="7500" dirty="0" smtClean="0">
                  <a:solidFill>
                    <a:srgbClr val="711662"/>
                  </a:solidFill>
                  <a:latin typeface="Anton"/>
                  <a:ea typeface="Anton"/>
                  <a:cs typeface="Anton"/>
                  <a:sym typeface="Anton"/>
                </a:rPr>
                <a:t>ERROR HANDLING</a:t>
              </a:r>
              <a:endParaRPr lang="en-US" sz="7500" dirty="0">
                <a:solidFill>
                  <a:srgbClr val="71166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57200" y="-955050"/>
            <a:ext cx="17703350" cy="10861171"/>
            <a:chOff x="457200" y="-955050"/>
            <a:chExt cx="17703350" cy="10861171"/>
          </a:xfrm>
        </p:grpSpPr>
        <p:grpSp>
          <p:nvGrpSpPr>
            <p:cNvPr id="12" name="Group 11"/>
            <p:cNvGrpSpPr/>
            <p:nvPr/>
          </p:nvGrpSpPr>
          <p:grpSpPr>
            <a:xfrm>
              <a:off x="457200" y="2180929"/>
              <a:ext cx="17703350" cy="7725192"/>
              <a:chOff x="457200" y="2180929"/>
              <a:chExt cx="17703350" cy="7725192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57200" y="2180929"/>
                <a:ext cx="15392400" cy="77251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solidFill>
                      <a:srgbClr val="711662"/>
                    </a:solidFill>
                    <a:latin typeface="Open Sauce" panose="020B0604020202020204" charset="0"/>
                  </a:rPr>
                  <a:t>Importance of Error </a:t>
                </a:r>
                <a:r>
                  <a:rPr lang="en-US" sz="2800" b="1" dirty="0" smtClean="0">
                    <a:solidFill>
                      <a:srgbClr val="711662"/>
                    </a:solidFill>
                    <a:latin typeface="Open Sauce" panose="020B0604020202020204" charset="0"/>
                  </a:rPr>
                  <a:t>Handling </a:t>
                </a:r>
              </a:p>
              <a:p>
                <a:pPr marL="800100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Open Sauce" panose="020B0604020202020204" charset="0"/>
                  </a:rPr>
                  <a:t>Ensures </a:t>
                </a:r>
                <a:r>
                  <a:rPr lang="en-US" sz="2400" dirty="0">
                    <a:latin typeface="Open Sauce" panose="020B0604020202020204" charset="0"/>
                  </a:rPr>
                  <a:t>robust program functionality by preventing crashes or incorrect calculations</a:t>
                </a:r>
                <a:r>
                  <a:rPr lang="en-US" sz="2400" dirty="0" smtClean="0">
                    <a:latin typeface="Open Sauce" panose="020B0604020202020204" charset="0"/>
                  </a:rPr>
                  <a:t>.</a:t>
                </a:r>
              </a:p>
              <a:p>
                <a:pPr marL="800100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Open Sauce" panose="020B0604020202020204" charset="0"/>
                  </a:rPr>
                  <a:t>Improves </a:t>
                </a:r>
                <a:r>
                  <a:rPr lang="en-US" sz="2400" dirty="0">
                    <a:latin typeface="Open Sauce" panose="020B0604020202020204" charset="0"/>
                  </a:rPr>
                  <a:t>user experience by guiding users with clear feedback</a:t>
                </a:r>
                <a:r>
                  <a:rPr lang="en-US" sz="2400" dirty="0" smtClean="0">
                    <a:latin typeface="Open Sauce" panose="020B0604020202020204" charset="0"/>
                  </a:rPr>
                  <a:t>.</a:t>
                </a:r>
              </a:p>
              <a:p>
                <a:pPr marL="457200" indent="-45720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800" b="1" dirty="0" smtClean="0">
                    <a:solidFill>
                      <a:srgbClr val="711662"/>
                    </a:solidFill>
                    <a:latin typeface="Open Sauce" panose="020B0604020202020204" charset="0"/>
                  </a:rPr>
                  <a:t>Key </a:t>
                </a:r>
                <a:r>
                  <a:rPr lang="en-US" sz="2800" b="1" dirty="0">
                    <a:solidFill>
                      <a:srgbClr val="711662"/>
                    </a:solidFill>
                    <a:latin typeface="Open Sauce" panose="020B0604020202020204" charset="0"/>
                  </a:rPr>
                  <a:t>Error Handling </a:t>
                </a:r>
                <a:r>
                  <a:rPr lang="en-US" sz="2800" b="1" dirty="0" smtClean="0">
                    <a:solidFill>
                      <a:srgbClr val="711662"/>
                    </a:solidFill>
                    <a:latin typeface="Open Sauce" panose="020B0604020202020204" charset="0"/>
                  </a:rPr>
                  <a:t>Features</a:t>
                </a:r>
              </a:p>
              <a:p>
                <a:pPr marL="800100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Open Sauce" panose="020B0604020202020204" charset="0"/>
                  </a:rPr>
                  <a:t>Invalid </a:t>
                </a:r>
                <a:r>
                  <a:rPr lang="en-US" sz="2400" b="1" dirty="0">
                    <a:latin typeface="Open Sauce" panose="020B0604020202020204" charset="0"/>
                  </a:rPr>
                  <a:t>Input </a:t>
                </a:r>
                <a:r>
                  <a:rPr lang="en-US" sz="2400" b="1" dirty="0" smtClean="0">
                    <a:latin typeface="Open Sauce" panose="020B0604020202020204" charset="0"/>
                  </a:rPr>
                  <a:t>Detection:</a:t>
                </a:r>
              </a:p>
              <a:p>
                <a:pPr marL="1714500" lvl="3" indent="-342900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 smtClean="0">
                    <a:latin typeface="Open Sauce" panose="020B0604020202020204" charset="0"/>
                  </a:rPr>
                  <a:t>Uses </a:t>
                </a:r>
                <a:r>
                  <a:rPr lang="en-US" sz="2400" dirty="0">
                    <a:latin typeface="Open Sauce" panose="020B0604020202020204" charset="0"/>
                  </a:rPr>
                  <a:t>cin.fail() to check for non-numeric input</a:t>
                </a:r>
                <a:r>
                  <a:rPr lang="en-US" sz="2400" dirty="0" smtClean="0">
                    <a:latin typeface="Open Sauce" panose="020B0604020202020204" charset="0"/>
                  </a:rPr>
                  <a:t>.</a:t>
                </a:r>
              </a:p>
              <a:p>
                <a:pPr marL="1714500" lvl="3" indent="-342900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 smtClean="0">
                    <a:latin typeface="Open Sauce" panose="020B0604020202020204" charset="0"/>
                  </a:rPr>
                  <a:t>Provides </a:t>
                </a:r>
                <a:r>
                  <a:rPr lang="en-US" sz="2400" dirty="0">
                    <a:latin typeface="Open Sauce" panose="020B0604020202020204" charset="0"/>
                  </a:rPr>
                  <a:t>an error message: "Invalid input detected. Please enter numeric values only</a:t>
                </a:r>
                <a:r>
                  <a:rPr lang="en-US" sz="2400" dirty="0" smtClean="0">
                    <a:latin typeface="Open Sauce" panose="020B0604020202020204" charset="0"/>
                  </a:rPr>
                  <a:t>.“</a:t>
                </a:r>
              </a:p>
              <a:p>
                <a:pPr marL="800100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Open Sauce" panose="020B0604020202020204" charset="0"/>
                  </a:rPr>
                  <a:t>Negative </a:t>
                </a:r>
                <a:r>
                  <a:rPr lang="en-US" sz="2400" b="1" dirty="0">
                    <a:latin typeface="Open Sauce" panose="020B0604020202020204" charset="0"/>
                  </a:rPr>
                  <a:t>Input </a:t>
                </a:r>
                <a:r>
                  <a:rPr lang="en-US" sz="2400" b="1" dirty="0" smtClean="0">
                    <a:latin typeface="Open Sauce" panose="020B0604020202020204" charset="0"/>
                  </a:rPr>
                  <a:t>Handling: </a:t>
                </a:r>
                <a:r>
                  <a:rPr lang="en-US" sz="2400" dirty="0" smtClean="0">
                    <a:latin typeface="Open Sauce" panose="020B0604020202020204" charset="0"/>
                  </a:rPr>
                  <a:t>Ensures </a:t>
                </a:r>
                <a:r>
                  <a:rPr lang="en-US" sz="2400" dirty="0">
                    <a:latin typeface="Open Sauce" panose="020B0604020202020204" charset="0"/>
                  </a:rPr>
                  <a:t>users cannot input negative values</a:t>
                </a:r>
                <a:r>
                  <a:rPr lang="en-US" sz="2400" dirty="0" smtClean="0">
                    <a:latin typeface="Open Sauce" panose="020B0604020202020204" charset="0"/>
                  </a:rPr>
                  <a:t>.</a:t>
                </a:r>
              </a:p>
              <a:p>
                <a:pPr marL="800100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Open Sauce" panose="020B0604020202020204" charset="0"/>
                  </a:rPr>
                  <a:t>Displays </a:t>
                </a:r>
                <a:r>
                  <a:rPr lang="en-US" sz="2400" b="1" dirty="0">
                    <a:latin typeface="Open Sauce" panose="020B0604020202020204" charset="0"/>
                  </a:rPr>
                  <a:t>a warning: </a:t>
                </a:r>
                <a:r>
                  <a:rPr lang="en-US" sz="2400" dirty="0">
                    <a:latin typeface="Open Sauce" panose="020B0604020202020204" charset="0"/>
                  </a:rPr>
                  <a:t>"Input cannot be negative. Please enter a valid value</a:t>
                </a:r>
                <a:r>
                  <a:rPr lang="en-US" sz="2400" dirty="0" smtClean="0">
                    <a:latin typeface="Open Sauce" panose="020B0604020202020204" charset="0"/>
                  </a:rPr>
                  <a:t>.“</a:t>
                </a:r>
              </a:p>
              <a:p>
                <a:pPr marL="800100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Open Sauce" panose="020B0604020202020204" charset="0"/>
                  </a:rPr>
                  <a:t>Real-Time </a:t>
                </a:r>
                <a:r>
                  <a:rPr lang="en-US" sz="2400" b="1" dirty="0">
                    <a:latin typeface="Open Sauce" panose="020B0604020202020204" charset="0"/>
                  </a:rPr>
                  <a:t>Feedback</a:t>
                </a:r>
                <a:r>
                  <a:rPr lang="en-US" sz="2400" b="1" dirty="0" smtClean="0">
                    <a:latin typeface="Open Sauce" panose="020B0604020202020204" charset="0"/>
                  </a:rPr>
                  <a:t>: </a:t>
                </a:r>
                <a:r>
                  <a:rPr lang="en-US" sz="2400" dirty="0" smtClean="0">
                    <a:latin typeface="Open Sauce" panose="020B0604020202020204" charset="0"/>
                  </a:rPr>
                  <a:t>Progress </a:t>
                </a:r>
                <a:r>
                  <a:rPr lang="en-US" sz="2400" dirty="0">
                    <a:latin typeface="Open Sauce" panose="020B0604020202020204" charset="0"/>
                  </a:rPr>
                  <a:t>bar simulates input analysis while handling errors.</a:t>
                </a:r>
              </a:p>
            </p:txBody>
          </p:sp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77400" y="4686300"/>
                <a:ext cx="8464218" cy="20574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20600" y="7581900"/>
                <a:ext cx="5739950" cy="14478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  <p:grpSp>
          <p:nvGrpSpPr>
            <p:cNvPr id="22" name="Group 21"/>
            <p:cNvGrpSpPr/>
            <p:nvPr/>
          </p:nvGrpSpPr>
          <p:grpSpPr>
            <a:xfrm>
              <a:off x="6705600" y="-955050"/>
              <a:ext cx="6523127" cy="4620033"/>
              <a:chOff x="10596248" y="-13637"/>
              <a:chExt cx="4694327" cy="3177735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596248" y="-13637"/>
                <a:ext cx="4694327" cy="316409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47592" b="80347" l="37273" r="64286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596248" y="0"/>
                <a:ext cx="4694327" cy="3164098"/>
              </a:xfrm>
              <a:prstGeom prst="rect">
                <a:avLst/>
              </a:prstGeom>
            </p:spPr>
          </p:pic>
        </p:grpSp>
      </p:grpSp>
      <p:grpSp>
        <p:nvGrpSpPr>
          <p:cNvPr id="24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5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6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/>
          <p:cNvSpPr/>
          <p:nvPr/>
        </p:nvSpPr>
        <p:spPr>
          <a:xfrm rot="16200000">
            <a:off x="15373348" y="-57153"/>
            <a:ext cx="2857504" cy="297179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rgbClr val="711662"/>
              </a:gs>
              <a:gs pos="100000">
                <a:srgbClr val="711662"/>
              </a:gs>
              <a:gs pos="2000">
                <a:schemeClr val="bg1"/>
              </a:gs>
            </a:gsLst>
            <a:lin ang="5400000" scaled="1"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081665" y="0"/>
            <a:ext cx="6206335" cy="5143500"/>
          </a:xfrm>
          <a:custGeom>
            <a:avLst/>
            <a:gdLst/>
            <a:ahLst/>
            <a:cxnLst/>
            <a:rect l="l" t="t" r="r" b="b"/>
            <a:pathLst>
              <a:path w="6206335" h="5143500">
                <a:moveTo>
                  <a:pt x="6206335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206335" y="0"/>
                </a:lnTo>
                <a:lnTo>
                  <a:pt x="6206335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1"/>
          <p:cNvGrpSpPr/>
          <p:nvPr/>
        </p:nvGrpSpPr>
        <p:grpSpPr>
          <a:xfrm>
            <a:off x="322222" y="1093953"/>
            <a:ext cx="6253401" cy="1730185"/>
            <a:chOff x="322222" y="1093953"/>
            <a:chExt cx="6253401" cy="1730185"/>
          </a:xfrm>
        </p:grpSpPr>
        <p:grpSp>
          <p:nvGrpSpPr>
            <p:cNvPr id="3" name="Group 3"/>
            <p:cNvGrpSpPr/>
            <p:nvPr/>
          </p:nvGrpSpPr>
          <p:grpSpPr>
            <a:xfrm>
              <a:off x="681001" y="2471249"/>
              <a:ext cx="388580" cy="352889"/>
              <a:chOff x="0" y="0"/>
              <a:chExt cx="89500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32227" y="2471249"/>
              <a:ext cx="388580" cy="352889"/>
              <a:chOff x="0" y="0"/>
              <a:chExt cx="89500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78168" y="2471249"/>
              <a:ext cx="388580" cy="352889"/>
              <a:chOff x="0" y="0"/>
              <a:chExt cx="89500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22222" y="1093953"/>
              <a:ext cx="6253401" cy="11424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775"/>
                </a:lnSpc>
              </a:pPr>
              <a:r>
                <a:rPr lang="en-US" sz="88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VISUALIZATION</a:t>
              </a:r>
              <a:endParaRPr lang="en-US" sz="80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668788" y="2855311"/>
            <a:ext cx="8483781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711662"/>
                </a:solidFill>
                <a:latin typeface="Open Sauce" panose="020B0604020202020204" charset="0"/>
              </a:rPr>
              <a:t>Purpose of Visualization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Helps users identify which activities contribute the most to their carbon footprint.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Makes complex data (emissions) easy to understand and analyze through visuals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  <a:endParaRPr lang="en-US" sz="2800" b="1" dirty="0" smtClean="0">
              <a:solidFill>
                <a:srgbClr val="711662"/>
              </a:solidFill>
              <a:latin typeface="Open Sauce" panose="020B0604020202020204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Bar </a:t>
            </a:r>
            <a:r>
              <a:rPr lang="en-US" sz="2800" b="1" dirty="0">
                <a:solidFill>
                  <a:srgbClr val="711662"/>
                </a:solidFill>
                <a:latin typeface="Open Sauce" panose="020B0604020202020204" charset="0"/>
              </a:rPr>
              <a:t>Chart </a:t>
            </a:r>
            <a:r>
              <a:rPr 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Feature: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uce" panose="020B0604020202020204" charset="0"/>
              </a:rPr>
              <a:t>Displays </a:t>
            </a:r>
            <a:r>
              <a:rPr lang="en-US" sz="2400" dirty="0">
                <a:latin typeface="Open Sauce" panose="020B0604020202020204" charset="0"/>
              </a:rPr>
              <a:t>activity-specific emissions as proportional bars</a:t>
            </a:r>
            <a:r>
              <a:rPr lang="en-US" sz="2400" dirty="0" smtClean="0">
                <a:latin typeface="Open Sauce" panose="020B0604020202020204" charset="0"/>
              </a:rPr>
              <a:t>. Helps </a:t>
            </a:r>
            <a:r>
              <a:rPr lang="en-US" sz="2400" dirty="0">
                <a:latin typeface="Open Sauce" panose="020B0604020202020204" charset="0"/>
              </a:rPr>
              <a:t>users identify high-emission activities.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4838700"/>
            <a:ext cx="9806214" cy="3581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5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6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9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585788"/>
            <a:ext cx="15392400" cy="1538372"/>
            <a:chOff x="0" y="19050"/>
            <a:chExt cx="20523200" cy="205116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99694"/>
              <a:ext cx="518107" cy="470519"/>
              <a:chOff x="0" y="0"/>
              <a:chExt cx="895007" cy="812800"/>
            </a:xfrm>
          </p:grpSpPr>
          <p:sp>
            <p:nvSpPr>
              <p:cNvPr id="11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2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" name="Group 6"/>
            <p:cNvGrpSpPr/>
            <p:nvPr/>
          </p:nvGrpSpPr>
          <p:grpSpPr>
            <a:xfrm>
              <a:off x="734969" y="1599694"/>
              <a:ext cx="518107" cy="470519"/>
              <a:chOff x="0" y="0"/>
              <a:chExt cx="895007" cy="812800"/>
            </a:xfrm>
          </p:grpSpPr>
          <p:sp>
            <p:nvSpPr>
              <p:cNvPr id="9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0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/>
            <p:cNvGrpSpPr/>
            <p:nvPr/>
          </p:nvGrpSpPr>
          <p:grpSpPr>
            <a:xfrm>
              <a:off x="1462890" y="1599694"/>
              <a:ext cx="518107" cy="470519"/>
              <a:chOff x="0" y="0"/>
              <a:chExt cx="895007" cy="812800"/>
            </a:xfrm>
          </p:grpSpPr>
          <p:sp>
            <p:nvSpPr>
              <p:cNvPr id="7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3"/>
            <p:cNvSpPr txBox="1"/>
            <p:nvPr/>
          </p:nvSpPr>
          <p:spPr>
            <a:xfrm>
              <a:off x="0" y="19050"/>
              <a:ext cx="20523200" cy="15046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775"/>
                </a:lnSpc>
              </a:pPr>
              <a:r>
                <a:rPr lang="en-US" sz="8000" dirty="0" smtClean="0">
                  <a:solidFill>
                    <a:srgbClr val="711662"/>
                  </a:solidFill>
                  <a:latin typeface="Anton" panose="020B0604020202020204" charset="0"/>
                </a:rPr>
                <a:t>CARBON DEGRADATION SUGGESTIONS</a:t>
              </a:r>
              <a:endParaRPr lang="en-US" sz="8000" dirty="0">
                <a:solidFill>
                  <a:srgbClr val="711662"/>
                </a:solidFill>
                <a:latin typeface="Anton" panose="020B0604020202020204" charset="0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4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5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457200" y="2181129"/>
            <a:ext cx="17530761" cy="8263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Purpose</a:t>
            </a:r>
            <a:endParaRPr lang="en-US" altLang="en-US" sz="2800" b="1" dirty="0">
              <a:solidFill>
                <a:srgbClr val="711662"/>
              </a:solidFill>
              <a:latin typeface="Open Sauce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Open Sauce" panose="020B0604020202020204" charset="0"/>
              </a:rPr>
              <a:t>Provide actionable steps to offset or degrade carbon emissions, encouraging users to adopt sustainable practices.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Key Suggestions from the Program: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Tree Planting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Open Sauce" panose="020B0604020202020204" charset="0"/>
              </a:rPr>
              <a:t>Recommends </a:t>
            </a:r>
            <a:r>
              <a:rPr lang="en-US" altLang="en-US" sz="2400" dirty="0">
                <a:latin typeface="Open Sauce" panose="020B0604020202020204" charset="0"/>
              </a:rPr>
              <a:t>the number of trees required to offset total emissions (e.g., 21 kg CO2 per tree annually).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Open Sauce" panose="020B0604020202020204" charset="0"/>
              </a:rPr>
              <a:t>Example: "Plant approximately X trees to offset your emissions."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Solar Panel </a:t>
            </a: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Installation</a:t>
            </a:r>
            <a:endParaRPr lang="en-US" altLang="en-US" sz="2400" b="1" dirty="0">
              <a:solidFill>
                <a:srgbClr val="711662"/>
              </a:solidFill>
              <a:latin typeface="Open Sauce" panose="020B0604020202020204" charset="0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Open Sauce" panose="020B0604020202020204" charset="0"/>
              </a:rPr>
              <a:t>Calculates the number of solar panels needed to offset emissions (e.g., 500 kg CO2 per solar panel annually).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Open Sauce" panose="020B0604020202020204" charset="0"/>
              </a:rPr>
              <a:t>Example: "Install approximately Y solar panels to achieve carbon neutrality."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Switch to Renewable </a:t>
            </a: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Energy</a:t>
            </a:r>
            <a:endParaRPr lang="en-US" altLang="en-US" sz="2800" b="1" dirty="0">
              <a:solidFill>
                <a:srgbClr val="711662"/>
              </a:solidFill>
              <a:latin typeface="Open Sauce" panose="020B0604020202020204" charset="0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Open Sauce" panose="020B0604020202020204" charset="0"/>
              </a:rPr>
              <a:t>Suggests investing in renewable energy projects.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Lifestyle </a:t>
            </a:r>
            <a:r>
              <a:rPr lang="en-US" alt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Changes</a:t>
            </a:r>
            <a:endParaRPr lang="en-US" altLang="en-US" sz="2800" b="1" dirty="0">
              <a:solidFill>
                <a:srgbClr val="711662"/>
              </a:solidFill>
              <a:latin typeface="Open Sauce" panose="020B0604020202020204" charset="0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Open Sauce" panose="020B0604020202020204" charset="0"/>
              </a:rPr>
              <a:t>Tips like reducing car travel, using energy-efficient appliances, and adopting a plant-based diet.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7924799" y="-5"/>
            <a:ext cx="10779918" cy="9646688"/>
            <a:chOff x="7924799" y="-5"/>
            <a:chExt cx="10779918" cy="9646688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85938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494917" y="4827512"/>
              <a:ext cx="2209800" cy="220980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63600" y="6655833"/>
              <a:ext cx="2990850" cy="299085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78491" y="7134463"/>
              <a:ext cx="2512220" cy="251222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4799" y="3503442"/>
              <a:ext cx="9713989" cy="1106657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186599" y="-5"/>
              <a:ext cx="2735702" cy="27740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124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647700"/>
            <a:ext cx="13168032" cy="1538372"/>
            <a:chOff x="0" y="19051"/>
            <a:chExt cx="17557376" cy="205116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99694"/>
              <a:ext cx="518107" cy="470519"/>
              <a:chOff x="0" y="0"/>
              <a:chExt cx="89500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969" y="1599694"/>
              <a:ext cx="518107" cy="470519"/>
              <a:chOff x="0" y="0"/>
              <a:chExt cx="89500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2890" y="1599694"/>
              <a:ext cx="518107" cy="470519"/>
              <a:chOff x="0" y="0"/>
              <a:chExt cx="89500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19051"/>
              <a:ext cx="17557376" cy="1504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775"/>
                </a:lnSpc>
              </a:pPr>
              <a:r>
                <a:rPr lang="en-US" sz="8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CHALLENGES AND LIMITATIONS</a:t>
              </a:r>
              <a:r>
                <a:rPr lang="en-US" sz="8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ea typeface="Anton"/>
                  <a:cs typeface="Anton"/>
                  <a:sym typeface="Anton"/>
                </a:rPr>
                <a:t> </a:t>
              </a:r>
              <a:endParaRPr lang="en-US" sz="80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33400" y="2128744"/>
            <a:ext cx="9144000" cy="77867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Challenges: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Handling invalid and negative inputs.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Ensuring realistic AQI scaling.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Visualizing emissions proportionally in bar charts.</a:t>
            </a:r>
          </a:p>
          <a:p>
            <a:pPr marL="457200" lvl="0" indent="-4572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rgbClr val="711662"/>
                </a:solidFill>
                <a:latin typeface="Open Sauce" panose="020B0604020202020204" charset="0"/>
              </a:rPr>
              <a:t>Limitations: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Fixed emission factors may not cover all scenarios.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No real-time data integration (e.g., sensors).</a:t>
            </a:r>
          </a:p>
          <a:p>
            <a:pPr marL="800100" lvl="1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uce" panose="020B0604020202020204" charset="0"/>
              </a:rPr>
              <a:t>Dependency on accurate user input.</a:t>
            </a:r>
          </a:p>
        </p:txBody>
      </p:sp>
      <p:grpSp>
        <p:nvGrpSpPr>
          <p:cNvPr id="14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5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2400300"/>
            <a:ext cx="8426889" cy="47388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533400" y="2380816"/>
            <a:ext cx="11453648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Open Sauce" panose="020B0604020202020204" charset="0"/>
              </a:rPr>
              <a:t>Developed a user-friendly tool for calculating and analyzing carbon emissions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Open Sauce" panose="020B0604020202020204" charset="0"/>
              </a:rPr>
              <a:t>Provides </a:t>
            </a:r>
            <a:r>
              <a:rPr lang="en-US" sz="2400" dirty="0">
                <a:latin typeface="Open Sauce" panose="020B0604020202020204" charset="0"/>
              </a:rPr>
              <a:t>actionable insights and encourages sustainable practices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Open Sauce" panose="020B0604020202020204" charset="0"/>
              </a:rPr>
              <a:t>Successfully </a:t>
            </a:r>
            <a:r>
              <a:rPr lang="en-US" sz="2400" dirty="0">
                <a:latin typeface="Open Sauce" panose="020B0604020202020204" charset="0"/>
              </a:rPr>
              <a:t>tested with all core functionalities working as expected</a:t>
            </a:r>
            <a:r>
              <a:rPr lang="en-US" sz="2400" dirty="0" smtClean="0">
                <a:latin typeface="Open Sauce" panose="020B0604020202020204" charset="0"/>
              </a:rPr>
              <a:t>.</a:t>
            </a:r>
            <a:endParaRPr lang="en-US" altLang="en-US" sz="2400" dirty="0">
              <a:latin typeface="Open Sauce" panose="020B0604020202020204" charset="0"/>
            </a:endParaRP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Open Sauce" panose="020B0604020202020204" charset="0"/>
              </a:rPr>
              <a:t>The </a:t>
            </a:r>
            <a:r>
              <a:rPr lang="en-US" altLang="en-US" sz="2400" b="1" dirty="0">
                <a:latin typeface="Open Sauce" panose="020B0604020202020204" charset="0"/>
              </a:rPr>
              <a:t>Climate Change Impact Calculator</a:t>
            </a:r>
            <a:r>
              <a:rPr lang="en-US" altLang="en-US" sz="2400" dirty="0">
                <a:latin typeface="Open Sauce" panose="020B0604020202020204" charset="0"/>
              </a:rPr>
              <a:t> provides a comprehensive and interactive tool for assessing individual carbon footprints.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Open Sauce" panose="020B0604020202020204" charset="0"/>
              </a:rPr>
              <a:t>It combines accurate calculations, user-friendly visualizations, and actionable insights to promote environmental awareness. </a:t>
            </a:r>
          </a:p>
          <a:p>
            <a:endParaRPr lang="en-US" sz="2400" dirty="0">
              <a:latin typeface="Open Sauce" panose="020B0604020202020204" charset="0"/>
            </a:endParaRPr>
          </a:p>
        </p:txBody>
      </p:sp>
      <p:sp>
        <p:nvSpPr>
          <p:cNvPr id="27" name="Freeform 2"/>
          <p:cNvSpPr/>
          <p:nvPr/>
        </p:nvSpPr>
        <p:spPr>
          <a:xfrm flipH="1" flipV="1">
            <a:off x="13335000" y="0"/>
            <a:ext cx="4953000" cy="4381500"/>
          </a:xfrm>
          <a:custGeom>
            <a:avLst/>
            <a:gdLst/>
            <a:ahLst/>
            <a:cxnLst/>
            <a:rect l="l" t="t" r="r" b="b"/>
            <a:pathLst>
              <a:path w="6815416" h="5648276">
                <a:moveTo>
                  <a:pt x="6815416" y="5648276"/>
                </a:moveTo>
                <a:lnTo>
                  <a:pt x="0" y="5648276"/>
                </a:lnTo>
                <a:lnTo>
                  <a:pt x="0" y="0"/>
                </a:lnTo>
                <a:lnTo>
                  <a:pt x="6815416" y="0"/>
                </a:lnTo>
                <a:lnTo>
                  <a:pt x="6815416" y="5648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74076" y="419100"/>
            <a:ext cx="8115300" cy="1814664"/>
            <a:chOff x="-236447" y="-171449"/>
            <a:chExt cx="10820400" cy="241955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777584"/>
              <a:ext cx="470519" cy="470519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dirty="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667461" y="1777584"/>
              <a:ext cx="470519" cy="470519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328523" y="1777584"/>
              <a:ext cx="470519" cy="470519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n-US" dirty="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-236447" y="-171449"/>
              <a:ext cx="10820400" cy="1972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20"/>
                </a:lnSpc>
              </a:pPr>
              <a:r>
                <a:rPr lang="en-US" sz="8800" dirty="0" smtClean="0">
                  <a:solidFill>
                    <a:srgbClr val="711662"/>
                  </a:solidFill>
                  <a:latin typeface="Anton"/>
                  <a:ea typeface="Anton"/>
                  <a:cs typeface="Anton"/>
                  <a:sym typeface="Anton"/>
                </a:rPr>
                <a:t>CONCLUSION</a:t>
              </a:r>
              <a:endParaRPr lang="en-US" sz="8800" dirty="0">
                <a:solidFill>
                  <a:srgbClr val="71166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2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9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0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1282391" y="1187540"/>
            <a:ext cx="5525890" cy="9414697"/>
            <a:chOff x="11282391" y="1187540"/>
            <a:chExt cx="5525890" cy="9414697"/>
          </a:xfrm>
        </p:grpSpPr>
        <p:grpSp>
          <p:nvGrpSpPr>
            <p:cNvPr id="64" name="Group 63"/>
            <p:cNvGrpSpPr/>
            <p:nvPr/>
          </p:nvGrpSpPr>
          <p:grpSpPr>
            <a:xfrm>
              <a:off x="11282391" y="1187540"/>
              <a:ext cx="5525890" cy="4648200"/>
              <a:chOff x="11121877" y="342506"/>
              <a:chExt cx="5525890" cy="4648200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67449" b="82347" l="76786" r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121877" y="459156"/>
                <a:ext cx="5425987" cy="4521656"/>
              </a:xfrm>
              <a:prstGeom prst="rect">
                <a:avLst/>
              </a:prstGeom>
            </p:spPr>
          </p:pic>
          <p:grpSp>
            <p:nvGrpSpPr>
              <p:cNvPr id="63" name="Group 62"/>
              <p:cNvGrpSpPr/>
              <p:nvPr/>
            </p:nvGrpSpPr>
            <p:grpSpPr>
              <a:xfrm>
                <a:off x="11124826" y="342506"/>
                <a:ext cx="5522941" cy="4648200"/>
                <a:chOff x="11112771" y="334926"/>
                <a:chExt cx="5522941" cy="4648200"/>
              </a:xfrm>
            </p:grpSpPr>
            <p:pic>
              <p:nvPicPr>
                <p:cNvPr id="42" name="Picture 41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9973" b="89892" l="10000" r="25056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46233" y="444678"/>
                  <a:ext cx="5425910" cy="4523624"/>
                </a:xfrm>
                <a:prstGeom prst="rect">
                  <a:avLst/>
                </a:prstGeom>
              </p:spPr>
            </p:pic>
            <p:grpSp>
              <p:nvGrpSpPr>
                <p:cNvPr id="50" name="Group 49"/>
                <p:cNvGrpSpPr/>
                <p:nvPr/>
              </p:nvGrpSpPr>
              <p:grpSpPr>
                <a:xfrm>
                  <a:off x="11112771" y="334926"/>
                  <a:ext cx="5522941" cy="4648200"/>
                  <a:chOff x="16934525" y="-1077690"/>
                  <a:chExt cx="5522941" cy="4648200"/>
                </a:xfrm>
              </p:grpSpPr>
              <p:pic>
                <p:nvPicPr>
                  <p:cNvPr id="38" name="Picture 37"/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3827" r="94303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64977" y="-1077690"/>
                    <a:ext cx="5492489" cy="4577074"/>
                  </a:xfrm>
                  <a:prstGeom prst="rect">
                    <a:avLst/>
                  </a:prstGeom>
                </p:spPr>
              </p:pic>
              <p:pic>
                <p:nvPicPr>
                  <p:cNvPr id="43" name="Picture 42"/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838" b="89757" l="18090" r="36629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55356" y="-1001490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4" name="Picture 43"/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838" b="89757" l="30899" r="5382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55356" y="-1001490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5" name="Picture 44"/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838" b="89757" l="43708" r="6573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71066" y="-1001490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6" name="Picture 45"/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838" b="89757" l="57528" r="78764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71066" y="-1001490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7" name="Picture 46"/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838" b="89757" l="70562" r="85618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51711" y="-1001490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1" name="Picture 40"/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704" b="75472" l="10000" r="16629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55356" y="-953114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0" name="Picture 39"/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72642" b="79650" l="4045" r="20899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36895" y="-953114"/>
                    <a:ext cx="5425910" cy="4523624"/>
                  </a:xfrm>
                  <a:prstGeom prst="rect">
                    <a:avLst/>
                  </a:prstGeom>
                </p:spPr>
              </p:pic>
              <p:pic>
                <p:nvPicPr>
                  <p:cNvPr id="48" name="Picture 47"/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9838" b="89757" l="77978" r="91011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934525" y="-975864"/>
                    <a:ext cx="5425910" cy="4523624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37" name="Group 36"/>
            <p:cNvGrpSpPr/>
            <p:nvPr/>
          </p:nvGrpSpPr>
          <p:grpSpPr>
            <a:xfrm>
              <a:off x="11956518" y="5753095"/>
              <a:ext cx="4789733" cy="4849142"/>
              <a:chOff x="12866510" y="2416174"/>
              <a:chExt cx="4789733" cy="4849142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backgroundRemoval t="4184" b="93776" l="5306" r="9602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868702" y="2425196"/>
                <a:ext cx="4710424" cy="4710424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17206" b="73092" l="34541" r="99871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931572" y="2416174"/>
                <a:ext cx="4712616" cy="4712616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21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31307" b="69858" l="32859" r="95343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943627" y="2424100"/>
                <a:ext cx="4712616" cy="4712616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22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26003" b="65977" l="30660" r="65459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866510" y="2425196"/>
                <a:ext cx="4712616" cy="4712616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23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52005" b="65977" l="77620" r="94955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891046" y="2552700"/>
                <a:ext cx="4712616" cy="4712616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674076" y="419100"/>
            <a:ext cx="8115300" cy="1814664"/>
            <a:chOff x="-236447" y="-171449"/>
            <a:chExt cx="10820400" cy="2419552"/>
          </a:xfrm>
        </p:grpSpPr>
        <p:grpSp>
          <p:nvGrpSpPr>
            <p:cNvPr id="3" name="Group 4"/>
            <p:cNvGrpSpPr/>
            <p:nvPr/>
          </p:nvGrpSpPr>
          <p:grpSpPr>
            <a:xfrm>
              <a:off x="0" y="1777584"/>
              <a:ext cx="470519" cy="470519"/>
              <a:chOff x="0" y="0"/>
              <a:chExt cx="812800" cy="812800"/>
            </a:xfrm>
          </p:grpSpPr>
          <p:sp>
            <p:nvSpPr>
              <p:cNvPr id="11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2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" name="Group 7"/>
            <p:cNvGrpSpPr/>
            <p:nvPr/>
          </p:nvGrpSpPr>
          <p:grpSpPr>
            <a:xfrm>
              <a:off x="667461" y="1777584"/>
              <a:ext cx="470519" cy="470519"/>
              <a:chOff x="0" y="0"/>
              <a:chExt cx="812800" cy="812800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0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10"/>
            <p:cNvGrpSpPr/>
            <p:nvPr/>
          </p:nvGrpSpPr>
          <p:grpSpPr>
            <a:xfrm>
              <a:off x="1328523" y="1777584"/>
              <a:ext cx="470519" cy="470519"/>
              <a:chOff x="0" y="0"/>
              <a:chExt cx="812800" cy="812800"/>
            </a:xfrm>
          </p:grpSpPr>
          <p:sp>
            <p:nvSpPr>
              <p:cNvPr id="7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3"/>
            <p:cNvSpPr txBox="1"/>
            <p:nvPr/>
          </p:nvSpPr>
          <p:spPr>
            <a:xfrm>
              <a:off x="-236447" y="-171449"/>
              <a:ext cx="10820400" cy="1972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20"/>
                </a:lnSpc>
              </a:pPr>
              <a:r>
                <a:rPr lang="en-US" sz="8800" dirty="0" smtClean="0">
                  <a:solidFill>
                    <a:srgbClr val="711662"/>
                  </a:solidFill>
                  <a:latin typeface="Anton"/>
                  <a:ea typeface="Anton"/>
                  <a:cs typeface="Anton"/>
                  <a:sym typeface="Anton"/>
                </a:rPr>
                <a:t>FUTURE WORK</a:t>
              </a:r>
              <a:endParaRPr lang="en-US" sz="8800" dirty="0">
                <a:solidFill>
                  <a:srgbClr val="71166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61671" y="2251191"/>
            <a:ext cx="10603524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711662"/>
                </a:solidFill>
                <a:latin typeface="Open Sauce" panose="020B0604020202020204" charset="0"/>
              </a:rPr>
              <a:t>Proposed </a:t>
            </a:r>
            <a:r>
              <a:rPr lang="en-US" sz="2800" b="1" dirty="0" smtClean="0">
                <a:solidFill>
                  <a:srgbClr val="711662"/>
                </a:solidFill>
                <a:latin typeface="Open Sauce" panose="020B0604020202020204" charset="0"/>
              </a:rPr>
              <a:t>Improvements</a:t>
            </a:r>
            <a:endParaRPr lang="en-US" sz="2800" b="1" dirty="0">
              <a:solidFill>
                <a:srgbClr val="711662"/>
              </a:solidFill>
              <a:latin typeface="Open Sauce" panose="020B0604020202020204" charset="0"/>
            </a:endParaRP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Integrate real-time data from IoT sensors.</a:t>
            </a: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Add advanced analytics like lifecycle emissions analysis.</a:t>
            </a: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Develop web and mobile versions for wider accessibility.</a:t>
            </a: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Allow customizable emission factors for greater accuracy.</a:t>
            </a:r>
          </a:p>
          <a:p>
            <a:pPr>
              <a:lnSpc>
                <a:spcPct val="300000"/>
              </a:lnSpc>
            </a:pPr>
            <a:endParaRPr lang="en-US" sz="2400" dirty="0">
              <a:latin typeface="Open Sauce" panose="020B060402020202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7116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0881048" y="755716"/>
            <a:ext cx="6637868" cy="8952302"/>
            <a:chOff x="10881048" y="755716"/>
            <a:chExt cx="6637868" cy="8952302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1048" y="755716"/>
              <a:ext cx="6637868" cy="37338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81048" y="5295900"/>
              <a:ext cx="6622316" cy="441211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  <p:extLst>
      <p:ext uri="{BB962C8B-B14F-4D97-AF65-F5344CB8AC3E}">
        <p14:creationId xmlns:p14="http://schemas.microsoft.com/office/powerpoint/2010/main" val="201964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75947" y="4790611"/>
            <a:ext cx="6336127" cy="352889"/>
            <a:chOff x="0" y="0"/>
            <a:chExt cx="8448169" cy="470519"/>
          </a:xfrm>
        </p:grpSpPr>
        <p:sp>
          <p:nvSpPr>
            <p:cNvPr id="3" name="AutoShape 3"/>
            <p:cNvSpPr/>
            <p:nvPr/>
          </p:nvSpPr>
          <p:spPr>
            <a:xfrm>
              <a:off x="155294" y="235259"/>
              <a:ext cx="8292875" cy="0"/>
            </a:xfrm>
            <a:prstGeom prst="line">
              <a:avLst/>
            </a:prstGeom>
            <a:ln w="101600" cap="flat">
              <a:gradFill>
                <a:gsLst>
                  <a:gs pos="0">
                    <a:srgbClr val="D63DA0">
                      <a:alpha val="100000"/>
                    </a:srgbClr>
                  </a:gs>
                  <a:gs pos="5000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470519" cy="470519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6649128" y="0"/>
              <a:ext cx="470519" cy="470519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63DA0">
                      <a:alpha val="100000"/>
                    </a:srgbClr>
                  </a:gs>
                  <a:gs pos="100000">
                    <a:srgbClr val="00162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67461" y="0"/>
              <a:ext cx="470519" cy="470519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7316589" y="0"/>
              <a:ext cx="470519" cy="47051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63DA0">
                      <a:alpha val="100000"/>
                    </a:srgbClr>
                  </a:gs>
                  <a:gs pos="100000">
                    <a:srgbClr val="00162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328523" y="0"/>
              <a:ext cx="470519" cy="47051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977650" y="0"/>
              <a:ext cx="470519" cy="47051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63DA0">
                      <a:alpha val="100000"/>
                    </a:srgbClr>
                  </a:gs>
                  <a:gs pos="100000">
                    <a:srgbClr val="00162E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 rot="-5400000">
            <a:off x="12521989" y="5005105"/>
            <a:ext cx="4064413" cy="5410200"/>
          </a:xfrm>
          <a:custGeom>
            <a:avLst/>
            <a:gdLst/>
            <a:ahLst/>
            <a:cxnLst/>
            <a:rect l="l" t="t" r="r" b="b"/>
            <a:pathLst>
              <a:path w="4064413" h="5410200">
                <a:moveTo>
                  <a:pt x="0" y="0"/>
                </a:moveTo>
                <a:lnTo>
                  <a:pt x="4064412" y="0"/>
                </a:lnTo>
                <a:lnTo>
                  <a:pt x="4064412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400000">
            <a:off x="7111797" y="5005105"/>
            <a:ext cx="4064413" cy="5410200"/>
          </a:xfrm>
          <a:custGeom>
            <a:avLst/>
            <a:gdLst/>
            <a:ahLst/>
            <a:cxnLst/>
            <a:rect l="l" t="t" r="r" b="b"/>
            <a:pathLst>
              <a:path w="4064413" h="5410200">
                <a:moveTo>
                  <a:pt x="0" y="0"/>
                </a:moveTo>
                <a:lnTo>
                  <a:pt x="4064412" y="0"/>
                </a:lnTo>
                <a:lnTo>
                  <a:pt x="4064412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5400000">
            <a:off x="1701607" y="5005105"/>
            <a:ext cx="4064413" cy="5410200"/>
          </a:xfrm>
          <a:custGeom>
            <a:avLst/>
            <a:gdLst/>
            <a:ahLst/>
            <a:cxnLst/>
            <a:rect l="l" t="t" r="r" b="b"/>
            <a:pathLst>
              <a:path w="4064413" h="5410200">
                <a:moveTo>
                  <a:pt x="0" y="0"/>
                </a:moveTo>
                <a:lnTo>
                  <a:pt x="4064412" y="0"/>
                </a:lnTo>
                <a:lnTo>
                  <a:pt x="4064412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5086360" y="2833246"/>
            <a:ext cx="8115300" cy="192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13"/>
              </a:lnSpc>
            </a:pPr>
            <a:r>
              <a:rPr lang="en-US" sz="11223" dirty="0">
                <a:solidFill>
                  <a:srgbClr val="711662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358062" y="5995567"/>
            <a:ext cx="15581540" cy="3430464"/>
            <a:chOff x="1358062" y="5995567"/>
            <a:chExt cx="15581540" cy="3430464"/>
          </a:xfrm>
        </p:grpSpPr>
        <p:grpSp>
          <p:nvGrpSpPr>
            <p:cNvPr id="26" name="Group 25"/>
            <p:cNvGrpSpPr/>
            <p:nvPr/>
          </p:nvGrpSpPr>
          <p:grpSpPr>
            <a:xfrm>
              <a:off x="1358062" y="6012412"/>
              <a:ext cx="15571892" cy="3413619"/>
              <a:chOff x="1358062" y="6012412"/>
              <a:chExt cx="15571892" cy="3413619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1358062" y="6012414"/>
                <a:ext cx="15571892" cy="3413617"/>
                <a:chOff x="1358062" y="6012414"/>
                <a:chExt cx="15571892" cy="3413617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1358062" y="6012414"/>
                  <a:ext cx="15571892" cy="3395582"/>
                  <a:chOff x="1358062" y="6012414"/>
                  <a:chExt cx="15571892" cy="3395582"/>
                </a:xfrm>
              </p:grpSpPr>
              <p:grpSp>
                <p:nvGrpSpPr>
                  <p:cNvPr id="23" name="Group 23"/>
                  <p:cNvGrpSpPr/>
                  <p:nvPr/>
                </p:nvGrpSpPr>
                <p:grpSpPr>
                  <a:xfrm rot="-5400000">
                    <a:off x="12856413" y="5334455"/>
                    <a:ext cx="3395582" cy="4751500"/>
                    <a:chOff x="0" y="0"/>
                    <a:chExt cx="1172399" cy="1640560"/>
                  </a:xfrm>
                </p:grpSpPr>
                <p:sp>
                  <p:nvSpPr>
                    <p:cNvPr id="24" name="Freeform 24"/>
                    <p:cNvSpPr/>
                    <p:nvPr/>
                  </p:nvSpPr>
                  <p:spPr>
                    <a:xfrm>
                      <a:off x="0" y="0"/>
                      <a:ext cx="1172399" cy="16405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2399" h="1640560">
                          <a:moveTo>
                            <a:pt x="84360" y="0"/>
                          </a:moveTo>
                          <a:lnTo>
                            <a:pt x="1088040" y="0"/>
                          </a:lnTo>
                          <a:cubicBezTo>
                            <a:pt x="1134630" y="0"/>
                            <a:pt x="1172399" y="37769"/>
                            <a:pt x="1172399" y="84360"/>
                          </a:cubicBezTo>
                          <a:lnTo>
                            <a:pt x="1172399" y="1556200"/>
                          </a:lnTo>
                          <a:cubicBezTo>
                            <a:pt x="1172399" y="1602791"/>
                            <a:pt x="1134630" y="1640560"/>
                            <a:pt x="1088040" y="1640560"/>
                          </a:cubicBezTo>
                          <a:lnTo>
                            <a:pt x="84360" y="1640560"/>
                          </a:lnTo>
                          <a:cubicBezTo>
                            <a:pt x="37769" y="1640560"/>
                            <a:pt x="0" y="1602791"/>
                            <a:pt x="0" y="1556200"/>
                          </a:cubicBezTo>
                          <a:lnTo>
                            <a:pt x="0" y="84360"/>
                          </a:lnTo>
                          <a:cubicBezTo>
                            <a:pt x="0" y="37769"/>
                            <a:pt x="37769" y="0"/>
                            <a:pt x="8436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162E">
                            <a:alpha val="100000"/>
                          </a:srgbClr>
                        </a:gs>
                        <a:gs pos="100000">
                          <a:srgbClr val="D63DA0">
                            <a:alpha val="100000"/>
                          </a:srgbClr>
                        </a:gs>
                      </a:gsLst>
                      <a:lin ang="5400000"/>
                    </a:gradFill>
                  </p:spPr>
                </p:sp>
                <p:sp>
                  <p:nvSpPr>
                    <p:cNvPr id="25" name="TextBox 25"/>
                    <p:cNvSpPr txBox="1"/>
                    <p:nvPr/>
                  </p:nvSpPr>
                  <p:spPr>
                    <a:xfrm>
                      <a:off x="0" y="-38100"/>
                      <a:ext cx="1172399" cy="1678660"/>
                    </a:xfrm>
                    <a:prstGeom prst="rect">
                      <a:avLst/>
                    </a:prstGeom>
                  </p:spPr>
                  <p:txBody>
                    <a:bodyPr lIns="51581" tIns="51581" rIns="51581" bIns="51581" rtlCol="0" anchor="ctr"/>
                    <a:lstStyle/>
                    <a:p>
                      <a:pPr algn="ctr">
                        <a:lnSpc>
                          <a:spcPts val="2659"/>
                        </a:lnSpc>
                      </a:pPr>
                      <a:endParaRPr/>
                    </a:p>
                  </p:txBody>
                </p:sp>
              </p:grpSp>
              <p:grpSp>
                <p:nvGrpSpPr>
                  <p:cNvPr id="29" name="Group 29"/>
                  <p:cNvGrpSpPr/>
                  <p:nvPr/>
                </p:nvGrpSpPr>
                <p:grpSpPr>
                  <a:xfrm rot="-5400000">
                    <a:off x="7446202" y="5334455"/>
                    <a:ext cx="3395582" cy="4751500"/>
                    <a:chOff x="0" y="0"/>
                    <a:chExt cx="1172399" cy="1640560"/>
                  </a:xfrm>
                </p:grpSpPr>
                <p:sp>
                  <p:nvSpPr>
                    <p:cNvPr id="30" name="Freeform 30"/>
                    <p:cNvSpPr/>
                    <p:nvPr/>
                  </p:nvSpPr>
                  <p:spPr>
                    <a:xfrm>
                      <a:off x="0" y="0"/>
                      <a:ext cx="1172399" cy="16405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2399" h="1640560">
                          <a:moveTo>
                            <a:pt x="84360" y="0"/>
                          </a:moveTo>
                          <a:lnTo>
                            <a:pt x="1088040" y="0"/>
                          </a:lnTo>
                          <a:cubicBezTo>
                            <a:pt x="1134630" y="0"/>
                            <a:pt x="1172399" y="37769"/>
                            <a:pt x="1172399" y="84360"/>
                          </a:cubicBezTo>
                          <a:lnTo>
                            <a:pt x="1172399" y="1556200"/>
                          </a:lnTo>
                          <a:cubicBezTo>
                            <a:pt x="1172399" y="1602791"/>
                            <a:pt x="1134630" y="1640560"/>
                            <a:pt x="1088040" y="1640560"/>
                          </a:cubicBezTo>
                          <a:lnTo>
                            <a:pt x="84360" y="1640560"/>
                          </a:lnTo>
                          <a:cubicBezTo>
                            <a:pt x="37769" y="1640560"/>
                            <a:pt x="0" y="1602791"/>
                            <a:pt x="0" y="1556200"/>
                          </a:cubicBezTo>
                          <a:lnTo>
                            <a:pt x="0" y="84360"/>
                          </a:lnTo>
                          <a:cubicBezTo>
                            <a:pt x="0" y="37769"/>
                            <a:pt x="37769" y="0"/>
                            <a:pt x="8436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162E">
                            <a:alpha val="100000"/>
                          </a:srgbClr>
                        </a:gs>
                        <a:gs pos="100000">
                          <a:srgbClr val="D63DA0">
                            <a:alpha val="100000"/>
                          </a:srgbClr>
                        </a:gs>
                      </a:gsLst>
                      <a:lin ang="5400000"/>
                    </a:gradFill>
                  </p:spPr>
                </p:sp>
                <p:sp>
                  <p:nvSpPr>
                    <p:cNvPr id="31" name="TextBox 31"/>
                    <p:cNvSpPr txBox="1"/>
                    <p:nvPr/>
                  </p:nvSpPr>
                  <p:spPr>
                    <a:xfrm>
                      <a:off x="0" y="-38100"/>
                      <a:ext cx="1172399" cy="1678660"/>
                    </a:xfrm>
                    <a:prstGeom prst="rect">
                      <a:avLst/>
                    </a:prstGeom>
                  </p:spPr>
                  <p:txBody>
                    <a:bodyPr lIns="51581" tIns="51581" rIns="51581" bIns="51581" rtlCol="0" anchor="ctr"/>
                    <a:lstStyle/>
                    <a:p>
                      <a:pPr algn="ctr">
                        <a:lnSpc>
                          <a:spcPts val="2659"/>
                        </a:lnSpc>
                      </a:pPr>
                      <a:endParaRPr/>
                    </a:p>
                  </p:txBody>
                </p:sp>
              </p:grpSp>
              <p:grpSp>
                <p:nvGrpSpPr>
                  <p:cNvPr id="35" name="Group 35"/>
                  <p:cNvGrpSpPr/>
                  <p:nvPr/>
                </p:nvGrpSpPr>
                <p:grpSpPr>
                  <a:xfrm rot="-5400000">
                    <a:off x="2036021" y="5334455"/>
                    <a:ext cx="3395582" cy="4751500"/>
                    <a:chOff x="0" y="0"/>
                    <a:chExt cx="1172399" cy="1640560"/>
                  </a:xfrm>
                </p:grpSpPr>
                <p:sp>
                  <p:nvSpPr>
                    <p:cNvPr id="36" name="Freeform 36"/>
                    <p:cNvSpPr/>
                    <p:nvPr/>
                  </p:nvSpPr>
                  <p:spPr>
                    <a:xfrm>
                      <a:off x="0" y="0"/>
                      <a:ext cx="1172399" cy="16405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2399" h="1640560">
                          <a:moveTo>
                            <a:pt x="84360" y="0"/>
                          </a:moveTo>
                          <a:lnTo>
                            <a:pt x="1088040" y="0"/>
                          </a:lnTo>
                          <a:cubicBezTo>
                            <a:pt x="1134630" y="0"/>
                            <a:pt x="1172399" y="37769"/>
                            <a:pt x="1172399" y="84360"/>
                          </a:cubicBezTo>
                          <a:lnTo>
                            <a:pt x="1172399" y="1556200"/>
                          </a:lnTo>
                          <a:cubicBezTo>
                            <a:pt x="1172399" y="1602791"/>
                            <a:pt x="1134630" y="1640560"/>
                            <a:pt x="1088040" y="1640560"/>
                          </a:cubicBezTo>
                          <a:lnTo>
                            <a:pt x="84360" y="1640560"/>
                          </a:lnTo>
                          <a:cubicBezTo>
                            <a:pt x="37769" y="1640560"/>
                            <a:pt x="0" y="1602791"/>
                            <a:pt x="0" y="1556200"/>
                          </a:cubicBezTo>
                          <a:lnTo>
                            <a:pt x="0" y="84360"/>
                          </a:lnTo>
                          <a:cubicBezTo>
                            <a:pt x="0" y="37769"/>
                            <a:pt x="37769" y="0"/>
                            <a:pt x="84360" y="0"/>
                          </a:cubicBez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162E">
                            <a:alpha val="100000"/>
                          </a:srgbClr>
                        </a:gs>
                        <a:gs pos="100000">
                          <a:srgbClr val="D63DA0">
                            <a:alpha val="100000"/>
                          </a:srgbClr>
                        </a:gs>
                      </a:gsLst>
                      <a:lin ang="5400000"/>
                    </a:gradFill>
                  </p:spPr>
                </p:sp>
                <p:sp>
                  <p:nvSpPr>
                    <p:cNvPr id="37" name="TextBox 37"/>
                    <p:cNvSpPr txBox="1"/>
                    <p:nvPr/>
                  </p:nvSpPr>
                  <p:spPr>
                    <a:xfrm>
                      <a:off x="0" y="-38100"/>
                      <a:ext cx="1172399" cy="1678660"/>
                    </a:xfrm>
                    <a:prstGeom prst="rect">
                      <a:avLst/>
                    </a:prstGeom>
                  </p:spPr>
                  <p:txBody>
                    <a:bodyPr lIns="51581" tIns="51581" rIns="51581" bIns="51581" rtlCol="0" anchor="ctr"/>
                    <a:lstStyle/>
                    <a:p>
                      <a:pPr algn="ctr">
                        <a:lnSpc>
                          <a:spcPts val="2659"/>
                        </a:lnSpc>
                      </a:pPr>
                      <a:endParaRPr/>
                    </a:p>
                  </p:txBody>
                </p:sp>
              </p:grpSp>
            </p:grpSp>
            <p:pic>
              <p:nvPicPr>
                <p:cNvPr id="41" name="Picture 40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58062" y="6030448"/>
                  <a:ext cx="4737951" cy="3395583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</p:grpSp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58239" y="6012412"/>
                <a:ext cx="4715516" cy="3395583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98294" y="5995567"/>
              <a:ext cx="4741308" cy="337754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860</Words>
  <Application>Microsoft Office PowerPoint</Application>
  <PresentationFormat>Custom</PresentationFormat>
  <Paragraphs>159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Wingdings</vt:lpstr>
      <vt:lpstr>Arial</vt:lpstr>
      <vt:lpstr>Courier New</vt:lpstr>
      <vt:lpstr>Canva Sans Bold</vt:lpstr>
      <vt:lpstr>Calibri</vt:lpstr>
      <vt:lpstr>Bahnschrift</vt:lpstr>
      <vt:lpstr>Open Sauce Bold</vt:lpstr>
      <vt:lpstr>Open Sauce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 Project Presentation</dc:title>
  <cp:lastModifiedBy>Wasif Ali</cp:lastModifiedBy>
  <cp:revision>86</cp:revision>
  <dcterms:created xsi:type="dcterms:W3CDTF">2006-08-16T00:00:00Z</dcterms:created>
  <dcterms:modified xsi:type="dcterms:W3CDTF">2024-12-29T19:21:40Z</dcterms:modified>
  <dc:identifier>DAGaju7Yv6s</dc:identifier>
</cp:coreProperties>
</file>