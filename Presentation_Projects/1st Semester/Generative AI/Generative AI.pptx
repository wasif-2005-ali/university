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63" r:id="rId4"/>
    <p:sldId id="267" r:id="rId5"/>
    <p:sldId id="269" r:id="rId6"/>
    <p:sldId id="270" r:id="rId7"/>
    <p:sldId id="265" r:id="rId8"/>
    <p:sldId id="264" r:id="rId9"/>
    <p:sldId id="268" r:id="rId10"/>
    <p:sldId id="272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8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CCFF"/>
    <a:srgbClr val="B278D2"/>
    <a:srgbClr val="9F9FD4"/>
    <a:srgbClr val="2B65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8" autoAdjust="0"/>
    <p:restoredTop sz="94637" autoAdjust="0"/>
  </p:normalViewPr>
  <p:slideViewPr>
    <p:cSldViewPr snapToGrid="0" showGuides="1">
      <p:cViewPr varScale="1">
        <p:scale>
          <a:sx n="67" d="100"/>
          <a:sy n="67" d="100"/>
        </p:scale>
        <p:origin x="864" y="60"/>
      </p:cViewPr>
      <p:guideLst>
        <p:guide orient="horz" pos="2160"/>
        <p:guide pos="388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773757-9425-459C-B43A-804F8E8A70E5}" type="datetimeFigureOut">
              <a:rPr lang="en-US" smtClean="0"/>
              <a:t>12/17/2024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656592-DF2E-4020-B388-98BDA5CA98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0769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656592-DF2E-4020-B388-98BDA5CA988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0289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656592-DF2E-4020-B388-98BDA5CA988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7952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656592-DF2E-4020-B388-98BDA5CA988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6936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3C2AA-274C-4A28-84CA-EFD01B47A21A}" type="datetimeFigureOut">
              <a:rPr lang="en-US" smtClean="0"/>
              <a:t>12/17/2024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1999A-E166-4EE2-A87E-9F07DBB948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8669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3C2AA-274C-4A28-84CA-EFD01B47A21A}" type="datetimeFigureOut">
              <a:rPr lang="en-US" smtClean="0"/>
              <a:t>12/17/2024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1999A-E166-4EE2-A87E-9F07DBB948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113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3C2AA-274C-4A28-84CA-EFD01B47A21A}" type="datetimeFigureOut">
              <a:rPr lang="en-US" smtClean="0"/>
              <a:t>12/17/2024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1999A-E166-4EE2-A87E-9F07DBB948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049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3C2AA-274C-4A28-84CA-EFD01B47A21A}" type="datetimeFigureOut">
              <a:rPr lang="en-US" smtClean="0"/>
              <a:t>12/17/2024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1999A-E166-4EE2-A87E-9F07DBB948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12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3C2AA-274C-4A28-84CA-EFD01B47A21A}" type="datetimeFigureOut">
              <a:rPr lang="en-US" smtClean="0"/>
              <a:t>12/17/2024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1999A-E166-4EE2-A87E-9F07DBB948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22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3C2AA-274C-4A28-84CA-EFD01B47A21A}" type="datetimeFigureOut">
              <a:rPr lang="en-US" smtClean="0"/>
              <a:t>12/17/2024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1999A-E166-4EE2-A87E-9F07DBB948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3076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3C2AA-274C-4A28-84CA-EFD01B47A21A}" type="datetimeFigureOut">
              <a:rPr lang="en-US" smtClean="0"/>
              <a:t>12/17/2024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1999A-E166-4EE2-A87E-9F07DBB948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4127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3C2AA-274C-4A28-84CA-EFD01B47A21A}" type="datetimeFigureOut">
              <a:rPr lang="en-US" smtClean="0"/>
              <a:t>12/17/2024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1999A-E166-4EE2-A87E-9F07DBB948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4784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3C2AA-274C-4A28-84CA-EFD01B47A21A}" type="datetimeFigureOut">
              <a:rPr lang="en-US" smtClean="0"/>
              <a:t>12/17/2024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1999A-E166-4EE2-A87E-9F07DBB948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5456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3C2AA-274C-4A28-84CA-EFD01B47A21A}" type="datetimeFigureOut">
              <a:rPr lang="en-US" smtClean="0"/>
              <a:t>12/17/2024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1999A-E166-4EE2-A87E-9F07DBB948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2870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3C2AA-274C-4A28-84CA-EFD01B47A21A}" type="datetimeFigureOut">
              <a:rPr lang="en-US" smtClean="0"/>
              <a:t>12/17/2024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1999A-E166-4EE2-A87E-9F07DBB948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474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bg1"/>
            </a:gs>
            <a:gs pos="39000">
              <a:schemeClr val="accent1">
                <a:lumMod val="45000"/>
                <a:lumOff val="55000"/>
              </a:schemeClr>
            </a:gs>
            <a:gs pos="0">
              <a:schemeClr val="accent1">
                <a:lumMod val="45000"/>
                <a:lumOff val="55000"/>
                <a:alpha val="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23C2AA-274C-4A28-84CA-EFD01B47A21A}" type="datetimeFigureOut">
              <a:rPr lang="en-US" smtClean="0"/>
              <a:t>12/17/2024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61999A-E166-4EE2-A87E-9F07DBB948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6887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7.png"/><Relationship Id="rId7" Type="http://schemas.openxmlformats.org/officeDocument/2006/relationships/image" Target="../media/image10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jpe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5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Diagonal Stripe 18"/>
          <p:cNvSpPr/>
          <p:nvPr/>
        </p:nvSpPr>
        <p:spPr>
          <a:xfrm rot="10800000">
            <a:off x="7188761" y="1844358"/>
            <a:ext cx="5267328" cy="5267328"/>
          </a:xfrm>
          <a:prstGeom prst="diagStripe">
            <a:avLst/>
          </a:prstGeom>
          <a:gradFill>
            <a:gsLst>
              <a:gs pos="0">
                <a:schemeClr val="accent1">
                  <a:alpha val="0"/>
                  <a:lumMod val="30000"/>
                  <a:lumOff val="7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AutoShape 2" descr="Artificial intelligence generated icon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-214320" y="370083"/>
            <a:ext cx="540067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PRESENTING</a:t>
            </a:r>
            <a:r>
              <a:rPr lang="en-US" sz="5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“</a:t>
            </a:r>
            <a:r>
              <a:rPr lang="en-US" sz="54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GENERATIVE</a:t>
            </a:r>
            <a:r>
              <a:rPr lang="en-US" sz="5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54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AI</a:t>
            </a:r>
            <a:r>
              <a:rPr lang="en-US" sz="5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”</a:t>
            </a:r>
            <a:endParaRPr lang="en-US" sz="54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25431" y="2524363"/>
            <a:ext cx="41783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Exploring How AI Creates New Content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-1122218" y="4724400"/>
            <a:ext cx="2958956" cy="3125472"/>
            <a:chOff x="-1122218" y="4724400"/>
            <a:chExt cx="2958956" cy="3125472"/>
          </a:xfrm>
        </p:grpSpPr>
        <p:sp>
          <p:nvSpPr>
            <p:cNvPr id="2" name="Rounded Rectangle 1"/>
            <p:cNvSpPr/>
            <p:nvPr/>
          </p:nvSpPr>
          <p:spPr>
            <a:xfrm>
              <a:off x="-1122218" y="4724400"/>
              <a:ext cx="2958956" cy="3125472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256146" y="4825080"/>
              <a:ext cx="1314449" cy="6606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 smtClean="0">
                  <a:solidFill>
                    <a:srgbClr val="00206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PRESENTED</a:t>
              </a:r>
            </a:p>
            <a:p>
              <a:pPr algn="ctr"/>
              <a:r>
                <a:rPr lang="en-US" b="1" dirty="0" smtClean="0">
                  <a:solidFill>
                    <a:srgbClr val="00206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BY:</a:t>
              </a:r>
              <a:endPara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292100" y="5352157"/>
              <a:ext cx="1544638" cy="12958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dirty="0" smtClean="0">
                  <a:solidFill>
                    <a:srgbClr val="002060"/>
                  </a:solidFill>
                </a:rPr>
                <a:t>WASIF ALI</a:t>
              </a:r>
            </a:p>
            <a:p>
              <a:pPr>
                <a:lnSpc>
                  <a:spcPct val="150000"/>
                </a:lnSpc>
              </a:pPr>
              <a:r>
                <a:rPr lang="en-US" dirty="0" smtClean="0">
                  <a:solidFill>
                    <a:srgbClr val="002060"/>
                  </a:solidFill>
                </a:rPr>
                <a:t>SAAD ALI</a:t>
              </a:r>
            </a:p>
            <a:p>
              <a:pPr>
                <a:lnSpc>
                  <a:spcPct val="150000"/>
                </a:lnSpc>
              </a:pPr>
              <a:r>
                <a:rPr lang="en-US" dirty="0" smtClean="0">
                  <a:solidFill>
                    <a:srgbClr val="002060"/>
                  </a:solidFill>
                </a:rPr>
                <a:t>MALIK UZAIR</a:t>
              </a:r>
              <a:endParaRPr lang="en-US" dirty="0">
                <a:solidFill>
                  <a:srgbClr val="002060"/>
                </a:solidFill>
              </a:endParaRPr>
            </a:p>
          </p:txBody>
        </p:sp>
      </p:grp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6520" y="1061506"/>
            <a:ext cx="8240429" cy="463631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glow rad="241300">
              <a:schemeClr val="accent5">
                <a:satMod val="175000"/>
                <a:alpha val="40000"/>
              </a:schemeClr>
            </a:glow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475140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139" y="-29011"/>
            <a:ext cx="1505843" cy="1536325"/>
          </a:xfrm>
          <a:prstGeom prst="rect">
            <a:avLst/>
          </a:prstGeom>
        </p:spPr>
      </p:pic>
      <p:sp>
        <p:nvSpPr>
          <p:cNvPr id="8" name="Regular Pentagon 7"/>
          <p:cNvSpPr/>
          <p:nvPr/>
        </p:nvSpPr>
        <p:spPr>
          <a:xfrm rot="20843576">
            <a:off x="5230631" y="-1442201"/>
            <a:ext cx="9095880" cy="9118428"/>
          </a:xfrm>
          <a:prstGeom prst="pentagon">
            <a:avLst/>
          </a:prstGeom>
          <a:solidFill>
            <a:schemeClr val="accent1">
              <a:alpha val="2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4187" y="76411"/>
            <a:ext cx="5610181" cy="3155728"/>
          </a:xfrm>
          <a:prstGeom prst="rect">
            <a:avLst/>
          </a:prstGeom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</p:pic>
      <p:pic>
        <p:nvPicPr>
          <p:cNvPr id="6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4"/>
          <a:srcRect l="-315" t="-12596" r="315" b="-13659"/>
          <a:stretch/>
        </p:blipFill>
        <p:spPr>
          <a:xfrm>
            <a:off x="6379899" y="2908973"/>
            <a:ext cx="5632170" cy="4216709"/>
          </a:xfrm>
          <a:prstGeom prst="rect">
            <a:avLst/>
          </a:prstGeom>
          <a:ln>
            <a:noFill/>
          </a:ln>
          <a:effectLst>
            <a:glow rad="228600">
              <a:schemeClr val="accent5">
                <a:satMod val="175000"/>
                <a:alpha val="40000"/>
              </a:schemeClr>
            </a:glow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extBox 6"/>
          <p:cNvSpPr txBox="1"/>
          <p:nvPr/>
        </p:nvSpPr>
        <p:spPr>
          <a:xfrm>
            <a:off x="542924" y="242883"/>
            <a:ext cx="520065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INTRODUCTION</a:t>
            </a:r>
            <a:endParaRPr lang="en-US" sz="4400" b="1" dirty="0">
              <a:solidFill>
                <a:schemeClr val="accent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87507" y="1232677"/>
            <a:ext cx="571148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Generative AI is a type of artificial intelligence that can create new content like text, images, music, and more by learning patterns from existing 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data.</a:t>
            </a:r>
          </a:p>
          <a:p>
            <a:pPr algn="just"/>
            <a:endParaRPr lang="en-US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algn="just"/>
            <a:endParaRPr lang="en-US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It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generates creative and unique outputs based on the instructions it receives.</a:t>
            </a:r>
          </a:p>
        </p:txBody>
      </p:sp>
      <p:sp>
        <p:nvSpPr>
          <p:cNvPr id="9" name="Regular Pentagon 8"/>
          <p:cNvSpPr/>
          <p:nvPr/>
        </p:nvSpPr>
        <p:spPr>
          <a:xfrm rot="6680199">
            <a:off x="-1590092" y="4069614"/>
            <a:ext cx="4331970" cy="4125686"/>
          </a:xfrm>
          <a:prstGeom prst="pentagon">
            <a:avLst/>
          </a:prstGeom>
          <a:solidFill>
            <a:schemeClr val="accent1">
              <a:alpha val="3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287507" y="3736718"/>
            <a:ext cx="50863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Key Features:</a:t>
            </a:r>
            <a:endParaRPr lang="en-US" altLang="en-US" dirty="0">
              <a:solidFill>
                <a:schemeClr val="accent1">
                  <a:lumMod val="75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2" name="Rectangle 2"/>
          <p:cNvSpPr>
            <a:spLocks noChangeArrowheads="1"/>
          </p:cNvSpPr>
          <p:nvPr/>
        </p:nvSpPr>
        <p:spPr bwMode="auto">
          <a:xfrm>
            <a:off x="287507" y="4369237"/>
            <a:ext cx="4259628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Learns from large datasets.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Generates creative and realistic outputs.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Mimics human-like creativity.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71455" y="6486528"/>
            <a:ext cx="742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1/8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814705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1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/>
      <p:bldP spid="9" grpId="0" animBg="1"/>
      <p:bldP spid="11" grpId="0"/>
      <p:bldP spid="1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15241" y="-29190"/>
            <a:ext cx="1505843" cy="1536325"/>
          </a:xfrm>
          <a:prstGeom prst="rect">
            <a:avLst/>
          </a:prstGeom>
        </p:spPr>
      </p:pic>
      <p:grpSp>
        <p:nvGrpSpPr>
          <p:cNvPr id="14" name="Group 13"/>
          <p:cNvGrpSpPr/>
          <p:nvPr/>
        </p:nvGrpSpPr>
        <p:grpSpPr>
          <a:xfrm>
            <a:off x="2836409" y="-2197587"/>
            <a:ext cx="10411268" cy="10606844"/>
            <a:chOff x="2898104" y="-2211306"/>
            <a:chExt cx="10411268" cy="10606844"/>
          </a:xfrm>
          <a:gradFill>
            <a:gsLst>
              <a:gs pos="0">
                <a:schemeClr val="accent1">
                  <a:alpha val="0"/>
                  <a:lumMod val="30000"/>
                  <a:lumOff val="7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effectLst/>
        </p:grpSpPr>
        <p:sp>
          <p:nvSpPr>
            <p:cNvPr id="15" name="Diagonal Stripe 14"/>
            <p:cNvSpPr/>
            <p:nvPr/>
          </p:nvSpPr>
          <p:spPr>
            <a:xfrm rot="10800000">
              <a:off x="2898104" y="-2211306"/>
              <a:ext cx="9775158" cy="9775158"/>
            </a:xfrm>
            <a:prstGeom prst="diagStrip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6" name="Diagonal Stripe 15"/>
            <p:cNvSpPr/>
            <p:nvPr/>
          </p:nvSpPr>
          <p:spPr>
            <a:xfrm rot="10800000">
              <a:off x="8042044" y="3128210"/>
              <a:ext cx="5267328" cy="5267328"/>
            </a:xfrm>
            <a:prstGeom prst="diagStrip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122227" y="279315"/>
            <a:ext cx="671028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How Generative AI Works?</a:t>
            </a:r>
            <a:endParaRPr lang="en-US" sz="4400" b="1" dirty="0">
              <a:solidFill>
                <a:schemeClr val="accent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55353" y="1379505"/>
            <a:ext cx="69615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dirty="0">
                <a:solidFill>
                  <a:schemeClr val="accent1">
                    <a:lumMod val="50000"/>
                  </a:schemeClr>
                </a:solidFill>
              </a:rPr>
              <a:t>Data Collection &amp; </a:t>
            </a:r>
            <a:r>
              <a:rPr lang="en-US" altLang="en-US" dirty="0" smtClean="0">
                <a:solidFill>
                  <a:schemeClr val="accent1">
                    <a:lumMod val="50000"/>
                  </a:schemeClr>
                </a:solidFill>
              </a:rPr>
              <a:t>Analysis</a:t>
            </a:r>
            <a:endParaRPr lang="en-US" alt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55352" y="1964028"/>
            <a:ext cx="68380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Learning 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Patterns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65091" y="2475121"/>
            <a:ext cx="6337052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Uses Powerful Models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: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0070C0"/>
                </a:solidFill>
              </a:rPr>
              <a:t> GPT</a:t>
            </a:r>
            <a:r>
              <a:rPr lang="en-US" dirty="0">
                <a:solidFill>
                  <a:srgbClr val="0070C0"/>
                </a:solidFill>
              </a:rPr>
              <a:t>, </a:t>
            </a:r>
            <a:r>
              <a:rPr lang="en-US" dirty="0" smtClean="0">
                <a:solidFill>
                  <a:srgbClr val="0070C0"/>
                </a:solidFill>
              </a:rPr>
              <a:t>BERT</a:t>
            </a:r>
            <a:endParaRPr lang="en-US" dirty="0">
              <a:solidFill>
                <a:srgbClr val="0070C0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0070C0"/>
                </a:solidFill>
              </a:rPr>
              <a:t> GANs , AKOOL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65091" y="3974108"/>
            <a:ext cx="3069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Generates New 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Outputs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0" y="5321675"/>
            <a:ext cx="1505843" cy="1536325"/>
          </a:xfrm>
          <a:prstGeom prst="rect">
            <a:avLst/>
          </a:prstGeom>
        </p:spPr>
      </p:pic>
      <p:grpSp>
        <p:nvGrpSpPr>
          <p:cNvPr id="2" name="Group 1"/>
          <p:cNvGrpSpPr/>
          <p:nvPr/>
        </p:nvGrpSpPr>
        <p:grpSpPr>
          <a:xfrm>
            <a:off x="7468626" y="71440"/>
            <a:ext cx="4727073" cy="6708845"/>
            <a:chOff x="7468626" y="0"/>
            <a:chExt cx="4727073" cy="6708845"/>
          </a:xfrm>
        </p:grpSpPr>
        <p:pic>
          <p:nvPicPr>
            <p:cNvPr id="18" name="Picture 1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468626" y="0"/>
              <a:ext cx="4723374" cy="2428875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19" name="Picture 18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68626" y="2139964"/>
              <a:ext cx="4727073" cy="4568881"/>
            </a:xfrm>
            <a:prstGeom prst="rect">
              <a:avLst/>
            </a:prstGeom>
            <a:effectLst>
              <a:glow>
                <a:schemeClr val="accent5">
                  <a:lumMod val="60000"/>
                  <a:lumOff val="40000"/>
                  <a:alpha val="40000"/>
                </a:schemeClr>
              </a:glow>
            </a:effectLst>
          </p:spPr>
        </p:pic>
      </p:grpSp>
      <p:grpSp>
        <p:nvGrpSpPr>
          <p:cNvPr id="3" name="Group 2"/>
          <p:cNvGrpSpPr/>
          <p:nvPr/>
        </p:nvGrpSpPr>
        <p:grpSpPr>
          <a:xfrm>
            <a:off x="165091" y="4877016"/>
            <a:ext cx="6730424" cy="369332"/>
            <a:chOff x="165091" y="4877016"/>
            <a:chExt cx="6730424" cy="369332"/>
          </a:xfrm>
        </p:grpSpPr>
        <p:sp>
          <p:nvSpPr>
            <p:cNvPr id="20" name="TextBox 19"/>
            <p:cNvSpPr txBox="1"/>
            <p:nvPr/>
          </p:nvSpPr>
          <p:spPr>
            <a:xfrm>
              <a:off x="165091" y="4877016"/>
              <a:ext cx="67304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solidFill>
                    <a:schemeClr val="accent1">
                      <a:lumMod val="50000"/>
                    </a:schemeClr>
                  </a:solidFill>
                </a:rPr>
                <a:t>Image showing </a:t>
              </a:r>
              <a:r>
                <a:rPr lang="en-US" dirty="0">
                  <a:solidFill>
                    <a:schemeClr val="accent1">
                      <a:lumMod val="50000"/>
                    </a:schemeClr>
                  </a:solidFill>
                </a:rPr>
                <a:t>how data leads to AI-generated content</a:t>
              </a:r>
              <a:r>
                <a:rPr lang="en-US" dirty="0" smtClean="0">
                  <a:solidFill>
                    <a:schemeClr val="accent1">
                      <a:lumMod val="50000"/>
                    </a:schemeClr>
                  </a:solidFill>
                </a:rPr>
                <a:t>. </a:t>
              </a:r>
              <a:endParaRPr lang="en-US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22" name="Right Arrow 21"/>
            <p:cNvSpPr/>
            <p:nvPr/>
          </p:nvSpPr>
          <p:spPr>
            <a:xfrm>
              <a:off x="5727864" y="4972175"/>
              <a:ext cx="492387" cy="179013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" name="TextBox 22"/>
          <p:cNvSpPr txBox="1"/>
          <p:nvPr/>
        </p:nvSpPr>
        <p:spPr>
          <a:xfrm>
            <a:off x="171455" y="6486528"/>
            <a:ext cx="742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2</a:t>
            </a:r>
            <a:r>
              <a:rPr lang="en-US" b="1" dirty="0" smtClean="0"/>
              <a:t>/8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403417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9" grpId="0"/>
      <p:bldP spid="1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chemeClr val="bg1"/>
            </a:gs>
            <a:gs pos="39000">
              <a:schemeClr val="accent1">
                <a:lumMod val="45000"/>
                <a:lumOff val="55000"/>
              </a:schemeClr>
            </a:gs>
            <a:gs pos="0">
              <a:schemeClr val="accent1">
                <a:lumMod val="45000"/>
                <a:lumOff val="55000"/>
                <a:alpha val="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sosceles Triangle 14"/>
          <p:cNvSpPr/>
          <p:nvPr/>
        </p:nvSpPr>
        <p:spPr>
          <a:xfrm rot="16200000">
            <a:off x="4607004" y="1774428"/>
            <a:ext cx="3836119" cy="1900239"/>
          </a:xfrm>
          <a:prstGeom prst="triangle">
            <a:avLst>
              <a:gd name="adj" fmla="val 39199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 rot="2379254">
            <a:off x="-3523990" y="1130749"/>
            <a:ext cx="4849420" cy="363791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4656" y="4008870"/>
            <a:ext cx="7476257" cy="27374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0" y="-27361"/>
            <a:ext cx="1505843" cy="153632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57567" y="131498"/>
            <a:ext cx="793812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Applications of Generative AI</a:t>
            </a: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264367" y="924978"/>
            <a:ext cx="6945761" cy="5687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b="1" dirty="0" smtClean="0">
                <a:solidFill>
                  <a:schemeClr val="accent1">
                    <a:lumMod val="75000"/>
                  </a:schemeClr>
                </a:solidFill>
              </a:rPr>
              <a:t>Text </a:t>
            </a:r>
            <a:r>
              <a:rPr lang="en-US" altLang="en-US" dirty="0" smtClean="0">
                <a:solidFill>
                  <a:schemeClr val="accent1">
                    <a:lumMod val="75000"/>
                  </a:schemeClr>
                </a:solidFill>
              </a:rPr>
              <a:t>(GPT , Black Box): </a:t>
            </a:r>
            <a:r>
              <a:rPr lang="en-US" altLang="en-US" dirty="0"/>
              <a:t>Writing stories, summaries, </a:t>
            </a:r>
            <a:r>
              <a:rPr lang="en-US" altLang="en-US" dirty="0" smtClean="0"/>
              <a:t>coding.</a:t>
            </a:r>
            <a:endParaRPr lang="en-US" altLang="en-US" dirty="0"/>
          </a:p>
        </p:txBody>
      </p:sp>
      <p:sp>
        <p:nvSpPr>
          <p:cNvPr id="14" name="AutoShape 9" descr="How to use Blackbox AI | What is Black box AI | Analytics Vidhy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7462481" y="54933"/>
            <a:ext cx="4716819" cy="6703776"/>
            <a:chOff x="7462481" y="54933"/>
            <a:chExt cx="4716819" cy="6703776"/>
          </a:xfrm>
        </p:grpSpPr>
        <p:grpSp>
          <p:nvGrpSpPr>
            <p:cNvPr id="17" name="Group 16"/>
            <p:cNvGrpSpPr/>
            <p:nvPr/>
          </p:nvGrpSpPr>
          <p:grpSpPr>
            <a:xfrm>
              <a:off x="7462482" y="3274880"/>
              <a:ext cx="4716818" cy="1355190"/>
              <a:chOff x="7475182" y="3592380"/>
              <a:chExt cx="4716818" cy="1355190"/>
            </a:xfrm>
          </p:grpSpPr>
          <p:pic>
            <p:nvPicPr>
              <p:cNvPr id="1031" name="Picture 7" descr="Power of Chat GPT - Biznct -"/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782775" y="3592381"/>
                <a:ext cx="2409225" cy="135518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6" name="Picture 15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475182" y="3592380"/>
                <a:ext cx="2410901" cy="1355190"/>
              </a:xfrm>
              <a:prstGeom prst="rect">
                <a:avLst/>
              </a:prstGeom>
            </p:spPr>
          </p:pic>
        </p:grpSp>
        <p:pic>
          <p:nvPicPr>
            <p:cNvPr id="1029" name="Picture 5" descr="ChatGPT Is Everywhere in This District. Here's What It Looks Like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62483" y="54933"/>
              <a:ext cx="4716817" cy="32006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17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462481" y="4642770"/>
              <a:ext cx="4716819" cy="2115939"/>
            </a:xfrm>
            <a:prstGeom prst="rect">
              <a:avLst/>
            </a:prstGeom>
          </p:spPr>
        </p:pic>
      </p:grpSp>
      <p:pic>
        <p:nvPicPr>
          <p:cNvPr id="21" name="Picture 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-15242" y="5981354"/>
            <a:ext cx="853012" cy="870279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8579" y="6486528"/>
            <a:ext cx="742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3/8</a:t>
            </a:r>
            <a:endParaRPr lang="en-US" b="1" dirty="0"/>
          </a:p>
        </p:txBody>
      </p:sp>
      <p:sp>
        <p:nvSpPr>
          <p:cNvPr id="3" name="TextBox 2"/>
          <p:cNvSpPr txBox="1"/>
          <p:nvPr/>
        </p:nvSpPr>
        <p:spPr>
          <a:xfrm>
            <a:off x="235791" y="1432211"/>
            <a:ext cx="67472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Images </a:t>
            </a:r>
            <a:r>
              <a:rPr lang="en-US" altLang="en-US" dirty="0">
                <a:solidFill>
                  <a:schemeClr val="accent1">
                    <a:lumMod val="75000"/>
                  </a:schemeClr>
                </a:solidFill>
              </a:rPr>
              <a:t>(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GANs , AKOOL)</a:t>
            </a:r>
            <a:r>
              <a:rPr lang="en-US" altLang="en-US" dirty="0">
                <a:solidFill>
                  <a:schemeClr val="accent1">
                    <a:lumMod val="75000"/>
                  </a:schemeClr>
                </a:solidFill>
              </a:rPr>
              <a:t>: </a:t>
            </a:r>
            <a:r>
              <a:rPr lang="en-US" altLang="en-US" dirty="0"/>
              <a:t>Art, product design, marketing materials.</a:t>
            </a:r>
          </a:p>
          <a:p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273626" y="1965961"/>
            <a:ext cx="68996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Music </a:t>
            </a:r>
            <a:r>
              <a:rPr lang="en-US" altLang="en-US" dirty="0">
                <a:solidFill>
                  <a:schemeClr val="accent1">
                    <a:lumMod val="75000"/>
                  </a:schemeClr>
                </a:solidFill>
              </a:rPr>
              <a:t>(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Beatoven , Brev)</a:t>
            </a:r>
            <a:r>
              <a:rPr lang="en-US" altLang="en-US" dirty="0">
                <a:solidFill>
                  <a:schemeClr val="accent1">
                    <a:lumMod val="75000"/>
                  </a:schemeClr>
                </a:solidFill>
              </a:rPr>
              <a:t>: </a:t>
            </a:r>
            <a:r>
              <a:rPr lang="en-US" altLang="en-US" dirty="0"/>
              <a:t>Composing tunes, soundscapes.</a:t>
            </a:r>
          </a:p>
          <a:p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35791" y="2516985"/>
            <a:ext cx="73060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Video </a:t>
            </a:r>
            <a:r>
              <a:rPr lang="en-US" altLang="en-US" dirty="0">
                <a:solidFill>
                  <a:schemeClr val="accent1">
                    <a:lumMod val="75000"/>
                  </a:schemeClr>
                </a:solidFill>
              </a:rPr>
              <a:t>(Canva , InVideo): </a:t>
            </a:r>
            <a:r>
              <a:rPr lang="en-US" altLang="en-US" dirty="0"/>
              <a:t>Animation, virtual environments.</a:t>
            </a:r>
          </a:p>
          <a:p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244745" y="3258420"/>
            <a:ext cx="64402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Other</a:t>
            </a:r>
            <a:r>
              <a:rPr lang="en-US" altLang="en-US" dirty="0">
                <a:solidFill>
                  <a:schemeClr val="accent1">
                    <a:lumMod val="75000"/>
                  </a:schemeClr>
                </a:solidFill>
              </a:rPr>
              <a:t>: </a:t>
            </a:r>
            <a:r>
              <a:rPr lang="en-US" altLang="en-US" dirty="0"/>
              <a:t>Data augmentation, personalized recommendations.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005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" grpId="0"/>
      <p:bldP spid="3" grpId="0"/>
      <p:bldP spid="6" grpId="0"/>
      <p:bldP spid="7" grpId="0"/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2836409" y="-2197587"/>
            <a:ext cx="10411268" cy="10606844"/>
            <a:chOff x="2898104" y="-2211306"/>
            <a:chExt cx="10411268" cy="10606844"/>
          </a:xfrm>
          <a:gradFill>
            <a:gsLst>
              <a:gs pos="0">
                <a:schemeClr val="accent1">
                  <a:alpha val="0"/>
                  <a:lumMod val="30000"/>
                  <a:lumOff val="7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effectLst/>
        </p:grpSpPr>
        <p:sp>
          <p:nvSpPr>
            <p:cNvPr id="11" name="Diagonal Stripe 10"/>
            <p:cNvSpPr/>
            <p:nvPr/>
          </p:nvSpPr>
          <p:spPr>
            <a:xfrm rot="10800000">
              <a:off x="2898104" y="-2211306"/>
              <a:ext cx="9775158" cy="9775158"/>
            </a:xfrm>
            <a:prstGeom prst="diagStrip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2" name="Diagonal Stripe 11"/>
            <p:cNvSpPr/>
            <p:nvPr/>
          </p:nvSpPr>
          <p:spPr>
            <a:xfrm rot="10800000">
              <a:off x="8042044" y="3128210"/>
              <a:ext cx="5267328" cy="5267328"/>
            </a:xfrm>
            <a:prstGeom prst="diagStrip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464" y="23349"/>
            <a:ext cx="5770986" cy="3254837"/>
          </a:xfrm>
          <a:prstGeom prst="rect">
            <a:avLst/>
          </a:prstGeom>
        </p:spPr>
      </p:pic>
      <p:grpSp>
        <p:nvGrpSpPr>
          <p:cNvPr id="9" name="Group 8"/>
          <p:cNvGrpSpPr/>
          <p:nvPr/>
        </p:nvGrpSpPr>
        <p:grpSpPr>
          <a:xfrm>
            <a:off x="6167438" y="558340"/>
            <a:ext cx="5955871" cy="5858153"/>
            <a:chOff x="6466101" y="0"/>
            <a:chExt cx="5657208" cy="4246627"/>
          </a:xfrm>
        </p:grpSpPr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466101" y="0"/>
              <a:ext cx="5657208" cy="1103086"/>
            </a:xfrm>
            <a:prstGeom prst="rect">
              <a:avLst/>
            </a:prstGeom>
          </p:spPr>
        </p:pic>
        <p:pic>
          <p:nvPicPr>
            <p:cNvPr id="8" name="invideo-ai-720 Mesmerizing Dolphins Swimming in the Oce 2024-12-15">
              <a:hlinkClick r:id="" action="ppaction://media"/>
            </p:cNvPr>
            <p:cNvPicPr>
              <a:picLocks noChangeAspect="1"/>
            </p:cNvPicPr>
            <p:nvPr>
              <a:videoFile r:link="rId2"/>
              <p:extLst>
                <p:ext uri="{DAA4B4D4-6D71-4841-9C94-3DE7FCFB9230}">
                  <p14:media xmlns:p14="http://schemas.microsoft.com/office/powerpoint/2010/main" r:embed="rId1"/>
                </p:ext>
              </p:extLst>
            </p:nvPr>
          </p:nvPicPr>
          <p:blipFill>
            <a:blip r:embed="rId6"/>
            <a:stretch>
              <a:fillRect/>
            </a:stretch>
          </p:blipFill>
          <p:spPr>
            <a:xfrm>
              <a:off x="6466101" y="1103086"/>
              <a:ext cx="5657208" cy="3143541"/>
            </a:xfrm>
            <a:prstGeom prst="rect">
              <a:avLst/>
            </a:prstGeom>
          </p:spPr>
        </p:pic>
      </p:grpSp>
      <p:pic>
        <p:nvPicPr>
          <p:cNvPr id="14" name="Picture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464" y="3421061"/>
            <a:ext cx="5770986" cy="339407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10800000">
            <a:off x="-15242" y="5981354"/>
            <a:ext cx="853012" cy="87027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8579" y="6486528"/>
            <a:ext cx="742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4</a:t>
            </a:r>
            <a:r>
              <a:rPr lang="en-US" b="1" dirty="0" smtClean="0"/>
              <a:t>/8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90960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0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 flipH="1" flipV="1">
            <a:off x="0" y="-42398"/>
            <a:ext cx="12192000" cy="687394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71455" y="6486528"/>
            <a:ext cx="742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5</a:t>
            </a:r>
            <a:r>
              <a:rPr lang="en-US" b="1" dirty="0" smtClean="0"/>
              <a:t>/8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410917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1684" y="156815"/>
            <a:ext cx="9447651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Challenges and </a:t>
            </a:r>
            <a:r>
              <a:rPr lang="en-US" sz="4000" b="1" dirty="0" smtClean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Limitations of </a:t>
            </a:r>
            <a:r>
              <a:rPr lang="en-US" sz="4000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Generative AI</a:t>
            </a:r>
          </a:p>
          <a:p>
            <a:endParaRPr lang="en-US" sz="4000" b="1" dirty="0"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09600" y="951880"/>
            <a:ext cx="5660571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Ethical </a:t>
            </a:r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</a:rPr>
              <a:t>Concerns</a:t>
            </a:r>
            <a:r>
              <a:rPr lang="en-US" dirty="0" smtClean="0"/>
              <a:t>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/>
              <a:t>Fake Information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/>
              <a:t>Copyright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2252203"/>
            <a:ext cx="2946400" cy="1295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Creativity and </a:t>
            </a:r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</a:rPr>
              <a:t>Originality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Not </a:t>
            </a:r>
            <a:r>
              <a:rPr lang="en-US" dirty="0" smtClean="0"/>
              <a:t>Innovating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Predictable Output</a:t>
            </a:r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09600" y="3562585"/>
            <a:ext cx="2757713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Privacy and </a:t>
            </a:r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</a:rPr>
              <a:t>Security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Privacy </a:t>
            </a:r>
            <a:r>
              <a:rPr lang="en-US" dirty="0" smtClean="0"/>
              <a:t>Risks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Security Threats</a:t>
            </a:r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09600" y="4857871"/>
            <a:ext cx="3773714" cy="1295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Resource </a:t>
            </a:r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</a:rPr>
              <a:t>Intensity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High </a:t>
            </a:r>
            <a:r>
              <a:rPr lang="en-US" dirty="0" smtClean="0"/>
              <a:t>Costs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Environmental Impact</a:t>
            </a:r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AutoShape 2" descr="Emerging cybersecurity trends in 2024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03911"/>
            <a:ext cx="6835005" cy="4488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71455" y="6486528"/>
            <a:ext cx="742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6</a:t>
            </a:r>
            <a:r>
              <a:rPr lang="en-US" b="1" dirty="0" smtClean="0"/>
              <a:t>/8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978397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" grpId="0"/>
      <p:bldP spid="5" grpId="0"/>
      <p:bldP spid="6" grpId="0"/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8328" y="374525"/>
            <a:ext cx="5643789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Future of Generative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8328" y="1291771"/>
            <a:ext cx="50764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Better </a:t>
            </a:r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</a:rPr>
              <a:t>Creativity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More Creative </a:t>
            </a:r>
            <a:r>
              <a:rPr lang="en-US" dirty="0" smtClean="0"/>
              <a:t>Content.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Personalized </a:t>
            </a:r>
            <a:r>
              <a:rPr lang="en-US" dirty="0" smtClean="0"/>
              <a:t>Content.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87010" y="3665446"/>
            <a:ext cx="49458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Smarter </a:t>
            </a:r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</a:rPr>
              <a:t>Assistants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Enhanced Virtual </a:t>
            </a:r>
            <a:r>
              <a:rPr lang="en-US" dirty="0" smtClean="0"/>
              <a:t>Helpers (Siri , Alexa)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Human-like Conversations </a:t>
            </a:r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08328" y="4805663"/>
            <a:ext cx="50764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Improved </a:t>
            </a:r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</a:rPr>
              <a:t>Healthcare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Faster </a:t>
            </a:r>
            <a:r>
              <a:rPr lang="en-US" dirty="0" smtClean="0"/>
              <a:t>Diagnoses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Personalized Treatments</a:t>
            </a:r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07975" y="2534013"/>
            <a:ext cx="42056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Education and </a:t>
            </a:r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</a:rPr>
              <a:t>Learning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Personalized Learning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Smart Tutors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1" name="AutoShape 2" descr="Advantages and Disadvantages of Siri - Techie Blaz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14" name="Group 13"/>
          <p:cNvGrpSpPr/>
          <p:nvPr/>
        </p:nvGrpSpPr>
        <p:grpSpPr>
          <a:xfrm>
            <a:off x="5952117" y="4206086"/>
            <a:ext cx="6232790" cy="1748292"/>
            <a:chOff x="6016130" y="1041973"/>
            <a:chExt cx="6232790" cy="1748292"/>
          </a:xfrm>
        </p:grpSpPr>
        <p:pic>
          <p:nvPicPr>
            <p:cNvPr id="12" name="Picture 1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138080" y="1041973"/>
              <a:ext cx="3110840" cy="1748292"/>
            </a:xfrm>
            <a:prstGeom prst="rect">
              <a:avLst/>
            </a:prstGeom>
          </p:spPr>
        </p:pic>
        <p:pic>
          <p:nvPicPr>
            <p:cNvPr id="13" name="Picture 1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16130" y="1041973"/>
              <a:ext cx="3121950" cy="1748292"/>
            </a:xfrm>
            <a:prstGeom prst="rect">
              <a:avLst/>
            </a:prstGeom>
          </p:spPr>
        </p:pic>
      </p:grpSp>
      <p:pic>
        <p:nvPicPr>
          <p:cNvPr id="5124" name="Picture 4" descr="The Impact of Generative AI in Redefining Education System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2117" y="657642"/>
            <a:ext cx="6229393" cy="33970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/>
          <p:cNvSpPr txBox="1"/>
          <p:nvPr/>
        </p:nvSpPr>
        <p:spPr>
          <a:xfrm>
            <a:off x="171455" y="6486528"/>
            <a:ext cx="742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7</a:t>
            </a:r>
            <a:r>
              <a:rPr lang="en-US" b="1" dirty="0" smtClean="0"/>
              <a:t>/8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696510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Risks Ahead&quot; - Generative Artificial Intelligenc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485264"/>
            <a:ext cx="5854470" cy="23868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493486" y="195736"/>
            <a:ext cx="438711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 smtClean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CONCLUSION</a:t>
            </a:r>
            <a:endParaRPr lang="en-US" sz="4400" b="1" dirty="0"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77371" y="1113637"/>
            <a:ext cx="56750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Empowering Creativity</a:t>
            </a:r>
            <a:r>
              <a:rPr lang="en-US" dirty="0"/>
              <a:t>: Generative AI bridges human imagination with cutting-edge technology.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2784" y="1974559"/>
            <a:ext cx="52686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Transforming Industries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: </a:t>
            </a:r>
            <a:r>
              <a:rPr lang="en-US" dirty="0"/>
              <a:t>From art to medicine, it is revolutionizing how we work and innovate.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7371" y="2832133"/>
            <a:ext cx="56750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Balancing Potential and Ethics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: </a:t>
            </a:r>
            <a:r>
              <a:rPr lang="en-US" dirty="0"/>
              <a:t>Its power demands responsible use to ensure a positive impact.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2784" y="3774898"/>
            <a:ext cx="56750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Future-Ready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: </a:t>
            </a:r>
            <a:r>
              <a:rPr lang="en-US" dirty="0"/>
              <a:t>Generative AI is not just a tool—it's a catalyst for a smarter, more creative world.</a:t>
            </a:r>
          </a:p>
        </p:txBody>
      </p:sp>
      <p:pic>
        <p:nvPicPr>
          <p:cNvPr id="6146" name="Picture 2" descr="Gen AI — The Disruptor?. First thoughts | by Varun Vijay | Generative AI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4528" y="41565"/>
            <a:ext cx="6407472" cy="68506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0" y="5997986"/>
            <a:ext cx="853012" cy="87027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0" y="6482612"/>
            <a:ext cx="17019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8</a:t>
            </a:r>
            <a:r>
              <a:rPr lang="en-US" b="1" dirty="0" smtClean="0"/>
              <a:t>/8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035214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000"/>
                            </p:stCondLst>
                            <p:childTnLst>
                              <p:par>
                                <p:cTn id="2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4000"/>
                            </p:stCondLst>
                            <p:childTnLst>
                              <p:par>
                                <p:cTn id="3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0"/>
                <a:lumOff val="100000"/>
              </a:schemeClr>
            </a:gs>
            <a:gs pos="35000">
              <a:schemeClr val="accent5">
                <a:lumMod val="0"/>
                <a:lumOff val="100000"/>
              </a:schemeClr>
            </a:gs>
            <a:gs pos="100000">
              <a:schemeClr val="accent5">
                <a:lumMod val="10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3"/>
          <p:cNvSpPr txBox="1">
            <a:spLocks/>
          </p:cNvSpPr>
          <p:nvPr/>
        </p:nvSpPr>
        <p:spPr>
          <a:xfrm>
            <a:off x="691660" y="2566388"/>
            <a:ext cx="10815613" cy="1122680"/>
          </a:xfrm>
          <a:prstGeom prst="rect">
            <a:avLst/>
          </a:prstGeom>
          <a:ln>
            <a:noFill/>
          </a:ln>
        </p:spPr>
        <p:txBody>
          <a:bodyPr vert="horz" wrap="square" lIns="0" tIns="12700" rIns="0" bIns="0" rtlCol="0">
            <a:spAutoFit/>
            <a:scene3d>
              <a:camera prst="orthographicFront"/>
              <a:lightRig rig="threePt" dir="t"/>
            </a:scene3d>
            <a:sp3d extrusionH="57150">
              <a:bevelT w="38100" h="38100" prst="angle"/>
            </a:sp3d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7200" b="1" i="1" u="sng" spc="-315" dirty="0" smtClean="0">
                <a:solidFill>
                  <a:schemeClr val="accent1">
                    <a:lumMod val="75000"/>
                  </a:schemeClr>
                </a:soli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  <a:reflection blurRad="6350" stA="50000" endA="300" endPos="50000" dist="60007" dir="5400000" sy="-100000" algn="bl" rotWithShape="0"/>
                </a:effectLst>
              </a:rPr>
              <a:t>Q N A !</a:t>
            </a:r>
            <a:endParaRPr lang="en-US" sz="7200" b="1" i="1" u="sng" dirty="0">
              <a:solidFill>
                <a:schemeClr val="accent1">
                  <a:lumMod val="75000"/>
                </a:schemeClr>
              </a:solidFill>
              <a:effectLst>
                <a:glow rad="228600">
                  <a:schemeClr val="accent5">
                    <a:satMod val="175000"/>
                    <a:alpha val="40000"/>
                  </a:schemeClr>
                </a:glow>
                <a:outerShdw blurRad="60007" dist="310007" dir="7680000" sy="30000" kx="1300200" algn="ctr" rotWithShape="0">
                  <a:prstClr val="black">
                    <a:alpha val="32000"/>
                  </a:prstClr>
                </a:outerShdw>
                <a:reflection blurRad="6350" stA="50000" endA="300" endPos="50000" dist="60007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994486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1390</TotalTime>
  <Words>328</Words>
  <Application>Microsoft Office PowerPoint</Application>
  <PresentationFormat>Widescreen</PresentationFormat>
  <Paragraphs>75</Paragraphs>
  <Slides>10</Slides>
  <Notes>3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ZOBIA ALI</dc:creator>
  <cp:lastModifiedBy>ZOBIA ALI</cp:lastModifiedBy>
  <cp:revision>101</cp:revision>
  <dcterms:created xsi:type="dcterms:W3CDTF">2024-12-10T17:20:38Z</dcterms:created>
  <dcterms:modified xsi:type="dcterms:W3CDTF">2024-12-17T18:12:54Z</dcterms:modified>
</cp:coreProperties>
</file>