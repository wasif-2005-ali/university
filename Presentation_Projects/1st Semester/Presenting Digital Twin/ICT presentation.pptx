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66" r:id="rId5"/>
    <p:sldId id="258" r:id="rId6"/>
    <p:sldId id="267" r:id="rId7"/>
    <p:sldId id="268" r:id="rId8"/>
    <p:sldId id="270" r:id="rId9"/>
    <p:sldId id="271" r:id="rId10"/>
    <p:sldId id="279" r:id="rId11"/>
    <p:sldId id="273" r:id="rId12"/>
    <p:sldId id="274" r:id="rId13"/>
    <p:sldId id="275" r:id="rId14"/>
    <p:sldId id="276" r:id="rId15"/>
    <p:sldId id="277" r:id="rId16"/>
    <p:sldId id="264" r:id="rId17"/>
    <p:sldId id="263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BIA ALI" initials="ZA" lastIdx="2" clrIdx="0">
    <p:extLst>
      <p:ext uri="{19B8F6BF-5375-455C-9EA6-DF929625EA0E}">
        <p15:presenceInfo xmlns:p15="http://schemas.microsoft.com/office/powerpoint/2012/main" userId="ZOBIA AL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5FB"/>
    <a:srgbClr val="E6E6E6"/>
    <a:srgbClr val="F6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60"/>
  </p:normalViewPr>
  <p:slideViewPr>
    <p:cSldViewPr snapToGrid="0">
      <p:cViewPr>
        <p:scale>
          <a:sx n="66" d="100"/>
          <a:sy n="66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6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2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9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2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3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3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2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4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1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50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3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38D02-3E75-470F-B441-97FAD0D77F19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E8D65-1091-42F1-95B2-060D5F13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4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Gartner,%20Gartner%20survey%20reveals%20digital%20twins%20are%20entering%20mainstream%20use." TargetMode="External"/><Relationship Id="rId2" Type="http://schemas.openxmlformats.org/officeDocument/2006/relationships/hyperlink" Target="https://www.gartner.com/en/newsroom/press-releases/2019-02-20-gartner-survey-reveals-digital-twins-are-entering-mai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mtemp.gcom.cloud/ngw/globalassets/en/publications/documents/2023-%20gartner-top-strategic-technology-trends-ebook.pdf.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126" y="1801621"/>
            <a:ext cx="10855234" cy="2714393"/>
          </a:xfrm>
          <a:prstGeom prst="rect">
            <a:avLst/>
          </a:prstGeom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5832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000">
        <p:fade/>
      </p:transition>
    </mc:Choice>
    <mc:Fallback xmlns="">
      <p:transition spd="med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7316" y="1206542"/>
            <a:ext cx="7623544" cy="2585323"/>
          </a:xfrm>
          <a:prstGeom prst="rect">
            <a:avLst/>
          </a:prstGeom>
          <a:noFill/>
          <a:effectLst>
            <a:outerShdw blurRad="406400" dist="38100" dir="5400000" algn="t" rotWithShape="0">
              <a:prstClr val="black">
                <a:alpha val="23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PRESENTING</a:t>
            </a:r>
          </a:p>
          <a:p>
            <a:r>
              <a:rPr lang="en-US" sz="5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DIGITAL</a:t>
            </a:r>
          </a:p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Twin Technology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7" name="Regular Pentagon 6"/>
          <p:cNvSpPr/>
          <p:nvPr/>
        </p:nvSpPr>
        <p:spPr>
          <a:xfrm rot="16200000">
            <a:off x="5461899" y="-264616"/>
            <a:ext cx="9241367" cy="7366069"/>
          </a:xfrm>
          <a:prstGeom prst="pentagon">
            <a:avLst/>
          </a:prstGeom>
          <a:blipFill dpi="0" rotWithShape="1">
            <a:blip r:embed="rId2">
              <a:alphaModFix amt="91000"/>
            </a:blip>
            <a:srcRect/>
            <a:stretch>
              <a:fillRect/>
            </a:stretch>
          </a:blipFill>
          <a:ln>
            <a:noFill/>
          </a:ln>
          <a:effectLst>
            <a:glow rad="609600">
              <a:schemeClr val="accent5">
                <a:satMod val="175000"/>
                <a:alpha val="40000"/>
              </a:schemeClr>
            </a:glow>
            <a:outerShdw blurRad="50800" dist="38100" dir="13500000" sx="98000" sy="98000" algn="b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gular Pentagon 10"/>
          <p:cNvSpPr/>
          <p:nvPr/>
        </p:nvSpPr>
        <p:spPr>
          <a:xfrm rot="2702456">
            <a:off x="-815811" y="4137584"/>
            <a:ext cx="3792117" cy="3316919"/>
          </a:xfrm>
          <a:prstGeom prst="pentagon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7316" y="4674870"/>
            <a:ext cx="28117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Presented by:</a:t>
            </a:r>
          </a:p>
          <a:p>
            <a:endParaRPr lang="en-US" b="1" dirty="0" smtClean="0">
              <a:solidFill>
                <a:schemeClr val="accent1">
                  <a:lumMod val="75000"/>
                </a:schemeClr>
              </a:solidFill>
              <a:latin typeface="Bahnschrift SemiBold" panose="020B0502040204020203" pitchFamily="34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Bahnschrift SemiBold" panose="020B0502040204020203" pitchFamily="34" charset="0"/>
              </a:rPr>
              <a:t>Wasif Ali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Bahnschrift SemiBold" panose="020B0502040204020203" pitchFamily="34" charset="0"/>
              </a:rPr>
              <a:t>Saad Ali</a:t>
            </a:r>
          </a:p>
          <a:p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M. </a:t>
            </a:r>
            <a:r>
              <a:rPr lang="en-US" b="1" dirty="0" smtClean="0">
                <a:solidFill>
                  <a:srgbClr val="002060"/>
                </a:solidFill>
                <a:latin typeface="Bahnschrift SemiBold" panose="020B0502040204020203" pitchFamily="34" charset="0"/>
              </a:rPr>
              <a:t>Shaheer</a:t>
            </a:r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/>
            </a:r>
            <a:b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</a:br>
            <a:r>
              <a:rPr lang="en-US" b="1" dirty="0">
                <a:solidFill>
                  <a:srgbClr val="002060"/>
                </a:solidFill>
                <a:latin typeface="Bahnschrift SemiBold" panose="020B0502040204020203" pitchFamily="34" charset="0"/>
              </a:rPr>
              <a:t>Mohsin Ali</a:t>
            </a:r>
            <a:endParaRPr lang="en-US" b="1" dirty="0" smtClean="0">
              <a:solidFill>
                <a:srgbClr val="002060"/>
              </a:solidFill>
              <a:latin typeface="Bahnschrift SemiBold" panose="020B0502040204020203" pitchFamily="34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Bahnschrift SemiBold" panose="020B0502040204020203" pitchFamily="34" charset="0"/>
              </a:rPr>
              <a:t>M. Huzaifa</a:t>
            </a:r>
            <a:br>
              <a:rPr lang="en-US" b="1" dirty="0" smtClean="0">
                <a:solidFill>
                  <a:srgbClr val="002060"/>
                </a:solidFill>
                <a:latin typeface="Bahnschrift SemiBold" panose="020B0502040204020203" pitchFamily="34" charset="0"/>
              </a:rPr>
            </a:br>
            <a:endParaRPr lang="en-US" b="1" dirty="0" smtClean="0">
              <a:solidFill>
                <a:srgbClr val="002060"/>
              </a:solidFill>
              <a:latin typeface="Bahnschrift SemiBold" panose="020B0502040204020203" pitchFamily="34" charset="0"/>
            </a:endParaRPr>
          </a:p>
          <a:p>
            <a:endParaRPr lang="en-US" b="1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81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1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gular Pentagon 3"/>
          <p:cNvSpPr/>
          <p:nvPr/>
        </p:nvSpPr>
        <p:spPr>
          <a:xfrm rot="20843576">
            <a:off x="5230631" y="-1442201"/>
            <a:ext cx="9095880" cy="9118428"/>
          </a:xfrm>
          <a:prstGeom prst="pentagon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" name="TextBox 2"/>
          <p:cNvSpPr txBox="1"/>
          <p:nvPr/>
        </p:nvSpPr>
        <p:spPr>
          <a:xfrm>
            <a:off x="708660" y="1470660"/>
            <a:ext cx="4428115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Digital Twin Technology </a:t>
            </a:r>
            <a:r>
              <a:rPr lang="en-US" dirty="0" smtClean="0"/>
              <a:t>Virtual replicas of physical objects or systems for real-time feedback</a:t>
            </a:r>
            <a:r>
              <a:rPr lang="en-US" dirty="0"/>
              <a:t>, </a:t>
            </a:r>
            <a:r>
              <a:rPr lang="en-US" dirty="0" smtClean="0"/>
              <a:t>simulations</a:t>
            </a:r>
            <a:r>
              <a:rPr lang="en-US" dirty="0"/>
              <a:t>, and operational improvements</a:t>
            </a:r>
            <a:r>
              <a:rPr lang="en-US" spc="-10" dirty="0" smtClean="0">
                <a:cs typeface="Verdana"/>
              </a:rPr>
              <a:t>.</a:t>
            </a:r>
            <a:endParaRPr lang="en-US" dirty="0">
              <a:latin typeface="Bahnschrift Light" panose="020B0502040204020203" pitchFamily="34" charset="0"/>
            </a:endParaRPr>
          </a:p>
        </p:txBody>
      </p:sp>
      <p:pic>
        <p:nvPicPr>
          <p:cNvPr id="1036" name="Picture 12" descr="Unveiling Digital Twin Technology: A New Era of Virtual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345" y="330930"/>
            <a:ext cx="5911083" cy="6197600"/>
          </a:xfrm>
          <a:prstGeom prst="rect">
            <a:avLst/>
          </a:prstGeom>
          <a:noFill/>
          <a:effectLst>
            <a:glow rad="520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08660" y="436089"/>
            <a:ext cx="6629400" cy="769441"/>
          </a:xfrm>
          <a:prstGeom prst="rect">
            <a:avLst/>
          </a:prstGeom>
          <a:noFill/>
          <a:effectLst>
            <a:outerShdw blurRad="63500" sx="191000" sy="191000" algn="ctr" rotWithShape="0">
              <a:prstClr val="black">
                <a:alpha val="58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INTRODDUCTION</a:t>
            </a:r>
            <a:endParaRPr lang="en-US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7" name="Regular Pentagon 6"/>
          <p:cNvSpPr/>
          <p:nvPr/>
        </p:nvSpPr>
        <p:spPr>
          <a:xfrm rot="6680199">
            <a:off x="-1590092" y="4069614"/>
            <a:ext cx="4331970" cy="4125686"/>
          </a:xfrm>
          <a:prstGeom prst="pentagon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8660" y="3089564"/>
            <a:ext cx="4428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Market Trends: </a:t>
            </a:r>
            <a:r>
              <a:rPr lang="en-US" dirty="0"/>
              <a:t>By 2027, 40% of large companies will adopt Digital Twins; market projected to grow from $8B (2022) at 25% CAGR to 2032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0393" y="4655129"/>
            <a:ext cx="39962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Adoption Insights: </a:t>
            </a:r>
            <a:r>
              <a:rPr lang="en-US" dirty="0"/>
              <a:t>75% of IoT organizations used/planned Digital Twins by 2020; 60% of executives plan integration by 2028.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74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12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/>
      <p:bldP spid="7" grpId="0" animBg="1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">
              <a:schemeClr val="accent5">
                <a:lumMod val="7000"/>
                <a:lumOff val="93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gular Pentagon 3"/>
          <p:cNvSpPr/>
          <p:nvPr/>
        </p:nvSpPr>
        <p:spPr>
          <a:xfrm rot="20843576">
            <a:off x="5230631" y="-1442201"/>
            <a:ext cx="9095880" cy="9118428"/>
          </a:xfrm>
          <a:prstGeom prst="pentagon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gular Pentagon 6"/>
          <p:cNvSpPr/>
          <p:nvPr/>
        </p:nvSpPr>
        <p:spPr>
          <a:xfrm rot="6680199">
            <a:off x="-1674497" y="4032450"/>
            <a:ext cx="4331970" cy="4125686"/>
          </a:xfrm>
          <a:prstGeom prst="pentagon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08659" y="712694"/>
            <a:ext cx="11111305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endParaRPr lang="en-US" dirty="0">
              <a:latin typeface="Bahnschrift Light" panose="020B0502040204020203" pitchFamily="34" charset="0"/>
            </a:endParaRPr>
          </a:p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Key Benefits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Faster problem-solving, improved product design, optimized processes, and accelerated value realization</a:t>
            </a:r>
            <a:r>
              <a:rPr lang="en-US" dirty="0" smtClean="0"/>
              <a:t>.</a:t>
            </a:r>
            <a:endParaRPr lang="en-US" dirty="0">
              <a:latin typeface="Bahnschrift Ligh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16" y="3270061"/>
            <a:ext cx="10272650" cy="3432345"/>
          </a:xfrm>
          <a:prstGeom prst="rect">
            <a:avLst/>
          </a:prstGeom>
          <a:effectLst>
            <a:glow rad="368300">
              <a:schemeClr val="accent5">
                <a:lumMod val="60000"/>
                <a:lumOff val="40000"/>
              </a:schemeClr>
            </a:glow>
          </a:effectLst>
        </p:spPr>
      </p:pic>
      <p:sp>
        <p:nvSpPr>
          <p:cNvPr id="6" name="Rectangle 5"/>
          <p:cNvSpPr/>
          <p:nvPr/>
        </p:nvSpPr>
        <p:spPr>
          <a:xfrm>
            <a:off x="0" y="-193964"/>
            <a:ext cx="12192000" cy="651163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99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08659" y="1648848"/>
            <a:ext cx="11111305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Applications: </a:t>
            </a:r>
            <a:r>
              <a:rPr lang="en-US" dirty="0"/>
              <a:t>Used in manufacturing, healthcare, construction, and transportation to enhance operations and drive innovation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08659" y="2518114"/>
            <a:ext cx="11111305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98450" marR="5080" indent="-285750" algn="just">
              <a:lnSpc>
                <a:spcPct val="100099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Challenges: </a:t>
            </a:r>
            <a:r>
              <a:rPr lang="en-US" dirty="0"/>
              <a:t>Integration complexity, data security, and resource intensity.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9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3" grpId="0"/>
      <p:bldP spid="2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accent5">
                <a:lumMod val="7000"/>
                <a:lumOff val="93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1883" y="1321284"/>
            <a:ext cx="8497489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1960s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 smtClean="0"/>
              <a:t>NASA pioneered the concept with "mirrored systems" for spacecraft simulation during the Apollo missions.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8283" y="394859"/>
            <a:ext cx="38521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BACKGROUND</a:t>
            </a:r>
            <a:endParaRPr lang="en-US" sz="44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836409" y="-2197587"/>
            <a:ext cx="10411268" cy="10606844"/>
            <a:chOff x="2898104" y="-2211306"/>
            <a:chExt cx="10411268" cy="10606844"/>
          </a:xfr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effectLst/>
        </p:grpSpPr>
        <p:sp>
          <p:nvSpPr>
            <p:cNvPr id="4" name="Diagonal Stripe 3"/>
            <p:cNvSpPr/>
            <p:nvPr/>
          </p:nvSpPr>
          <p:spPr>
            <a:xfrm rot="10800000">
              <a:off x="2898104" y="-2211306"/>
              <a:ext cx="9775158" cy="977515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Diagonal Stripe 4"/>
            <p:cNvSpPr/>
            <p:nvPr/>
          </p:nvSpPr>
          <p:spPr>
            <a:xfrm rot="10800000">
              <a:off x="8042044" y="3128210"/>
              <a:ext cx="5267328" cy="526732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8642119" y="1328916"/>
            <a:ext cx="3501500" cy="4200168"/>
            <a:chOff x="3798669" y="865334"/>
            <a:chExt cx="3473392" cy="4077236"/>
          </a:xfr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75000"/>
                </a:schemeClr>
              </a:gs>
            </a:gsLst>
            <a:lin ang="0" scaled="1"/>
            <a:tileRect/>
          </a:gradFill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17" name="Freeform 16"/>
            <p:cNvSpPr/>
            <p:nvPr/>
          </p:nvSpPr>
          <p:spPr>
            <a:xfrm>
              <a:off x="5249015" y="865334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64260" tIns="295208" rIns="264261" bIns="295207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2002</a:t>
              </a:r>
            </a:p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kern="1200" dirty="0" smtClean="0"/>
                <a:t>Michael Grieves’ Concept</a:t>
              </a:r>
              <a:endParaRPr lang="en-US" kern="1200" dirty="0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3842672" y="865334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7110" tIns="238058" rIns="207111" bIns="238057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1960s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kern="1200" dirty="0" smtClean="0"/>
                <a:t>NASA’S Mirrored Systems </a:t>
              </a:r>
            </a:p>
          </p:txBody>
        </p:sp>
        <p:sp>
          <p:nvSpPr>
            <p:cNvPr id="19" name="Freeform 18"/>
            <p:cNvSpPr/>
            <p:nvPr/>
          </p:nvSpPr>
          <p:spPr>
            <a:xfrm>
              <a:off x="5255196" y="3411754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64260" tIns="295208" rIns="264261" bIns="295207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500" kern="1200" dirty="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5251874" y="3414931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7110" tIns="238058" rIns="207111" bIns="238057" numCol="1" spcCol="1270" anchor="ctr" anchorCtr="0">
              <a:noAutofit/>
            </a:bodyPr>
            <a:lstStyle/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Present</a:t>
              </a:r>
            </a:p>
            <a:p>
              <a:pPr lvl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700" kern="1200" dirty="0" smtClean="0"/>
                <a:t>Core of Industry 4.0</a:t>
              </a:r>
              <a:endParaRPr lang="en-US" sz="1700" kern="1200" dirty="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5943015" y="2134358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64260" tIns="295208" rIns="264261" bIns="295207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2014</a:t>
              </a:r>
            </a:p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/>
                <a:t>GE's Industrial Leap</a:t>
              </a:r>
              <a:endParaRPr lang="en-US" sz="1600" kern="1200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527969" y="2126567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64260" tIns="295208" rIns="264261" bIns="295207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2010</a:t>
              </a:r>
            </a:p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/>
                <a:t>IoT-Driven Adoption</a:t>
              </a:r>
              <a:endParaRPr lang="en-US" sz="1600" kern="1200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3798669" y="3402948"/>
              <a:ext cx="1329046" cy="1527639"/>
            </a:xfrm>
            <a:custGeom>
              <a:avLst/>
              <a:gdLst>
                <a:gd name="connsiteX0" fmla="*/ 0 w 1527638"/>
                <a:gd name="connsiteY0" fmla="*/ 664523 h 1329045"/>
                <a:gd name="connsiteX1" fmla="*/ 332261 w 1527638"/>
                <a:gd name="connsiteY1" fmla="*/ 0 h 1329045"/>
                <a:gd name="connsiteX2" fmla="*/ 1195377 w 1527638"/>
                <a:gd name="connsiteY2" fmla="*/ 0 h 1329045"/>
                <a:gd name="connsiteX3" fmla="*/ 1527638 w 1527638"/>
                <a:gd name="connsiteY3" fmla="*/ 664523 h 1329045"/>
                <a:gd name="connsiteX4" fmla="*/ 1195377 w 1527638"/>
                <a:gd name="connsiteY4" fmla="*/ 1329045 h 1329045"/>
                <a:gd name="connsiteX5" fmla="*/ 332261 w 1527638"/>
                <a:gd name="connsiteY5" fmla="*/ 1329045 h 1329045"/>
                <a:gd name="connsiteX6" fmla="*/ 0 w 1527638"/>
                <a:gd name="connsiteY6" fmla="*/ 664523 h 132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7638" h="1329045">
                  <a:moveTo>
                    <a:pt x="763818" y="0"/>
                  </a:moveTo>
                  <a:lnTo>
                    <a:pt x="1527637" y="289067"/>
                  </a:lnTo>
                  <a:lnTo>
                    <a:pt x="1527637" y="1039978"/>
                  </a:lnTo>
                  <a:lnTo>
                    <a:pt x="763818" y="1329045"/>
                  </a:lnTo>
                  <a:lnTo>
                    <a:pt x="1" y="1039978"/>
                  </a:lnTo>
                  <a:lnTo>
                    <a:pt x="1" y="289067"/>
                  </a:lnTo>
                  <a:lnTo>
                    <a:pt x="763818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207110" tIns="238058" rIns="207111" bIns="238057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2020 Onwards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 smtClean="0"/>
                <a:t>GE Pioneers Digital Twins</a:t>
              </a:r>
              <a:endParaRPr lang="en-US" sz="1400" kern="12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11883" y="2124225"/>
            <a:ext cx="8329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2002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Dr. Michael Grieves first formally introduced the term "Digital Twin" in relation to product lifecycle management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11883" y="2902613"/>
            <a:ext cx="9056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2010s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Widespread industrial adoption began, driven by advancements in IoT, cloud computing, and big data analytics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0165" y="3724028"/>
            <a:ext cx="8927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2014</a:t>
            </a:r>
            <a:r>
              <a:rPr lang="en-US" dirty="0"/>
              <a:t>: General Electric (GE) popularized the concept in the industrial sector by applying digital twins to optimize equipment and asset management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0165" y="4572001"/>
            <a:ext cx="8291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2020 onwards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Digital twins started expanding to smart cities, healthcare, and personalized medicine, among other industries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66587" y="5458265"/>
            <a:ext cx="8677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Present</a:t>
            </a:r>
            <a:r>
              <a:rPr lang="en-US" dirty="0"/>
              <a:t>: Digital twins are integral to Industry 4.0, enhancing simulations, real-time data analysis, and predictive maintenance.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4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1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8000">
              <a:schemeClr val="accent5">
                <a:lumMod val="7000"/>
                <a:lumOff val="93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836409" y="-2226615"/>
            <a:ext cx="10411268" cy="10606844"/>
            <a:chOff x="2898104" y="-2211306"/>
            <a:chExt cx="10411268" cy="10606844"/>
          </a:xfr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effectLst/>
        </p:grpSpPr>
        <p:sp>
          <p:nvSpPr>
            <p:cNvPr id="24" name="Diagonal Stripe 23"/>
            <p:cNvSpPr/>
            <p:nvPr/>
          </p:nvSpPr>
          <p:spPr>
            <a:xfrm rot="10800000">
              <a:off x="2898104" y="-2211306"/>
              <a:ext cx="9775158" cy="977515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Diagonal Stripe 24"/>
            <p:cNvSpPr/>
            <p:nvPr/>
          </p:nvSpPr>
          <p:spPr>
            <a:xfrm rot="10800000">
              <a:off x="8042044" y="3128210"/>
              <a:ext cx="5267328" cy="5267328"/>
            </a:xfrm>
            <a:prstGeom prst="diagStri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86695" y="562552"/>
            <a:ext cx="4499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 PAPER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6695" y="1563171"/>
            <a:ext cx="492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 :</a:t>
            </a:r>
            <a:r>
              <a:rPr lang="en-US" dirty="0"/>
              <a:t> </a:t>
            </a:r>
            <a:r>
              <a:rPr lang="en-US" i="1" dirty="0"/>
              <a:t>Mohsen </a:t>
            </a:r>
            <a:r>
              <a:rPr lang="en-US" i="1" dirty="0" smtClean="0"/>
              <a:t>Attaran</a:t>
            </a:r>
            <a:r>
              <a:rPr lang="en-US" i="1" dirty="0"/>
              <a:t> and Bilge Gokhan Celik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695" y="3601620"/>
            <a:ext cx="11344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98" y="167772"/>
            <a:ext cx="3483430" cy="2500517"/>
          </a:xfrm>
          <a:prstGeom prst="rect">
            <a:avLst/>
          </a:prstGeom>
          <a:effectLst>
            <a:glow rad="457200">
              <a:schemeClr val="bg1">
                <a:alpha val="85000"/>
              </a:schemeClr>
            </a:glow>
          </a:effectLst>
        </p:spPr>
      </p:pic>
      <p:sp>
        <p:nvSpPr>
          <p:cNvPr id="2" name="TextBox 1"/>
          <p:cNvSpPr txBox="1"/>
          <p:nvPr/>
        </p:nvSpPr>
        <p:spPr>
          <a:xfrm>
            <a:off x="604908" y="2179378"/>
            <a:ext cx="386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Expert Backgrounds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4907" y="2615087"/>
            <a:ext cx="8384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Attaran is an expert in business and operations from California State University.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4910" y="3165911"/>
            <a:ext cx="1080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Bilge Gokhan Celik focuses on engineering and construction at Roger Williams University.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4907" y="4412406"/>
            <a:ext cx="1119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The use of Digital Twin technology is expanding rapidly and changing how businesses work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8979" y="4951827"/>
            <a:ext cx="932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In </a:t>
            </a:r>
            <a:r>
              <a:rPr lang="en-US" dirty="0"/>
              <a:t>recent years, Digital Twins have become key tools for solving business challenges.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8979" y="5457480"/>
            <a:ext cx="1131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This </a:t>
            </a:r>
            <a:r>
              <a:rPr lang="en-US" dirty="0"/>
              <a:t>technology is expected to grow even more, with new applications and use cases across various </a:t>
            </a:r>
            <a:r>
              <a:rPr lang="en-US" dirty="0" smtClean="0"/>
              <a:t>industries.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9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1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77000">
              <a:schemeClr val="accent5">
                <a:lumMod val="20000"/>
                <a:lumOff val="80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ular Pentagon 1"/>
          <p:cNvSpPr/>
          <p:nvPr/>
        </p:nvSpPr>
        <p:spPr>
          <a:xfrm rot="6680199">
            <a:off x="-1684087" y="4091910"/>
            <a:ext cx="4331970" cy="4125686"/>
          </a:xfrm>
          <a:prstGeom prst="pentagon">
            <a:avLst/>
          </a:prstGeo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88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gular Pentagon 2"/>
          <p:cNvSpPr/>
          <p:nvPr/>
        </p:nvSpPr>
        <p:spPr>
          <a:xfrm rot="20843576">
            <a:off x="5230631" y="-1442201"/>
            <a:ext cx="9095880" cy="9118428"/>
          </a:xfrm>
          <a:prstGeom prst="pentagon">
            <a:avLst/>
          </a:prstGeom>
          <a:gradFill>
            <a:gsLst>
              <a:gs pos="0">
                <a:schemeClr val="accent1">
                  <a:alpha val="0"/>
                  <a:lumMod val="30000"/>
                  <a:lumOff val="7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8629" y="928914"/>
            <a:ext cx="1117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This technology is expected to grow even more, with new applications and use cases across various industries</a:t>
            </a:r>
            <a:r>
              <a:rPr lang="en-US" dirty="0" smtClean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194" y="1688520"/>
            <a:ext cx="5468536" cy="3297011"/>
          </a:xfrm>
          <a:prstGeom prst="rect">
            <a:avLst/>
          </a:prstGeom>
          <a:effectLst>
            <a:glow rad="2540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6" name="Rectangle 5"/>
          <p:cNvSpPr/>
          <p:nvPr/>
        </p:nvSpPr>
        <p:spPr>
          <a:xfrm>
            <a:off x="0" y="-193964"/>
            <a:ext cx="12192000" cy="651163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99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8629" y="1451206"/>
            <a:ext cx="586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Focus Areas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8629" y="1969476"/>
            <a:ext cx="5910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what Digital Twins are</a:t>
            </a:r>
            <a:r>
              <a:rPr lang="en-US" dirty="0" smtClean="0"/>
              <a:t>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561" y="2771334"/>
            <a:ext cx="5910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 their evolution and development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10493" y="2990433"/>
            <a:ext cx="586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Review </a:t>
            </a:r>
            <a:r>
              <a:rPr lang="en-US" dirty="0"/>
              <a:t>the technologies that make them work</a:t>
            </a:r>
            <a:r>
              <a:rPr lang="en-US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628" y="3770142"/>
            <a:ext cx="649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Discuss their current trends, challenges, and applications.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62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  <p:bldP spid="6" grpId="0" animBg="1"/>
      <p:bldP spid="4" grpId="0"/>
      <p:bldP spid="5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000">
              <a:schemeClr val="accent5">
                <a:lumMod val="20000"/>
                <a:lumOff val="80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131" y="-750908"/>
            <a:ext cx="8659840" cy="88170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8574" y="595086"/>
            <a:ext cx="44123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1007" y="1585311"/>
            <a:ext cx="11132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Objective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Understand how Digital Twins improve automation in industries</a:t>
            </a:r>
            <a:r>
              <a:rPr lang="en-US" dirty="0" smtClean="0"/>
              <a:t>.</a:t>
            </a:r>
          </a:p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Explore applications, challenges, and technologies</a:t>
            </a:r>
            <a:r>
              <a:rPr lang="en-US" dirty="0" smtClean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793" y="798286"/>
            <a:ext cx="5083225" cy="28593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76309" y="-1298920"/>
            <a:ext cx="4334632" cy="41944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2940146"/>
            <a:ext cx="11240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Collection:</a:t>
            </a:r>
          </a:p>
          <a:p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Gathered information from journals, conference papers, and research reports.</a:t>
            </a:r>
          </a:p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Used platforms like </a:t>
            </a:r>
            <a:r>
              <a:rPr lang="en-US" b="1" dirty="0"/>
              <a:t>Scopus</a:t>
            </a:r>
            <a:r>
              <a:rPr lang="en-US" dirty="0"/>
              <a:t> and </a:t>
            </a:r>
            <a:r>
              <a:rPr lang="en-US" b="1" dirty="0"/>
              <a:t>Google Scholar</a:t>
            </a:r>
            <a:r>
              <a:rPr lang="en-US" dirty="0"/>
              <a:t> for relevant literature.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1007" y="4586065"/>
            <a:ext cx="112399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 Areas:</a:t>
            </a:r>
          </a:p>
          <a:p>
            <a:pPr lvl="0"/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 Defined Digital Twins and their technologies.</a:t>
            </a:r>
          </a:p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 Reviewed trends, applications, challenges, and future opportunities.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5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000">
              <a:schemeClr val="accent5">
                <a:lumMod val="20000"/>
                <a:lumOff val="80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807" y="4769531"/>
            <a:ext cx="5657778" cy="2020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glow rad="228600">
              <a:schemeClr val="accent5">
                <a:satMod val="175000"/>
                <a:alpha val="40000"/>
              </a:schemeClr>
            </a:glow>
            <a:innerShdw blurRad="76200">
              <a:srgbClr val="000000"/>
            </a:inn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97091" y="-1796047"/>
            <a:ext cx="4919898" cy="44992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721" y="4608381"/>
            <a:ext cx="4919898" cy="4499238"/>
          </a:xfrm>
          <a:prstGeom prst="rect">
            <a:avLst/>
          </a:prstGeom>
        </p:spPr>
      </p:pic>
      <p:sp>
        <p:nvSpPr>
          <p:cNvPr id="6" name="Isosceles Triangle 5"/>
          <p:cNvSpPr/>
          <p:nvPr/>
        </p:nvSpPr>
        <p:spPr>
          <a:xfrm rot="16200000">
            <a:off x="10697029" y="14514"/>
            <a:ext cx="1509486" cy="1480457"/>
          </a:xfrm>
          <a:prstGeom prst="triangle">
            <a:avLst>
              <a:gd name="adj" fmla="val 100000"/>
            </a:avLst>
          </a:prstGeom>
          <a:gradFill>
            <a:gsLst>
              <a:gs pos="5000">
                <a:schemeClr val="bg1"/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135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5321675"/>
            <a:ext cx="1505843" cy="1536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1486" y="478971"/>
            <a:ext cx="91730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Steps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Categorized enabling technologies (e.g., IoT, AI, Cloud</a:t>
            </a:r>
            <a:r>
              <a:rPr lang="en-US" dirty="0" smtClean="0"/>
              <a:t>).</a:t>
            </a:r>
          </a:p>
          <a:p>
            <a:pPr lvl="0"/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Examined real-world use cases in sectors like healthcare, manufacturing, and construction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26942" y="1814732"/>
            <a:ext cx="938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1486" y="2377439"/>
            <a:ext cx="9419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Assessed how Digital Twins address real-world problems.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Identified key benefits, barriers, and implementation challenges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01486" y="3474720"/>
            <a:ext cx="94086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Outcome: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Created a comprehensive overview of Digital Twins to help industries adopt and innovate.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6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4" grpId="0"/>
      <p:bldP spid="5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9657" y="1081750"/>
            <a:ext cx="64547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Simulation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The </a:t>
            </a:r>
            <a:r>
              <a:rPr lang="en-US" dirty="0"/>
              <a:t>Digital Twin creates a virtual version of the system to simulate its behavior under different conditions, like strong winds or icy weather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9657" y="2595112"/>
            <a:ext cx="6313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Control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Operators </a:t>
            </a:r>
            <a:r>
              <a:rPr lang="en-US" dirty="0"/>
              <a:t>can adjust settings remotely through the Digital Twin, such as changing blade angles to improve performance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9657" y="3780927"/>
            <a:ext cx="6096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It </a:t>
            </a:r>
            <a:r>
              <a:rPr lang="en-US" dirty="0"/>
              <a:t>analyzes real-time and past data to spot patterns or issues—like detecting a temperature rise that signals potential failure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9657" y="5286055"/>
            <a:ext cx="59508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Optimization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Engineers </a:t>
            </a:r>
            <a:r>
              <a:rPr lang="en-US" dirty="0"/>
              <a:t>can test various configurations in the virtual model to fine-tune performance without touching the real system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1028" name="Picture 4" descr="Futuristic Wind Turbine with Digital Graphics | Premium AI-gener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626" y="3534478"/>
            <a:ext cx="5573717" cy="3127476"/>
          </a:xfrm>
          <a:prstGeom prst="rect">
            <a:avLst/>
          </a:prstGeom>
          <a:noFill/>
          <a:effectLst>
            <a:glow rad="5207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uturistic Wind Turbine with Digital Graphics | Premium AI-gener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77" y="419504"/>
            <a:ext cx="5581366" cy="3129488"/>
          </a:xfrm>
          <a:prstGeom prst="rect">
            <a:avLst/>
          </a:prstGeom>
          <a:noFill/>
          <a:effectLst>
            <a:glow rad="355600">
              <a:schemeClr val="accent5">
                <a:satMod val="175000"/>
                <a:alpha val="40000"/>
              </a:schemeClr>
            </a:glow>
            <a:outerShdw blurRad="50800" dist="165100" dir="21540000" algn="ctr" rotWithShape="0">
              <a:srgbClr val="000000">
                <a:alpha val="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/>
          <p:cNvCxnSpPr/>
          <p:nvPr/>
        </p:nvCxnSpPr>
        <p:spPr>
          <a:xfrm>
            <a:off x="6450977" y="390476"/>
            <a:ext cx="7649" cy="6256964"/>
          </a:xfrm>
          <a:prstGeom prst="line">
            <a:avLst/>
          </a:prstGeom>
          <a:effectLst>
            <a:outerShdw blurRad="50800" dist="50800" dir="5400000" algn="ctr" rotWithShape="0">
              <a:schemeClr val="accent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473371" y="3519964"/>
            <a:ext cx="5558972" cy="0"/>
          </a:xfrm>
          <a:prstGeom prst="line">
            <a:avLst/>
          </a:prstGeom>
          <a:effectLst>
            <a:outerShdw blurRad="50800" dist="50800" dir="5400000" algn="ctr" rotWithShape="0">
              <a:schemeClr val="accent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0" y="-1410"/>
            <a:ext cx="1509486" cy="1480457"/>
          </a:xfrm>
          <a:prstGeom prst="triangle">
            <a:avLst>
              <a:gd name="adj" fmla="val 100000"/>
            </a:avLst>
          </a:prstGeom>
          <a:gradFill>
            <a:gsLst>
              <a:gs pos="5000">
                <a:schemeClr val="bg1"/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13500000" scaled="1"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62857" y="261259"/>
            <a:ext cx="6676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Digital Twin Works?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227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6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7000">
              <a:schemeClr val="accent5">
                <a:lumMod val="20000"/>
                <a:lumOff val="80000"/>
              </a:schemeClr>
            </a:gs>
            <a:gs pos="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241" y="-15241"/>
            <a:ext cx="1505843" cy="1536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984" y="233834"/>
            <a:ext cx="6283325" cy="6571619"/>
          </a:xfrm>
          <a:prstGeom prst="rect">
            <a:avLst/>
          </a:prstGeom>
          <a:effectLst>
            <a:outerShdw blurRad="1257300" dist="50800" dir="5400000" sx="1000" sy="1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365760" y="248192"/>
            <a:ext cx="82687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Applications of Digital Twins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0343"/>
            <a:ext cx="57429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Digital twins are like virtual copies of real-world things, such as machines, buildings, or systems. They help us understand and improve how these things work by using live data and computer simulations. Digital Twin can be use: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653225" y="5284369"/>
            <a:ext cx="1505843" cy="1536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024552"/>
            <a:ext cx="5753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 Cities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They help manage traffic, design better roads, and save energy in buildings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3840478"/>
            <a:ext cx="5742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 Healthcare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They create digital models of patients to test treatments before trying them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65760" y="4656404"/>
            <a:ext cx="57429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For Cars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They test new designs and make sure self-driving cars are safe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" y="5472330"/>
            <a:ext cx="5742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 Energy</a:t>
            </a:r>
            <a:r>
              <a:rPr lang="en-US" dirty="0"/>
              <a:t>: They track how much power is being used and suggest ways to save more.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5760" y="2574388"/>
            <a:ext cx="5753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 Factories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They show how machines are running and warn if something might break.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51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"/>
                            </p:stCondLst>
                            <p:childTnLst>
                              <p:par>
                                <p:cTn id="1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/>
      <p:bldP spid="4" grpId="0"/>
      <p:bldP spid="9" grpId="0"/>
      <p:bldP spid="10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100000">
              <a:srgbClr val="E4EAF6"/>
            </a:gs>
            <a:gs pos="100000">
              <a:schemeClr val="accent5">
                <a:lumMod val="20000"/>
                <a:lumOff val="80000"/>
              </a:schemeClr>
            </a:gs>
            <a:gs pos="0">
              <a:schemeClr val="bg1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241" y="-15241"/>
            <a:ext cx="1505843" cy="1536325"/>
          </a:xfrm>
          <a:prstGeom prst="rect">
            <a:avLst/>
          </a:prstGeom>
        </p:spPr>
      </p:pic>
      <p:pic>
        <p:nvPicPr>
          <p:cNvPr id="2" name="Picture 4" descr="C:\Users\My PC\Desktop\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6123" y="-1"/>
            <a:ext cx="6745878" cy="3327401"/>
          </a:xfrm>
          <a:prstGeom prst="rect">
            <a:avLst/>
          </a:prstGeom>
          <a:noFill/>
        </p:spPr>
      </p:pic>
      <p:pic>
        <p:nvPicPr>
          <p:cNvPr id="3" name="Picture 5" descr="C:\Users\My PC\Desktop\8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46122" y="3327401"/>
            <a:ext cx="6745877" cy="35306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55600" y="317500"/>
            <a:ext cx="4838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Twin in Cars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" y="1353641"/>
            <a:ext cx="483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Virtual Car, Real Insights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A digital twin is a live, virtual replica of your car</a:t>
            </a:r>
            <a:r>
              <a:rPr lang="en-US" dirty="0" smtClean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670915" y="5336917"/>
            <a:ext cx="1505843" cy="15363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-1" y="1505843"/>
            <a:ext cx="1" cy="5352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446122" y="69271"/>
            <a:ext cx="0" cy="6747164"/>
          </a:xfrm>
          <a:prstGeom prst="line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46122" y="3327400"/>
            <a:ext cx="6745877" cy="0"/>
          </a:xfrm>
          <a:prstGeom prst="line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5600" y="1899137"/>
            <a:ext cx="483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Predict Problems Early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Identifies brake wear or engine issues before they happen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55600" y="2700997"/>
            <a:ext cx="483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Smarter Maintenance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Suggests fixes to save time and money on repairs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55600" y="3492760"/>
            <a:ext cx="483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Improved Safety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Simulates crash tests and driving conditions to enhance safety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55600" y="4318781"/>
            <a:ext cx="483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Faster Innovation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Tests new designs and features without building physical models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55600" y="5114519"/>
            <a:ext cx="4838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Eco-Friendly Efficiency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Optimizes performance to reduce fuel use and emissions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8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The Potential of Digital Twins In Healthcare"/>
          <p:cNvSpPr>
            <a:spLocks noChangeAspect="1" noChangeArrowheads="1"/>
          </p:cNvSpPr>
          <p:nvPr/>
        </p:nvSpPr>
        <p:spPr bwMode="auto">
          <a:xfrm>
            <a:off x="15558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469" y="160338"/>
            <a:ext cx="5812972" cy="345807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8" name="Rectangle 7"/>
          <p:cNvSpPr/>
          <p:nvPr/>
        </p:nvSpPr>
        <p:spPr>
          <a:xfrm>
            <a:off x="251372" y="239876"/>
            <a:ext cx="58190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Twin in </a:t>
            </a:r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Care</a:t>
            </a:r>
            <a:endParaRPr lang="en-US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162595"/>
            <a:ext cx="5704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Virtual Patient, Real Care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altLang="en-US" dirty="0"/>
              <a:t> Creates a digital replica of a patient for personalized treatment</a:t>
            </a:r>
            <a:r>
              <a:rPr lang="en-US" altLang="en-US" dirty="0" smtClean="0"/>
              <a:t>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6" name="AutoShape 8" descr="Digital Twin – Top Use Cases in Healthca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10" descr="Digital Twin in Healthcare: A Comprehensive Guid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468" y="3722686"/>
            <a:ext cx="5812971" cy="2906486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5321675"/>
            <a:ext cx="1505843" cy="1536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157" y="0"/>
            <a:ext cx="1505843" cy="15363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07975" y="1702191"/>
            <a:ext cx="5971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Predict Health Issues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Anticipates diseases or complications before they occur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7975" y="2518114"/>
            <a:ext cx="5971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Test Treatments Safely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Simulates drug effects or surgeries without risking the patient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7975" y="3334041"/>
            <a:ext cx="5971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Improved Diagnosis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Combines real-time data to provide more accurate health insights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7975" y="4149967"/>
            <a:ext cx="5971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Efficient Hospital Management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Optimizes patient flow and resource allocation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07975" y="4965893"/>
            <a:ext cx="5971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Faster Medical Innovation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Accelerates the testing of new devices and therapies.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33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358" y="160338"/>
            <a:ext cx="5546685" cy="3169534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2" name="Rectangle 1"/>
          <p:cNvSpPr/>
          <p:nvPr/>
        </p:nvSpPr>
        <p:spPr>
          <a:xfrm>
            <a:off x="459656" y="265997"/>
            <a:ext cx="49282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of Digital Twin Technology </a:t>
            </a:r>
            <a:endParaRPr lang="en-US" sz="3600" b="1" dirty="0" smtClean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9656" y="1634867"/>
            <a:ext cx="6038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Cost of Implementation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Setting up a digital twin requires expensive sensors, software, and infrastructure investments</a:t>
            </a:r>
            <a:r>
              <a:rPr lang="en-US" dirty="0" smtClean="0"/>
              <a:t>.</a:t>
            </a:r>
          </a:p>
        </p:txBody>
      </p:sp>
      <p:sp>
        <p:nvSpPr>
          <p:cNvPr id="4" name="AutoShape 2" descr="Sectech Insights - Cybersecurity Implications of Digital Twin Technolog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0" name="Picture 4" descr="Digital twins: where physical meets digital | Royal HaskoningDHV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357" y="3515918"/>
            <a:ext cx="5546685" cy="3120011"/>
          </a:xfrm>
          <a:prstGeom prst="rect">
            <a:avLst/>
          </a:prstGeom>
          <a:noFill/>
          <a:effectLst>
            <a:glow rad="228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5321675"/>
            <a:ext cx="1505843" cy="1536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157" y="-1"/>
            <a:ext cx="1505843" cy="1536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9656" y="2447780"/>
            <a:ext cx="6038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 Security Risks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Handling sensitive and real-time data raises concerns about privacy and cybersecurity threats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9656" y="3273600"/>
            <a:ext cx="6038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Massive Data Requirements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Digital twins rely on continuous data streams, demanding significant storage and computational power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59656" y="4389120"/>
            <a:ext cx="6038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Standardization Issues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A lack of universal standards for creating and modeling digital twins can slow adoption.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8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0263" y="339634"/>
            <a:ext cx="6531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8823" y="485335"/>
            <a:ext cx="7252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Scalability Limitations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Expanding digital twin systems to large-scale applications may encounter technical and cost barriers</a:t>
            </a:r>
            <a:r>
              <a:rPr lang="en-US" dirty="0" smtClean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1" y="3786187"/>
            <a:ext cx="4606924" cy="2798165"/>
          </a:xfrm>
          <a:prstGeom prst="rect">
            <a:avLst/>
          </a:prstGeom>
          <a:effectLst>
            <a:glow rad="3683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599605" y="3347231"/>
            <a:ext cx="5885211" cy="3310432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7" name="TextBox 6"/>
          <p:cNvSpPr txBox="1"/>
          <p:nvPr/>
        </p:nvSpPr>
        <p:spPr>
          <a:xfrm>
            <a:off x="365760" y="1055076"/>
            <a:ext cx="7025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Connectivity Challenges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Reliable and uninterrupted internet connectivity is critical for real-time updates but not always available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78823" y="1871002"/>
            <a:ext cx="7012578" cy="151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Maintenance Costs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dirty="0"/>
              <a:t> Upkeep of the digital twin infrastructure, including updates and data quality management, can be resource-intensive.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-193964"/>
            <a:ext cx="12192000" cy="651163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99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Digital Twins: Key considerations and challenges | Euroste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1" y="153072"/>
            <a:ext cx="4606924" cy="3455192"/>
          </a:xfrm>
          <a:prstGeom prst="rect">
            <a:avLst/>
          </a:prstGeom>
          <a:noFill/>
          <a:effectLst>
            <a:glow rad="393700">
              <a:schemeClr val="accent1"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61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/>
          <p:cNvSpPr/>
          <p:nvPr/>
        </p:nvSpPr>
        <p:spPr>
          <a:xfrm rot="10800000">
            <a:off x="-209550" y="5464629"/>
            <a:ext cx="12401550" cy="3241929"/>
          </a:xfrm>
          <a:prstGeom prst="flowChartDocument">
            <a:avLst/>
          </a:prstGeom>
          <a:gradFill>
            <a:gsLst>
              <a:gs pos="5000">
                <a:schemeClr val="accent1">
                  <a:alpha val="75000"/>
                  <a:lumMod val="6000"/>
                  <a:lumOff val="94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3500000" scaled="1"/>
          </a:gradFill>
          <a:ln>
            <a:noFill/>
          </a:ln>
          <a:effectLst>
            <a:outerShdw blurRad="177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lowchart: Document 2"/>
          <p:cNvSpPr/>
          <p:nvPr/>
        </p:nvSpPr>
        <p:spPr>
          <a:xfrm>
            <a:off x="0" y="-87087"/>
            <a:ext cx="6076950" cy="1748600"/>
          </a:xfrm>
          <a:prstGeom prst="flowChartDocument">
            <a:avLst/>
          </a:prstGeom>
          <a:gradFill>
            <a:gsLst>
              <a:gs pos="5000">
                <a:schemeClr val="accent1">
                  <a:alpha val="75000"/>
                  <a:lumMod val="6000"/>
                  <a:lumOff val="94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1"/>
          </a:gradFill>
          <a:ln>
            <a:noFill/>
          </a:ln>
          <a:effectLst>
            <a:outerShdw blurRad="139700" dist="38100" dir="5400000" algn="t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REFERENCES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1200" y="1661513"/>
            <a:ext cx="96084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Gartner, Gartner survey reveals digital twins are entering mainstream use, 2019, Online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>
                <a:hlinkClick r:id="rId2"/>
              </a:rPr>
              <a:t>https://www.gartner.com/en/newsroom/press-releases/2019-02-20-gartner-survey-reveals-digital-twins-are-entering-mai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Gartner, Gartner survey reveals digital twins are entering mainstream use. February, 2019, Online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>
                <a:hlinkClick r:id="rId3" action="ppaction://hlinkfile"/>
              </a:rPr>
              <a:t>https</a:t>
            </a:r>
            <a:r>
              <a:rPr lang="en-US" dirty="0">
                <a:hlinkClick r:id="rId3" action="ppaction://hlinkfile"/>
              </a:rPr>
              <a:t>://www.gartner.com/en/newsroom/press-releases/ 2019-02-20-gartner-survey-reveals-digital-twins-are-entering-mai</a:t>
            </a:r>
            <a:r>
              <a:rPr lang="en-US" dirty="0" smtClean="0">
                <a:hlinkClick r:id="rId3" action="ppaction://hlinkfile"/>
              </a:rPr>
              <a:t>.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Gartner, Top strategic technology trends, 2023, 2022, </a:t>
            </a:r>
            <a:r>
              <a:rPr lang="en-US" dirty="0" smtClean="0"/>
              <a:t>Online:</a:t>
            </a:r>
          </a:p>
          <a:p>
            <a:endParaRPr lang="en-US" dirty="0" smtClean="0"/>
          </a:p>
          <a:p>
            <a:r>
              <a:rPr lang="en-US" dirty="0" smtClean="0">
                <a:hlinkClick r:id="rId4"/>
              </a:rPr>
              <a:t>https://</a:t>
            </a:r>
            <a:r>
              <a:rPr lang="en-US" dirty="0">
                <a:hlinkClick r:id="rId4"/>
              </a:rPr>
              <a:t>emtemp.gcom.cloud/ngw/globalassets/en/publications/documents/2023- gartner-top-strategic-technology-trends-ebook.pdf.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169672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-2825683" y="291720"/>
            <a:ext cx="7327765" cy="6056931"/>
            <a:chOff x="8112258" y="-1670429"/>
            <a:chExt cx="7327765" cy="6056931"/>
          </a:xfrm>
          <a:gradFill>
            <a:gsLst>
              <a:gs pos="5000">
                <a:schemeClr val="bg1"/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13500000" scaled="1"/>
          </a:gradFill>
        </p:grpSpPr>
        <p:sp>
          <p:nvSpPr>
            <p:cNvPr id="18" name="Flowchart: Terminator 17"/>
            <p:cNvSpPr/>
            <p:nvPr/>
          </p:nvSpPr>
          <p:spPr>
            <a:xfrm rot="19090736">
              <a:off x="8855208" y="1491871"/>
              <a:ext cx="6305550" cy="125730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lowchart: Terminator 18"/>
            <p:cNvSpPr/>
            <p:nvPr/>
          </p:nvSpPr>
          <p:spPr>
            <a:xfrm rot="19090736">
              <a:off x="8823593" y="-375030"/>
              <a:ext cx="6305550" cy="125730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lowchart: Terminator 19"/>
            <p:cNvSpPr/>
            <p:nvPr/>
          </p:nvSpPr>
          <p:spPr>
            <a:xfrm rot="19090736">
              <a:off x="8112258" y="-1670429"/>
              <a:ext cx="6305550" cy="125730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lowchart: Terminator 20"/>
            <p:cNvSpPr/>
            <p:nvPr/>
          </p:nvSpPr>
          <p:spPr>
            <a:xfrm rot="19090736">
              <a:off x="9134473" y="3129202"/>
              <a:ext cx="6305550" cy="125730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38200" y="628650"/>
            <a:ext cx="3790950" cy="646331"/>
          </a:xfrm>
          <a:prstGeom prst="rect">
            <a:avLst/>
          </a:prstGeom>
          <a:noFill/>
          <a:effectLst>
            <a:outerShdw blurRad="101600" dist="38100" dir="5400000" algn="t" rotWithShape="0">
              <a:prstClr val="black">
                <a:alpha val="35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CONCLUSION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Flowchart: Terminator 22"/>
          <p:cNvSpPr/>
          <p:nvPr/>
        </p:nvSpPr>
        <p:spPr>
          <a:xfrm rot="19090736">
            <a:off x="8832475" y="5749335"/>
            <a:ext cx="6305550" cy="1257300"/>
          </a:xfrm>
          <a:prstGeom prst="flowChartTerminator">
            <a:avLst/>
          </a:prstGeom>
          <a:gradFill>
            <a:gsLst>
              <a:gs pos="5000">
                <a:schemeClr val="bg1"/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25714" y="1511889"/>
            <a:ext cx="10609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Rapid Growth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altLang="en-US" dirty="0"/>
              <a:t>Digital twin technology is expanding quickly across various industries, revolutionizing how businesses operate and innovate</a:t>
            </a:r>
            <a:r>
              <a:rPr lang="en-US" altLang="en-US" dirty="0" smtClean="0"/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67949"/>
            <a:ext cx="10621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Enhanced Decision-Making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By providing real-time insights and simulations, digital twins help companies make better, faster decisions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5714" y="2883874"/>
            <a:ext cx="10609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Industry Adoption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Industries like manufacturing, healthcare, construction, and agriculture are benefiting from digital twins, improving efficiency and reducing costs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5714" y="3698351"/>
            <a:ext cx="10626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Challenges Remain</a:t>
            </a:r>
            <a:r>
              <a:rPr lang="en-US" dirty="0"/>
              <a:t>: Despite its potential, challenges like high costs, data security, and system integration still need to be addressed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5714" y="4501662"/>
            <a:ext cx="10609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Future Outlook</a:t>
            </a:r>
            <a:r>
              <a:rPr lang="en-US" dirty="0"/>
              <a:t>: As technology advances, digital twins will become even more integrated with tools like AI and augmented reality, offering greater insights and capabilities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25714" y="5289452"/>
            <a:ext cx="10609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Continued Innovation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With more research and development, digital twins are expected to unlock new opportunities and applications, driving future growth across sectors.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2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4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/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691660" y="2566388"/>
            <a:ext cx="10815613" cy="112268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7200" b="1" i="1" u="sng" spc="-315" dirty="0" smtClean="0">
                <a:solidFill>
                  <a:schemeClr val="accent1">
                    <a:lumMod val="7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6350" stA="50000" endA="300" endPos="50000" dist="60007" dir="5400000" sy="-100000" algn="bl" rotWithShape="0"/>
                </a:effectLst>
              </a:rPr>
              <a:t>Q N A !</a:t>
            </a:r>
            <a:endParaRPr lang="en-US" sz="7200" b="1" i="1" u="sng" dirty="0">
              <a:solidFill>
                <a:schemeClr val="accent1">
                  <a:lumMod val="75000"/>
                </a:schemeClr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  <a:reflection blurRad="6350" stA="50000" endA="300" endPos="5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643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</TotalTime>
  <Words>1323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Rounded MT Bold</vt:lpstr>
      <vt:lpstr>Bahnschrift Light</vt:lpstr>
      <vt:lpstr>Bahnschrift SemiBold</vt:lpstr>
      <vt:lpstr>Calibri</vt:lpstr>
      <vt:lpstr>Calibri Light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AU-Student</dc:creator>
  <cp:lastModifiedBy>ZOBIA ALI</cp:lastModifiedBy>
  <cp:revision>161</cp:revision>
  <dcterms:created xsi:type="dcterms:W3CDTF">2024-10-21T09:25:57Z</dcterms:created>
  <dcterms:modified xsi:type="dcterms:W3CDTF">2024-12-08T21:35:07Z</dcterms:modified>
</cp:coreProperties>
</file>